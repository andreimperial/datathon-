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7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8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14c48288bc4890" /><Relationship Type="http://schemas.openxmlformats.org/officeDocument/2006/relationships/extended-properties" Target="/docProps/app.xml" Id="R709e4327ee7444d1" /><Relationship Type="http://schemas.openxmlformats.org/officeDocument/2006/relationships/officeDocument" Target="/ppt/presentation.xml" Id="R6c24bdb065c948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b190dfb6a843eb"/>
  </p:sldMasterIdLst>
  <p:notesMasterIdLst>
    <p:notesMasterId xmlns:r="http://schemas.openxmlformats.org/officeDocument/2006/relationships" r:id="R807d07fd88224596"/>
  </p:notesMasterIdLst>
  <p:sldIdLst>
    <p:sldId xmlns:r="http://schemas.openxmlformats.org/officeDocument/2006/relationships" id="256" r:id="R9d69febf263547a3"/>
    <p:sldId xmlns:r="http://schemas.openxmlformats.org/officeDocument/2006/relationships" id="257" r:id="R648bcb426a8b4d3c"/>
    <p:sldId xmlns:r="http://schemas.openxmlformats.org/officeDocument/2006/relationships" id="258" r:id="R76614dc18c3e4559"/>
    <p:sldId xmlns:r="http://schemas.openxmlformats.org/officeDocument/2006/relationships" id="259" r:id="Rb0c2a5df9a3c494d"/>
    <p:sldId xmlns:r="http://schemas.openxmlformats.org/officeDocument/2006/relationships" id="260" r:id="Rb3762954d2c147b9"/>
    <p:sldId xmlns:r="http://schemas.openxmlformats.org/officeDocument/2006/relationships" id="261" r:id="R959df16bb9cf487e"/>
    <p:sldId xmlns:r="http://schemas.openxmlformats.org/officeDocument/2006/relationships" id="262" r:id="R94a0ac4c7b8d4ebe"/>
    <p:sldId xmlns:r="http://schemas.openxmlformats.org/officeDocument/2006/relationships" id="263" r:id="Ra6d1bd88550b42da"/>
    <p:sldId xmlns:r="http://schemas.openxmlformats.org/officeDocument/2006/relationships" id="264" r:id="R517be230455b4510"/>
    <p:sldId xmlns:r="http://schemas.openxmlformats.org/officeDocument/2006/relationships" id="265" r:id="R03ee88061150419f"/>
    <p:sldId xmlns:r="http://schemas.openxmlformats.org/officeDocument/2006/relationships" id="266" r:id="Rbd5ff84f603044f5"/>
    <p:sldId xmlns:r="http://schemas.openxmlformats.org/officeDocument/2006/relationships" id="267" r:id="R0306ebe4954a47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ed8d39390b4f79" /><Relationship Type="http://schemas.openxmlformats.org/officeDocument/2006/relationships/slideMaster" Target="/ppt/slideMasters/slideMaster1.xml" Id="R6eb190dfb6a843eb" /><Relationship Type="http://schemas.openxmlformats.org/officeDocument/2006/relationships/notesMaster" Target="/ppt/notesMasters/notesMaster1.xml" Id="R807d07fd88224596" /><Relationship Type="http://schemas.openxmlformats.org/officeDocument/2006/relationships/presProps" Target="/ppt/presProps.xml" Id="Rdcf00a0dd3a24b9b" /><Relationship Type="http://schemas.openxmlformats.org/officeDocument/2006/relationships/tableStyles" Target="/ppt/tableStyles.xml" Id="Rc28e9fb7ab254b01" /><Relationship Type="http://schemas.openxmlformats.org/officeDocument/2006/relationships/slide" Target="/ppt/slides/slide1.xml" Id="R9d69febf263547a3" /><Relationship Type="http://schemas.openxmlformats.org/officeDocument/2006/relationships/slide" Target="/ppt/slides/slide2.xml" Id="R648bcb426a8b4d3c" /><Relationship Type="http://schemas.openxmlformats.org/officeDocument/2006/relationships/slide" Target="/ppt/slides/slide3.xml" Id="R76614dc18c3e4559" /><Relationship Type="http://schemas.openxmlformats.org/officeDocument/2006/relationships/slide" Target="/ppt/slides/slide4.xml" Id="Rb0c2a5df9a3c494d" /><Relationship Type="http://schemas.openxmlformats.org/officeDocument/2006/relationships/slide" Target="/ppt/slides/slide5.xml" Id="Rb3762954d2c147b9" /><Relationship Type="http://schemas.openxmlformats.org/officeDocument/2006/relationships/slide" Target="/ppt/slides/slide6.xml" Id="R959df16bb9cf487e" /><Relationship Type="http://schemas.openxmlformats.org/officeDocument/2006/relationships/slide" Target="/ppt/slides/slide7.xml" Id="R94a0ac4c7b8d4ebe" /><Relationship Type="http://schemas.openxmlformats.org/officeDocument/2006/relationships/slide" Target="/ppt/slides/slide8.xml" Id="Ra6d1bd88550b42da" /><Relationship Type="http://schemas.openxmlformats.org/officeDocument/2006/relationships/slide" Target="/ppt/slides/slide9.xml" Id="R517be230455b4510" /><Relationship Type="http://schemas.openxmlformats.org/officeDocument/2006/relationships/slide" Target="/ppt/slides/slide10.xml" Id="R03ee88061150419f" /><Relationship Type="http://schemas.openxmlformats.org/officeDocument/2006/relationships/slide" Target="/ppt/slides/slide11.xml" Id="Rbd5ff84f603044f5" /><Relationship Type="http://schemas.openxmlformats.org/officeDocument/2006/relationships/slide" Target="/ppt/slides/slide12.xml" Id="R0306ebe4954a47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4d9ca2e6a14b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e9e9bff1134075" /><Relationship Type="http://schemas.openxmlformats.org/officeDocument/2006/relationships/notesMaster" Target="/ppt/notesMasters/notesMaster1.xml" Id="Ref5a6b0fceaa44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4a75d59b954a9d" /><Relationship Type="http://schemas.openxmlformats.org/officeDocument/2006/relationships/notesMaster" Target="/ppt/notesMasters/notesMaster1.xml" Id="R90ab970fa4934e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1a11cb6053460c" /><Relationship Type="http://schemas.openxmlformats.org/officeDocument/2006/relationships/notesMaster" Target="/ppt/notesMasters/notesMaster1.xml" Id="Red4527a93b7647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07f1234afb4df1" /><Relationship Type="http://schemas.openxmlformats.org/officeDocument/2006/relationships/notesMaster" Target="/ppt/notesMasters/notesMaster1.xml" Id="Rc77e921f464e44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9dcbfe6ca5486b" /><Relationship Type="http://schemas.openxmlformats.org/officeDocument/2006/relationships/notesMaster" Target="/ppt/notesMasters/notesMaster1.xml" Id="R8e0ae917bafd4e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203a2765ea463b" /><Relationship Type="http://schemas.openxmlformats.org/officeDocument/2006/relationships/notesMaster" Target="/ppt/notesMasters/notesMaster1.xml" Id="R6738b6701cdc47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957f838ce5409a" /><Relationship Type="http://schemas.openxmlformats.org/officeDocument/2006/relationships/notesMaster" Target="/ppt/notesMasters/notesMaster1.xml" Id="R8aac0edea0d54b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d8053ad77f4a68" /><Relationship Type="http://schemas.openxmlformats.org/officeDocument/2006/relationships/notesMaster" Target="/ppt/notesMasters/notesMaster1.xml" Id="R7fd132372e994d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bab30fb3204e17" /><Relationship Type="http://schemas.openxmlformats.org/officeDocument/2006/relationships/notesMaster" Target="/ppt/notesMasters/notesMaster1.xml" Id="R706ae6e3fb62433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11b7adce8d4798" /><Relationship Type="http://schemas.openxmlformats.org/officeDocument/2006/relationships/notesMaster" Target="/ppt/notesMasters/notesMaster1.xml" Id="Ra0ce344ce4904c2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025cee4c9b4790" /><Relationship Type="http://schemas.openxmlformats.org/officeDocument/2006/relationships/notesMaster" Target="/ppt/notesMasters/notesMaster1.xml" Id="R19b5d0e3a8df4f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c7e06b7db54eab" /><Relationship Type="http://schemas.openxmlformats.org/officeDocument/2006/relationships/notesMaster" Target="/ppt/notesMasters/notesMaster1.xml" Id="Rd6d34f41c0394e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data/cleaned/opportunities.parquet</a:t>
            </a:r>
          </a:p>
          <a:p xmlns:a="http://schemas.openxmlformats.org/drawingml/2006/main">
            <a:r>
              <a:t>- data/integrated/account_coverage_summary.parquet</a:t>
            </a:r>
          </a:p>
          <a:p xmlns:a="http://schemas.openxmlformats.org/drawingml/2006/main">
            <a:r>
              <a:t>- data/integrated/model_stats.parquet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Pipeline and won revenue use recorded CRM amounts. Closed win rate is won divided by resolved outcomes. Active opportunities are excluded from that denominator.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data/integrated/cohort_analysis.parquet</a:t>
            </a:r>
          </a:p>
          <a:p xmlns:a="http://schemas.openxmlformats.org/drawingml/2006/main">
            <a:r>
              <a:t>- data/integrated/account_coverage_summary.parquet</a:t>
            </a:r>
          </a:p>
          <a:p xmlns:a="http://schemas.openxmlformats.org/drawingml/2006/main">
            <a:r>
              <a:t>- data/integrated/budget_scenarios.parquet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The three recommendations separate observed evidence from causal claims. Coverage groups are observational until tested with a holdout.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data/integrated/data_quality_summary.parquet</a:t>
            </a:r>
          </a:p>
          <a:p xmlns:a="http://schemas.openxmlformats.org/drawingml/2006/main">
            <a:r>
              <a:t>- data/integrated/attribution_coverage.parquet</a:t>
            </a:r>
          </a:p>
          <a:p xmlns:a="http://schemas.openxmlformats.org/drawingml/2006/main">
            <a:r>
              <a:t>- outputs/analysis/email_campaign_performance.xlsx</a:t>
            </a:r>
          </a:p>
          <a:p xmlns:a="http://schemas.openxmlformats.org/drawingml/2006/main">
            <a:r>
              <a:t>- data/integrated/budget_scenarios.parquet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Zero-amount won opportunities are counted from deduplicated CRM opportunities. Touch linkage uses a 365-day lookback and one account-channel presence per ISO week.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data/integrated/cohort_analysis.parquet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Win rate equals won divided by resolved outcomes (closed won, closed lost, or discontinued). This slide includes only cohorts with resolved share at or above 80%.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data/integrated/attribution_results.parquet</a:t>
            </a:r>
          </a:p>
          <a:p xmlns:a="http://schemas.openxmlformats.org/drawingml/2006/main">
            <a:r>
              <a:t>- data/integrated/attribution_coverage.parquet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Marketing sourced uses CRM source mapping. Marketing influenced includes opportunities linked to normalized pre-opportunity touches within 365 days. Blank-UTM web sessions are excluded.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data/integrated/attribution_results.parquet</a:t>
            </a:r>
          </a:p>
          <a:p xmlns:a="http://schemas.openxmlformats.org/drawingml/2006/main">
            <a:r>
              <a:t>- data/integrated/attribution_touchpoint_quality.parquet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Touchpoints are normalized to one account-channel presence per ISO week before first-touch, last-touch, linear, and time-decay allocation.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data/integrated/account_coverage_summary.parquet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Coverage tier is based on tracked email and 6sense presence by normalized domain. Wilson intervals describe observed account-level opportunity rates; groups were not randomized.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data/cleaned/email_engagements.parquet</a:t>
            </a:r>
          </a:p>
          <a:p xmlns:a="http://schemas.openxmlformats.org/drawingml/2006/main">
            <a:r>
              <a:t>- outputs/analysis/email_campaign_performance.xlsx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Event shares divide event-type rows by all supplied engagement-event rows. They are not standard email rates and should not be benchmarked against campaign norms.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data/integrated/creative_performance.parquet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Platform CTR is weighted clicks divided by impressions. The dashboard further limits creative ranking to the top five ads within each platform with at least 10,000 impressions.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data/integrated/model_stats.parquet</a:t>
            </a:r>
          </a:p>
          <a:p xmlns:a="http://schemas.openxmlformats.org/drawingml/2006/main">
            <a:r>
              <a:t>- data/integrated/feature_importance.parquet</a:t>
            </a:r>
          </a:p>
          <a:p xmlns:a="http://schemas.openxmlformats.org/drawingml/2006/main">
            <a:r>
              <a:t>- data/integrated/win_probability.parquet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Preprocessing is fit on the earlier 80% training window and evaluated on the later 20% holdout. The final model scores active opportunities only after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data/integrated/budget_scenarios.parquet</a:t>
            </a:r>
          </a:p>
          <a:p xmlns:a="http://schemas.openxmlformats.org/drawingml/2006/main">
            <a:r>
              <a:t>- outputs/analysis/budget_recommendation.xlsx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All scenarios preserve total tracked spend. No historical ROI is extrapolated because only two paid channels have spend and outcome evidence is insufficient.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data/integrated/data_quality_summary.parquet</a:t>
            </a:r>
          </a:p>
          <a:p xmlns:a="http://schemas.openxmlformats.org/drawingml/2006/main">
            <a:r>
              <a:t>- data/integrated/account_coverage_summary.parquet</a:t>
            </a:r>
          </a:p>
          <a:p xmlns:a="http://schemas.openxmlformats.org/drawingml/2006/main">
            <a:r>
              <a:t>- data/integrated/budget_scenarios.parquet</a:t>
            </a:r>
          </a:p>
          <a:p xmlns:a="http://schemas.openxmlformats.org/drawingml/2006/main">
            <a:r>
              <a:t>- data/integrated/model_stats.parquet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The operating plan converts current limitations into explicit remediation, experiment, and scale gates.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b8e501bad746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b52e52db2a4379" /><Relationship Type="http://schemas.openxmlformats.org/officeDocument/2006/relationships/slideLayout" Target="/ppt/slideLayouts/slideLayout1.xml" Id="R848157d5f5784f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8157d5f5784f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f46f8735f4004" /><Relationship Type="http://schemas.openxmlformats.org/officeDocument/2006/relationships/notesSlide" Target="/ppt/notesSlides/notesSlide1.xml" Id="Rfeb372f75c3249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66ee94e674f96" /><Relationship Type="http://schemas.openxmlformats.org/officeDocument/2006/relationships/notesSlide" Target="/ppt/notesSlides/notesSlide2.xml" Id="Rb1a7a4b98bca42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03b32807e4a5c" /><Relationship Type="http://schemas.openxmlformats.org/officeDocument/2006/relationships/notesSlide" Target="/ppt/notesSlides/notesSlide3.xml" Id="R57b22032ea4342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e2c55dcb9747a0" /><Relationship Type="http://schemas.openxmlformats.org/officeDocument/2006/relationships/chart" Target="/ppt/slides/charts/chart1.xml" Id="R2b8bdc4413cc4ebf" /><Relationship Type="http://schemas.openxmlformats.org/officeDocument/2006/relationships/notesSlide" Target="/ppt/notesSlides/notesSlide4.xml" Id="Rbe2696ee49c04c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bfe05853647c1" /><Relationship Type="http://schemas.openxmlformats.org/officeDocument/2006/relationships/chart" Target="/ppt/slides/charts/chart2.xml" Id="R10892901339a41ac" /><Relationship Type="http://schemas.openxmlformats.org/officeDocument/2006/relationships/notesSlide" Target="/ppt/notesSlides/notesSlide5.xml" Id="R80946028106e48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9090afd9a4308" /><Relationship Type="http://schemas.openxmlformats.org/officeDocument/2006/relationships/chart" Target="/ppt/slides/charts/chart3.xml" Id="Rc79f729bcbb54107" /><Relationship Type="http://schemas.openxmlformats.org/officeDocument/2006/relationships/notesSlide" Target="/ppt/notesSlides/notesSlide6.xml" Id="R877de881337d4a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6307c631247f7" /><Relationship Type="http://schemas.openxmlformats.org/officeDocument/2006/relationships/chart" Target="/ppt/slides/charts/chart4.xml" Id="Rf47205b8966e41eb" /><Relationship Type="http://schemas.openxmlformats.org/officeDocument/2006/relationships/notesSlide" Target="/ppt/notesSlides/notesSlide7.xml" Id="R1b892a2c40914f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a58829d954b24" /><Relationship Type="http://schemas.openxmlformats.org/officeDocument/2006/relationships/chart" Target="/ppt/slides/charts/chart5.xml" Id="R9f94f42c72b94e35" /><Relationship Type="http://schemas.openxmlformats.org/officeDocument/2006/relationships/notesSlide" Target="/ppt/notesSlides/notesSlide8.xml" Id="Rdfebe17a65c240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805bfe478477a" /><Relationship Type="http://schemas.openxmlformats.org/officeDocument/2006/relationships/chart" Target="/ppt/slides/charts/chart6.xml" Id="Rb3e5d4f6d526484c" /><Relationship Type="http://schemas.openxmlformats.org/officeDocument/2006/relationships/notesSlide" Target="/ppt/notesSlides/notesSlide9.xml" Id="Rfb987bb7678046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f5ea4cd494eec" /><Relationship Type="http://schemas.openxmlformats.org/officeDocument/2006/relationships/chart" Target="/ppt/slides/charts/chart7.xml" Id="Re43ae3e1b9034721" /><Relationship Type="http://schemas.openxmlformats.org/officeDocument/2006/relationships/notesSlide" Target="/ppt/notesSlides/notesSlide10.xml" Id="Racd0599c6ca94de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97fe324ca4135" /><Relationship Type="http://schemas.openxmlformats.org/officeDocument/2006/relationships/chart" Target="/ppt/slides/charts/chart8.xml" Id="Rafa031b6c1534044" /><Relationship Type="http://schemas.openxmlformats.org/officeDocument/2006/relationships/notesSlide" Target="/ppt/notesSlides/notesSlide11.xml" Id="Refa92344d2a344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5c51edaa94bdb" /><Relationship Type="http://schemas.openxmlformats.org/officeDocument/2006/relationships/notesSlide" Target="/ppt/notesSlides/notesSlide12.xml" Id="R4dca655adbed487b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Closed win rate</c:v>
          </c:tx>
          <c:spPr>
            <a:ln xmlns:a="http://schemas.openxmlformats.org/drawingml/2006/main" w="28575">
              <a:solidFill>
                <a:srgbClr val="1E40AF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1E40AF"/>
              </a:solidFill>
            </c:spPr>
          </c:marker>
          <c:cat>
            <c:strLit>
              <c:ptCount val="10"/>
              <c:pt idx="0">
                <c:v>2022Q1</c:v>
              </c:pt>
              <c:pt idx="1">
                <c:v>2022Q2</c:v>
              </c:pt>
              <c:pt idx="2">
                <c:v>2022Q3</c:v>
              </c:pt>
              <c:pt idx="3">
                <c:v>2022Q4</c:v>
              </c:pt>
              <c:pt idx="4">
                <c:v>2023Q1</c:v>
              </c:pt>
              <c:pt idx="5">
                <c:v>2023Q2</c:v>
              </c:pt>
              <c:pt idx="6">
                <c:v>2023Q3</c:v>
              </c:pt>
              <c:pt idx="7">
                <c:v>2023Q4</c:v>
              </c:pt>
              <c:pt idx="8">
                <c:v>2024Q1</c:v>
              </c:pt>
              <c:pt idx="9">
                <c:v>2024Q2</c:v>
              </c:pt>
            </c:strLit>
          </c:cat>
          <c:val>
            <c:numLit>
              <c:formatCode>0.0"%"</c:formatCode>
              <c:ptCount val="10"/>
              <c:pt idx="0">
                <c:v>37.6</c:v>
              </c:pt>
              <c:pt idx="1">
                <c:v>38.1</c:v>
              </c:pt>
              <c:pt idx="2">
                <c:v>36.6</c:v>
              </c:pt>
              <c:pt idx="3">
                <c:v>44.4</c:v>
              </c:pt>
              <c:pt idx="4">
                <c:v>30.3</c:v>
              </c:pt>
              <c:pt idx="5">
                <c:v>31.9</c:v>
              </c:pt>
              <c:pt idx="6">
                <c:v>33.1</c:v>
              </c:pt>
              <c:pt idx="7">
                <c:v>28.1</c:v>
              </c:pt>
              <c:pt idx="8">
                <c:v>23</c:v>
              </c:pt>
              <c:pt idx="9">
                <c:v>21.9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2233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Pipeline ($M)</c:v>
          </c:tx>
          <c:spPr>
            <a:solidFill xmlns:a="http://schemas.openxmlformats.org/drawingml/2006/main">
              <a:srgbClr val="1E40AF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B45309"/>
              </a:solidFill>
            </c:spPr>
          </c:dPt>
          <c:cat>
            <c:strLit>
              <c:ptCount val="2"/>
              <c:pt idx="0">
                <c:v>CRM sourced</c:v>
              </c:pt>
              <c:pt idx="1">
                <c:v>Linked influenced</c:v>
              </c:pt>
            </c:strLit>
          </c:cat>
          <c:val>
            <c:numLit>
              <c:formatCode>$0.0"M"</c:formatCode>
              <c:ptCount val="2"/>
              <c:pt idx="0">
                <c:v>4.2</c:v>
              </c:pt>
              <c:pt idx="1">
                <c:v>6.34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$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72033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First-Touch</c:v>
          </c:tx>
          <c:spPr>
            <a:solidFill xmlns:a="http://schemas.openxmlformats.org/drawingml/2006/main">
              <a:srgbClr val="1E40AF"/>
            </a:solidFill>
          </c:spPr>
          <c:cat>
            <c:strLit>
              <c:ptCount val="2"/>
              <c:pt idx="0">
                <c:v>Email</c:v>
              </c:pt>
              <c:pt idx="1">
                <c:v>6sense display</c:v>
              </c:pt>
            </c:strLit>
          </c:cat>
          <c:val>
            <c:numLit>
              <c:formatCode>$0.0"M"</c:formatCode>
              <c:ptCount val="2"/>
              <c:pt idx="0">
                <c:v>4.06</c:v>
              </c:pt>
              <c:pt idx="1">
                <c:v>2.29</c:v>
              </c:pt>
            </c:numLit>
          </c:val>
        </c:ser>
        <c:ser>
          <c:idx val="1"/>
          <c:order val="1"/>
          <c:tx>
            <c:v>Last-Touch</c:v>
          </c:tx>
          <c:spPr>
            <a:solidFill xmlns:a="http://schemas.openxmlformats.org/drawingml/2006/main">
              <a:srgbClr val="B45309"/>
            </a:solidFill>
          </c:spPr>
          <c:cat>
            <c:strLit>
              <c:ptCount val="2"/>
              <c:pt idx="0">
                <c:v>Email</c:v>
              </c:pt>
              <c:pt idx="1">
                <c:v>6sense display</c:v>
              </c:pt>
            </c:strLit>
          </c:cat>
          <c:val>
            <c:numLit>
              <c:formatCode>$0.0"M"</c:formatCode>
              <c:ptCount val="2"/>
              <c:pt idx="0">
                <c:v>3.11</c:v>
              </c:pt>
              <c:pt idx="1">
                <c:v>3.23</c:v>
              </c:pt>
            </c:numLit>
          </c:val>
        </c:ser>
        <c:ser>
          <c:idx val="2"/>
          <c:order val="2"/>
          <c:tx>
            <c:v>Time-Decay</c:v>
          </c:tx>
          <c:spPr>
            <a:solidFill xmlns:a="http://schemas.openxmlformats.org/drawingml/2006/main">
              <a:srgbClr val="0F766E"/>
            </a:solidFill>
          </c:spPr>
          <c:cat>
            <c:strLit>
              <c:ptCount val="2"/>
              <c:pt idx="0">
                <c:v>Email</c:v>
              </c:pt>
              <c:pt idx="1">
                <c:v>6sense display</c:v>
              </c:pt>
            </c:strLit>
          </c:cat>
          <c:val>
            <c:numLit>
              <c:formatCode>$0.0"M"</c:formatCode>
              <c:ptCount val="2"/>
              <c:pt idx="0">
                <c:v>3.03</c:v>
              </c:pt>
              <c:pt idx="1">
                <c:v>3.31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720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$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4748B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Accounts</c:v>
          </c:tx>
          <c:spPr>
            <a:solidFill xmlns:a="http://schemas.openxmlformats.org/drawingml/2006/main">
              <a:srgbClr val="1E40A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B45309"/>
              </a:solidFill>
            </c:spPr>
          </c:dPt>
          <c:cat>
            <c:strLit>
              <c:ptCount val="4"/>
              <c:pt idx="0">
                <c:v>Not Reached</c:v>
              </c:pt>
              <c:pt idx="1">
                <c:v>Email Only</c:v>
              </c:pt>
              <c:pt idx="2">
                <c:v>Both Channels</c:v>
              </c:pt>
              <c:pt idx="3">
                <c:v>6sense Only</c:v>
              </c:pt>
            </c:strLit>
          </c:cat>
          <c:val>
            <c:numLit>
              <c:formatCode>General</c:formatCode>
              <c:ptCount val="4"/>
              <c:pt idx="0">
                <c:v>3256</c:v>
              </c:pt>
              <c:pt idx="1">
                <c:v>732</c:v>
              </c:pt>
              <c:pt idx="2">
                <c:v>526</c:v>
              </c:pt>
              <c:pt idx="3">
                <c:v>283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72033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5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Events</c:v>
          </c:tx>
          <c:spPr>
            <a:solidFill xmlns:a="http://schemas.openxmlformats.org/drawingml/2006/main">
              <a:srgbClr val="1E40AF"/>
            </a:solidFill>
          </c:spPr>
          <c:dPt>
            <c:idx val="1"/>
            <c:spPr>
              <a:solidFill xmlns:a="http://schemas.openxmlformats.org/drawingml/2006/main">
                <a:srgbClr val="B45309"/>
              </a:solidFill>
            </c:spPr>
          </c:dPt>
          <c:dPt>
            <c:idx val="2"/>
            <c:spPr>
              <a:solidFill xmlns:a="http://schemas.openxmlformats.org/drawingml/2006/main">
                <a:srgbClr val="0F766E"/>
              </a:solidFill>
            </c:spPr>
          </c:dPt>
          <c:cat>
            <c:strLit>
              <c:ptCount val="3"/>
              <c:pt idx="0">
                <c:v>Open events</c:v>
              </c:pt>
              <c:pt idx="1">
                <c:v>Click events</c:v>
              </c:pt>
              <c:pt idx="2">
                <c:v>Registration events</c:v>
              </c:pt>
            </c:strLit>
          </c:cat>
          <c:val>
            <c:numLit>
              <c:formatCode>General</c:formatCode>
              <c:ptCount val="3"/>
              <c:pt idx="0">
                <c:v>16217</c:v>
              </c:pt>
              <c:pt idx="1">
                <c:v>766</c:v>
              </c:pt>
              <c:pt idx="2">
                <c:v>147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2233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270"/>
        <c:holeSize val="62"/>
      </c:doughnutChart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4748B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CTR</c:v>
          </c:tx>
          <c:spPr>
            <a:solidFill xmlns:a="http://schemas.openxmlformats.org/drawingml/2006/main">
              <a:srgbClr val="1E40A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B82F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45309"/>
              </a:solidFill>
            </c:spPr>
          </c:dPt>
          <c:cat>
            <c:strLit>
              <c:ptCount val="2"/>
              <c:pt idx="0">
                <c:v>LinkedIn</c:v>
              </c:pt>
              <c:pt idx="1">
                <c:v>6sense</c:v>
              </c:pt>
            </c:strLit>
          </c:cat>
          <c:val>
            <c:numLit>
              <c:formatCode>0.000"%"</c:formatCode>
              <c:ptCount val="2"/>
              <c:pt idx="0">
                <c:v>2.211</c:v>
              </c:pt>
              <c:pt idx="1">
                <c:v>0.043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0.0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72033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Importance</c:v>
          </c:tx>
          <c:spPr>
            <a:solidFill xmlns:a="http://schemas.openxmlformats.org/drawingml/2006/main">
              <a:srgbClr val="1E40AF"/>
            </a:solidFill>
          </c:spPr>
          <c:cat>
            <c:strLit>
              <c:ptCount val="5"/>
              <c:pt idx="0">
                <c:v>Create quarter</c:v>
              </c:pt>
              <c:pt idx="1">
                <c:v>CRM market segment</c:v>
              </c:pt>
              <c:pt idx="2">
                <c:v>Create year</c:v>
              </c:pt>
              <c:pt idx="3">
                <c:v>Recorded amount</c:v>
              </c:pt>
              <c:pt idx="4">
                <c:v>Channel category</c:v>
              </c:pt>
            </c:strLit>
          </c:cat>
          <c:val>
            <c:numLit>
              <c:formatCode>0.0"%"</c:formatCode>
              <c:ptCount val="5"/>
              <c:pt idx="0">
                <c:v>3.8</c:v>
              </c:pt>
              <c:pt idx="1">
                <c:v>10.5</c:v>
              </c:pt>
              <c:pt idx="2">
                <c:v>14.2</c:v>
              </c:pt>
              <c:pt idx="3">
                <c:v>20.5</c:v>
              </c:pt>
              <c:pt idx="4">
                <c:v>51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72033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Activated media</c:v>
          </c:tx>
          <c:spPr>
            <a:solidFill xmlns:a="http://schemas.openxmlformats.org/drawingml/2006/main">
              <a:srgbClr val="1E40AF"/>
            </a:solidFill>
          </c:spPr>
          <c:cat>
            <c:strLit>
              <c:ptCount val="3"/>
              <c:pt idx="0">
                <c:v>Status Quo</c:v>
              </c:pt>
              <c:pt idx="1">
                <c:v>10% Holdout</c:v>
              </c:pt>
              <c:pt idx="2">
                <c:v>Measurement First</c:v>
              </c:pt>
            </c:strLit>
          </c:cat>
          <c:val>
            <c:numLit>
              <c:formatCode>$0.0"M"</c:formatCode>
              <c:ptCount val="3"/>
              <c:pt idx="0">
                <c:v>1.221</c:v>
              </c:pt>
              <c:pt idx="1">
                <c:v>1.099</c:v>
              </c:pt>
              <c:pt idx="2">
                <c:v>0.977</c:v>
              </c:pt>
            </c:numLit>
          </c:val>
        </c:ser>
        <c:ser>
          <c:idx val="1"/>
          <c:order val="1"/>
          <c:tx>
            <c:v>Holdout reserve</c:v>
          </c:tx>
          <c:spPr>
            <a:solidFill xmlns:a="http://schemas.openxmlformats.org/drawingml/2006/main">
              <a:srgbClr val="B45309"/>
            </a:solidFill>
          </c:spPr>
          <c:cat>
            <c:strLit>
              <c:ptCount val="3"/>
              <c:pt idx="0">
                <c:v>Status Quo</c:v>
              </c:pt>
              <c:pt idx="1">
                <c:v>10% Holdout</c:v>
              </c:pt>
              <c:pt idx="2">
                <c:v>Measurement First</c:v>
              </c:pt>
            </c:strLit>
          </c:cat>
          <c:val>
            <c:numLit>
              <c:formatCode>$0.0"M"</c:formatCode>
              <c:ptCount val="3"/>
              <c:pt idx="0">
                <c:v>0</c:v>
              </c:pt>
              <c:pt idx="1">
                <c:v>0.122</c:v>
              </c:pt>
              <c:pt idx="2">
                <c:v>0.122</c:v>
              </c:pt>
            </c:numLit>
          </c:val>
        </c:ser>
        <c:ser>
          <c:idx val="2"/>
          <c:order val="2"/>
          <c:tx>
            <c:v>Experiment pool</c:v>
          </c:tx>
          <c:spPr>
            <a:solidFill xmlns:a="http://schemas.openxmlformats.org/drawingml/2006/main">
              <a:srgbClr val="0F766E"/>
            </a:solidFill>
          </c:spPr>
          <c:cat>
            <c:strLit>
              <c:ptCount val="3"/>
              <c:pt idx="0">
                <c:v>Status Quo</c:v>
              </c:pt>
              <c:pt idx="1">
                <c:v>10% Holdout</c:v>
              </c:pt>
              <c:pt idx="2">
                <c:v>Measurement First</c:v>
              </c:pt>
            </c:strLit>
          </c:cat>
          <c:val>
            <c:numLit>
              <c:formatCode>$0.0"M"</c:formatCode>
              <c:ptCount val="3"/>
              <c:pt idx="0">
                <c:v>0</c:v>
              </c:pt>
              <c:pt idx="1">
                <c:v>0</c:v>
              </c:pt>
              <c:pt idx="2">
                <c:v>0.122</c:v>
              </c:pt>
            </c:numLit>
          </c:val>
        </c:ser>
        <c:gapWidth val="5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720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$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4748B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3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09D66B-3C49-4ED1-AE54-55965340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714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339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FF649-9425-4B62-8356-ABCDC5BE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524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FD4FF"/>
                </a:solidFill>
              </a:defRPr>
            </a:pPr>
            <a:r>
              <a:rPr sz="900" b="1">
                <a:solidFill>
                  <a:srgbClr val="BFD4FF"/>
                </a:solidFill>
              </a:rPr>
              <a:t>EXECUTIVE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63415-52CE-475E-B6C3-632ACAAB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0125"/>
            <a:ext cx="7524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Targeted growth is credible.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Blanket scaling is not—yet.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6736A5-A590-40B3-9000-931CF0F0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62250"/>
            <a:ext cx="7429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7E7"/>
                </a:solidFill>
              </a:defRPr>
            </a:pPr>
            <a:r>
              <a:rPr sz="1500" b="0">
                <a:solidFill>
                  <a:srgbClr val="CBD7E7"/>
                </a:solidFill>
              </a:rPr>
              <a:t>The opportunity is large, but measurement coverage and CRM completeness must improve before budget claims become decision-grade.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1E4575-F118-48AF-9B33-3134165B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5DEC6-F07A-4A19-9098-557A3CBD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$25.0M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17CA74-59E2-4E18-A4EC-E5049237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Recorded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55EC6-278A-446E-B53C-0FDBA976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3,288 deduplicated opportunities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7C17A-EEC0-4498-A3B4-BCA8251C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000500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632B3-C0EA-4D08-8A81-DF7E7459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124325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$5.4M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C807E-FE8B-4B55-86F5-2F957CB6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524375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Recorded won revenue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FFBDF2-8D5D-4C16-83C6-64469ECA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743450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37.8% closed-deal win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09919A-CAA3-415C-9935-8ED04489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00500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41DFCB-FDDB-4CA7-A947-52023CA0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124325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447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7B3F89-F2CB-4633-98EF-AA549E57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24375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Active opportunities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A882B-4EC8-4938-A490-1B47A518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743450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Scored only after leakage controls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70AE38-EC16-4866-888B-86E2B7DC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000500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B2FE99-C5C3-4354-8ECE-E4877E66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24325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67.9%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925CFB-A034-42BC-9AE8-2EDBECDC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524375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CRM domains unreached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EB8C3C-DBB0-4162-9D5C-E210920B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743450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Largest testable audience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C644A2-7137-4934-B8A6-CB1FABA3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FD4FF"/>
                </a:solidFill>
              </a:defRPr>
            </a:pPr>
            <a:r>
              <a:rPr sz="975" b="1">
                <a:solidFill>
                  <a:srgbClr val="BFD4FF"/>
                </a:solidFill>
              </a:rPr>
              <a:t>Recommendation  /  protect quality • expand strong-fit coverage • reserve spend for causal measurement</a:t>
            </a:r>
          </a:p>
        </p:txBody>
      </p:sp>
    </p:spTree>
    <p:extLst>
      <p:ext uri="{BB962C8B-B14F-4D97-AF65-F5344CB8AC3E}">
        <p14:creationId xmlns:p14="http://schemas.microsoft.com/office/powerpoint/2010/main" val="8729237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D9D5D0-B552-4788-97AC-E5A6E568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4877A2-73AC-4371-817F-D8349D80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The executive answer: scale learning before spend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E9A74-B5B8-4851-A1F2-12DC0F7A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Three decisions connect the analysis to an operating plan.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5655C-7AED-4CEA-AC1F-5D1E8DF9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2B678-75CC-4FFB-9A05-1B1E74BB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33718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D6CA86-FCA5-4D67-A5FF-D34EC3E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5715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05D91D-A0BE-47CC-93D0-BE17577B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05025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1  Protect pipeline quality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8F871-E61E-4700-87FF-DBE89ADB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29718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Closed-deal win rate moved from 38% in 2022 Q1 to 22% in 2024 Q2 among cohorts at least 80% resolved. Review ICP and qualification before broad acquisition grows.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F13DD-74EC-422C-BB94-D40A0862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952625"/>
            <a:ext cx="33718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E7EA50-C3AF-4AFC-8DCC-9040ABD3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952625"/>
            <a:ext cx="5715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0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E9C8A8-8430-4A7E-86B4-62D5A80E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105025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2  Expand strong-fit coverage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01A31D-C4C1-4217-A980-C22F1E45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400300"/>
            <a:ext cx="29718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67.9% of CRM account domains have no tracked email or 6sense touch. Use that audience for a randomized or phased coverage test.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65BFDF-DAB3-4539-A278-5CED7DCD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3718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F5F6E2-134D-4BD2-886F-64E3B542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5715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D90A4-DBDC-4CBF-B4CD-08D918A5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05025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3  Measure before reallocating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4526F6-9F6C-4A8D-99BD-1914F9F6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9718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Only two paid channels have tracked spend; one has a single opportunity and neither has recorded won revenue. Reserve a holdout instead of claiming an optimizer.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2007CD-AF48-4D1F-AB7B-EA78A028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816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E40AF"/>
                </a:solidFill>
              </a:defRPr>
            </a:pPr>
            <a:r>
              <a:rPr sz="975" b="1">
                <a:solidFill>
                  <a:srgbClr val="1E40AF"/>
                </a:solidFill>
              </a:rPr>
              <a:t>Decision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67E8D9-8F12-4364-BCDE-5E1982BB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86375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233F"/>
                </a:solidFill>
              </a:defRPr>
            </a:pPr>
            <a:r>
              <a:rPr sz="1500" b="1">
                <a:solidFill>
                  <a:srgbClr val="12233F"/>
                </a:solidFill>
              </a:rPr>
              <a:t>Scale only after incremental qualified opportunities or pipeline are demonstrated without degrading closed-deal quality.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7A3FBF-6FC9-4BE7-AA40-F77F371F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1A0742-14E0-4FAB-B734-B45A4529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4CADDF-8434-407D-932D-F42969E9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71972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0BE74E-96F8-42C2-91B1-2D4992A5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02D02-9352-47C0-AC83-7D375485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Four evidence boundaries change the 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D5FC3F-F09D-453E-BC0E-BE8794AE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 strong analysis shows what the data cannot support—not only what it can.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0039C0-2ED8-40C8-9AC0-7043BA41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24B7F-611A-472E-B106-62A7955B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3365C9-74ED-40B9-ABCA-970AB2BA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1C1C"/>
                </a:solidFill>
              </a:defRPr>
            </a:pPr>
            <a:r>
              <a:rPr sz="2250" b="1">
                <a:solidFill>
                  <a:srgbClr val="B91C1C"/>
                </a:solidFill>
              </a:rPr>
              <a:t>65.3%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AA25B9-6EA4-41C5-B077-835F9471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21812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Won opportunities with zero amount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08745-BF9A-4D87-8D43-7E29EFFB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181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Recorded revenue and revenue ROI are understated.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8824BD-3773-4178-AB6A-33AA7845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000250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BDA343-4A84-46D8-9303-39BAA7A0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12407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11.7%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4EA665-5651-40CE-8DCC-01EB0E97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524125"/>
            <a:ext cx="21812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Won opportunities linked to touches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3F8BF8-1F1C-45AC-8E85-FE6F49FD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743200"/>
            <a:ext cx="2181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Influenced attribution describes a linked subset, not every win.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5ABD5-C639-4505-AAEB-E123A04C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00250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AFE3C0-697C-4FE4-B192-4EB30599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2407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ADAC95-836C-46DA-82C7-7EB8C4D6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24125"/>
            <a:ext cx="21812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Paid channels with tracked spend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815D62-5F29-46D4-94AA-D688EE54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43200"/>
            <a:ext cx="2181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One has a single opportunity; neither has recorded won revenue.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3500AF-351C-4806-B62D-C24D632C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000250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F3C2BB-9D60-43C9-97D4-3FA05E25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12407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1C1C"/>
                </a:solidFill>
              </a:defRPr>
            </a:pPr>
            <a:r>
              <a:rPr sz="2250" b="1">
                <a:solidFill>
                  <a:srgbClr val="B91C1C"/>
                </a:solidFill>
              </a:rPr>
              <a:t>No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0FDF58-98C5-4FF0-9395-BA289B19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524125"/>
            <a:ext cx="21812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Delivered-email denominator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5E8B4E-95E0-45E2-BAF2-D89447BF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743200"/>
            <a:ext cx="2181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Open/click rates cannot be calculated from an engagement-event log.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AC4752-20B2-484A-A93A-38694759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5267325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9F7F3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30E4E0-6493-4D28-BC93-A5E425BD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57150" cy="2190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47BEF0-104C-44C1-A936-5E6C9501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48672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What remains decision-grade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BEBF91-5CC1-4B53-9AEC-5728045A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48672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Opportunity counts, recorded pipeline, closed outcomes, source credit, account coverage counts, and time-based model evaluation are reproducible and validated across outputs.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FC5BC7-CD42-446C-81F3-22E20741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429000"/>
            <a:ext cx="5343525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0C72A4-EB9D-453A-9498-CB7D37AF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429000"/>
            <a:ext cx="57150" cy="2190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8224C4-5EBB-4D97-835A-6F2F1597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581400"/>
            <a:ext cx="494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What remains directional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B4B1F3-7BFB-4191-B173-FC8FE127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876675"/>
            <a:ext cx="49434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Influence attribution, reached-vs-unreached opportunity rates, email event composition, creative CTR comparisons, and budget scenarios require explicit scope labels or experiments.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ABD24F-12D7-4951-A02C-D2CEBC12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D80787-EC3C-4D11-A5D5-FAFF947E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data | Known limitations surfaced before recommendations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B0B2B2-0C1D-4C9D-B4AF-8AC5C2AB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277655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AAAB4A-CB33-4D07-80D9-98998B74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8F30D9-CA62-44AD-BC48-28AF7ED9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Pipeline growth is outpacing conversion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BCBE6-FEF0-4241-9168-CE9F45F1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Compare only cohorts with at least 80% of opportunities resolved.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DC1D8-36B7-41E2-8402-0216352A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2FDC39-0145-4000-9F88-6D9CA60F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05000"/>
            <a:ext cx="74295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6C932-6BB3-422B-98CC-C8DE4BCB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701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Closed-deal win rate by create quarter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D02E9-1869-4531-9B86-316296BA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701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Mature cohorts only • 95% intervals are available in the dashboard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800100" y="2600325"/>
          <a:ext xmlns:a="http://schemas.openxmlformats.org/drawingml/2006/main" cx="7010400" cy="3124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8bdc4413cc4ebf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6827B-EB15-4DB2-8027-D268A39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52625"/>
            <a:ext cx="32480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A41BD3-E969-4628-AD28-883B9CC2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076450"/>
            <a:ext cx="290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1C1C"/>
                </a:solidFill>
              </a:defRPr>
            </a:pPr>
            <a:r>
              <a:rPr sz="2250" b="1">
                <a:solidFill>
                  <a:srgbClr val="B91C1C"/>
                </a:solidFill>
              </a:rPr>
              <a:t>38% → 22%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9AB41-0E65-4BB8-A5F6-F45AF690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476500"/>
            <a:ext cx="2905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2022 Q1 to 2024 Q2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A4657F-0E51-4053-AFE3-25BEE2E8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695575"/>
            <a:ext cx="2905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Resolved-outcome denominator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E34E4-6621-4D79-832B-7D293FBF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90875"/>
            <a:ext cx="32480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921806-B96D-410F-972D-E41CBFF9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314700"/>
            <a:ext cx="290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E40AF"/>
                </a:solidFill>
              </a:defRPr>
            </a:pPr>
            <a:r>
              <a:rPr sz="2250" b="1">
                <a:solidFill>
                  <a:srgbClr val="1E40AF"/>
                </a:solidFill>
              </a:rPr>
              <a:t>$3.5M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D69E08-3A87-4EE7-9F06-A523E2D1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714750"/>
            <a:ext cx="2905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Pipeline in 2024 Q2 cohort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C3E3DF-EBEF-47C5-B92B-067CB56C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933825"/>
            <a:ext cx="2905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88% resolved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AD57F7-E67D-45F0-882F-77B06D5E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29125"/>
            <a:ext cx="324802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7BDB4E-947B-41BC-95AD-7BC5590E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29125"/>
            <a:ext cx="57150" cy="14763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52FD3A-F2CF-48B2-9409-D4434D7D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581525"/>
            <a:ext cx="28479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138CF4-996E-4594-85FF-073A199B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876800"/>
            <a:ext cx="28479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Audit ICP fit, qualification, and source mix before accelerating broad acquisition. Keep 2024 Q3–Q4 provisional until they mature.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8EACC3-0012-4EFD-A2FC-A448629E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E36802-AD41-404E-9D45-3477646D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B62FE5-2A46-4B9C-B2A2-71EB06E4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899868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687F18-0224-44B4-A3B1-0EB4B4E5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93548-C700-4938-8009-B6DB5C0F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Source credit and linked influence answer different questions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77E8F-D0C0-4E6E-B73F-6CAF8D67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Report both, but never present influenced attribution as full-population or causal credit.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6165B3-6512-4643-9E6A-C7D96B23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B9CC30-5A2E-4BDC-9EE5-86BE957E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66750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F1D44B-606E-44E1-8560-B10418DF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624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Recorded pipeline contribution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D39A6-4AEE-4B6D-88F4-89312E89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624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CRM source vs touchpoint-linked opportunity subset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6248400" cy="2838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892901339a41ac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40187-3064-4330-AF7B-3FC0BEDA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52625"/>
            <a:ext cx="3867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1FFE2E-8221-41E8-98BF-1F38B440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76450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695 / 3,288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AB2724-CF2D-4F53-A0C0-1FC2BA7B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7650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Opportunities linked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438445-2862-49CB-9F51-AB19F434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95575"/>
            <a:ext cx="3524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21.1%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9C16C8-3392-4CFB-9B4D-21B04E5B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90875"/>
            <a:ext cx="3867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D91F98-6525-4EF9-81B8-112E2BB7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14700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1C1C"/>
                </a:solidFill>
              </a:defRPr>
            </a:pPr>
            <a:r>
              <a:rPr sz="2250" b="1">
                <a:solidFill>
                  <a:srgbClr val="B91C1C"/>
                </a:solidFill>
              </a:rPr>
              <a:t>126 / 1,073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8326BE-47B4-4BF9-89B9-5EF894A9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7147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Won opportunities linked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588B94-130B-4D31-AD7C-479AEA6B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33825"/>
            <a:ext cx="3524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11.7%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8C2C86-74AA-4900-8868-D079EB8B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29125"/>
            <a:ext cx="38671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904D0E-CC57-4158-89B8-58750557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29125"/>
            <a:ext cx="57150" cy="1238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12615A-85E1-4D8B-A5AC-44F2F2F1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581525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Interpretation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423D98-8B7F-48CA-8A98-BBB3EC5B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76800"/>
            <a:ext cx="3467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Influenced pipeline is useful journey context for linked opportunities. CRM sourced remains the conservative contribution 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D4F0A-ED8D-4BA2-9AE0-3218B20F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C7FB55-927F-4644-9B34-3D90DCE0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365-day lookback | one account-channel presence per ISO week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2EE9CF-28FC-4F93-8989-5995D6A3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919066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C8D8B2-669C-436B-81BF-555B09BF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3A1002-BFB7-4B95-AAED-81A6159F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Email opens journeys; 6sense appears later in linked paths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3DC52A-29F6-4A27-A6D5-C43CB987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Descriptive journey role—not proof that either channel caused the outcome.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6B7234-7BF2-467C-8329-892332A4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4A8D0-A6CD-4FDE-91BB-5126138C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809625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6646C-7084-4BB6-8CB3-FC1A1358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767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Attribution credit by journey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DCF0AA-B878-4855-9F15-81C4C13C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7677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Pipeline in millions • linked opportunities only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767715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9f729bcbb54107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A7D62E-2FBF-40E7-9D3B-E9E23569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2533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25022D-C0F9-4137-8118-554047B0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5715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0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54149-BF92-4AB9-8AAB-E08F5DB5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526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Observed pattern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F88AB9-257B-4C22-AAC9-6E8BFD43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47925"/>
            <a:ext cx="2133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Email receives more first-touch credit. 6sense display receives more last-touch and time-decay credit within the linked subset.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22335E-718E-4B8F-A497-5997114F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10000"/>
            <a:ext cx="25336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EE912-1218-4BB2-B1A9-EA7D4673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10000"/>
            <a:ext cx="57150" cy="2000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7B9293-39B5-463E-8FF0-7FF11E3C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624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Next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C6EC7C-4415-4CB4-AFAE-3DA1BC3E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257675"/>
            <a:ext cx="2133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After email engagement, randomize eligible strong-fit accounts into a 6sense overlay and holdout. Measure meetings, qualified opportunities, pipeline, and closed-deal quality.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0254FB-53E7-4FE4-BF4D-2A39DBD5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5B9573-C5E1-4BC4-AE1F-2045E1D2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AFB9CE-F0B7-4AE1-AB40-37E4AF43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220119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7EBCC6-BDF4-483F-B888-A9E7E75F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EA93ED-05D5-423F-A793-33831037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The largest measurable opportunity is account coverage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22C11-D22A-4BEB-A126-C758D275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Reached-account opportunity rates are observational and include selection effects.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08BC6-0A9A-407F-AFE2-0AAE5A70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C072B-4C03-4107-968E-FB1DE46E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858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E1A9EC-981F-4E90-ACA9-78A50887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643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CRM account domains by tracked coverage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396CD-929E-441E-B431-0103ACCC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643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Counts by normalized company domain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643890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7205b8966e41eb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A4A04-CA39-4F73-B11B-00DE79C4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47875"/>
            <a:ext cx="3676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Observed opportunity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EB9D3-D67B-4672-B8C2-F5C5EABA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765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Not Reached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568A95-B1ED-46F6-8018-3C9AAC36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4792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B45309"/>
                </a:solidFill>
              </a:defRPr>
            </a:pPr>
            <a:r>
              <a:rPr sz="1725" b="1">
                <a:solidFill>
                  <a:srgbClr val="B45309"/>
                </a:solidFill>
              </a:rPr>
              <a:t>17.5%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ED9568-5E76-4A05-9BBE-2CAAFCA0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336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16%–19% 95% CI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B0D09-5B33-4DE5-A4CB-0497DC8F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623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Email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60941-F4A3-4D82-B617-5B96C069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13372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E40AF"/>
                </a:solidFill>
              </a:defRPr>
            </a:pPr>
            <a:r>
              <a:rPr sz="1725" b="1">
                <a:solidFill>
                  <a:srgbClr val="1E40AF"/>
                </a:solidFill>
              </a:rPr>
              <a:t>45.9%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5FC37-8904-4DE7-BBD6-76BF95DD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194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42%–50% 95% CI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BDDBB-0D2E-47A6-AEEC-3072F235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481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Both Channels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66F7F-5114-4C4E-B9F4-1B3AA785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1952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E40AF"/>
                </a:solidFill>
              </a:defRPr>
            </a:pPr>
            <a:r>
              <a:rPr sz="1725" b="1">
                <a:solidFill>
                  <a:srgbClr val="1E40AF"/>
                </a:solidFill>
              </a:rPr>
              <a:t>42.6%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35848B-5FC9-461B-A9C2-A745AA31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052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38%–47% 95% 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083D9-E852-49A8-B9E9-BB842BAF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33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6sense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5E5E0C-D253-46A1-B609-4DA09E72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0532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E40AF"/>
                </a:solidFill>
              </a:defRPr>
            </a:pPr>
            <a:r>
              <a:rPr sz="1725" b="1">
                <a:solidFill>
                  <a:srgbClr val="1E40AF"/>
                </a:solidFill>
              </a:rPr>
              <a:t>28.6%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8C0996-D34D-4637-ADDE-BD3B7926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910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24%–34% 95% CI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B345B4-FB1B-4FCA-937B-20EB04C0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38750"/>
            <a:ext cx="36766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4A8523-340F-4558-B3C1-6A3AC3DD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38750"/>
            <a:ext cx="5715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60EA9F-D044-4B07-BDEB-53074A44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9115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Test, do not infer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982454-2F4A-4F64-9C49-5FC7327F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86425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Randomize strong-fit unreached accounts; use opportunity creation as the primary outcome.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4ECD14-4838-43C1-A506-2BC215C1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DFD676-DBD4-4ABE-92BE-0397A645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D8A7FC-79A8-45C8-9D44-1B50862A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396127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B37338-3060-4D4F-9324-712E8035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8C4FB7-541C-482C-B459-2F25C533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Email data measures event composition—not campaign rates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49566B-B561-4ECD-8DA9-F2DAD375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The supplied file contains engagement events, without sent or delivered counts.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49016-C5A8-4354-9613-E721482E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404F6-812B-447B-9E8E-7F01F501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57225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3C9E52-7EB6-4B6B-97B3-19372ACE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615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Recorded engagement-event mix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59B2E-02F2-40F7-8947-ACE0223E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6153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17,130 event rows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615315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94f42c72b94e35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5F845-7876-4DE2-9C46-AE188469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962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2623B-D1A2-4942-9EA0-78379F52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76450"/>
            <a:ext cx="361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E40AF"/>
                </a:solidFill>
              </a:defRPr>
            </a:pPr>
            <a:r>
              <a:rPr sz="2250" b="1">
                <a:solidFill>
                  <a:srgbClr val="1E40AF"/>
                </a:solidFill>
              </a:rPr>
              <a:t>5,576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59FD7-963B-4BAD-8632-090CB462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476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Unique engaged email addresses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E501B9-422B-4720-B3A3-92EF428A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95575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Deduplicated within the engagement log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DD259-0566-43C0-9A8E-16C88CF2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90875"/>
            <a:ext cx="3962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29D127-741D-47D9-967F-D379FDB4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314700"/>
            <a:ext cx="361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4.5%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AB27E-86C6-42DF-B4A4-F4F013FE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147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Click-event share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2264CB-9BF0-42C9-AD0D-56D297A6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33825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Clicks / all recorded engagement events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06A3E6-F1D1-4B59-B391-9FC7183C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29125"/>
            <a:ext cx="39624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3E4C36-6867-42B3-9BEB-8EDE332F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29125"/>
            <a:ext cx="57150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1ED3CF-61E4-45AA-87E2-87338211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81525"/>
            <a:ext cx="3562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Measurement requirement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B3094-600F-4A78-A8D4-F62F3452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76800"/>
            <a:ext cx="35623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Acquire sent, delivered, unique-open, unique-click, bounce, and unsubscribe denominators before publishing campaign reach, open rate, or CTR.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DE8309-A480-42CB-9423-A80A6E7F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AF76A5-5473-475D-88DF-7A71BD4B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No send-based open or click rate is claimed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17B90E-38CC-4B9C-9597-A4CBE329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682391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52D5DB-04EE-44EB-9D0B-06F4C2E1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CCB2A-AFDA-4CE3-A5B6-F69D419D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Creative efficiency must be compared within platform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A45F9-C707-425C-84B3-648FD54A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Delivery mechanics and baseline CTR differ between LinkedIn and 6sense.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268C8-8499-403C-A586-E2E671D9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10E14-F897-4720-B83C-082FA389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7239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8BC33-A3F4-4E60-9B0A-1A8134E6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681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Weighted platform CTR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65E2B-A6F0-4EFA-A574-5AB3D777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681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Clicks / impressions across supplied creative rows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681990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e5d4f6d526484c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279D5A-7ED2-4409-BAAF-F9E505F5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52625"/>
            <a:ext cx="343852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531E55-C052-4C8C-9329-B2F02F07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52625"/>
            <a:ext cx="57150" cy="1714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0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42B126-8D87-4248-B6E7-1F14DE15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105025"/>
            <a:ext cx="3038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Use for optimization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0395CF-8E07-446C-A407-F9E7322D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400300"/>
            <a:ext cx="30384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Rank ads within each platform, require minimum impression volume, and evaluate downstream account engagement before scaling.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ECC879-9AB6-4365-8788-E4E283DB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857625"/>
            <a:ext cx="3438525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4D7C38-2DB3-4CC1-9F5A-0B1D88D3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857625"/>
            <a:ext cx="57150" cy="1952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5A4AE7-A83E-4A55-8141-1A9F1AC8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010025"/>
            <a:ext cx="3038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Metadata gap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9AD504-D9EE-43EE-8B00-92CD54EF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05300"/>
            <a:ext cx="30384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Most 6sense delivery is labeled with unknown copy tone and asset metadata. Backfill taxonomy before claiming that a creative attribute drives performance.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3D0E0-F77E-4DC0-86A7-A533F0E5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CD47E0-023D-4489-8D60-65189582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F4E4EF-6733-44DD-906C-3A2154D6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330397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3AE36F-5E00-4391-B70C-CBE3D6E5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724BD-300D-47AF-BEE3-5E73FCC3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The model is a useful baseline—not an automated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2D3756-BB3D-4A5C-8BCB-F1F2BA51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Time-based evaluation and feature-policy controls replace the prior lookahead-prone specification.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3D058-4816-4B6B-B386-D725296D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6AFDF1-F145-49F2-ACC2-2C91D87F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C6FAE6-EF78-4056-BBC0-C8DD3579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E40AF"/>
                </a:solidFill>
              </a:defRPr>
            </a:pPr>
            <a:r>
              <a:rPr sz="2250" b="1">
                <a:solidFill>
                  <a:srgbClr val="1E40AF"/>
                </a:solidFill>
              </a:rPr>
              <a:t>0.712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C4F3C-39B7-4C18-86E3-436134C1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ROC AUC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A9BAEC-AE2E-40B5-980B-840C9833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Time-based 80/20 holdout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22560-D56E-405E-8175-FAA5128B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95262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9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0E6720-10A1-4BE0-9CD2-AC979EDA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076450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61.0%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94C0E-4F36-4FE5-8A32-17CC8A5A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476500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Precision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E3D341-ADC8-4FED-BFD5-E97A3224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695575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At the default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7E922C-19C8-42E4-80CE-1B276933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95262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4E3DE4-0F0A-4EA3-9975-8AA65C07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44.4%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DF6C13-8E30-4ACD-A14D-E3A69685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76500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Recall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A65FC2-B331-4E29-9B5D-956DE435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95575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At the default threshold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15103D-0BC1-47CF-98C4-296A9297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95262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7E7216-CC20-4823-B744-8E5629CA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076450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0.182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710DB2-9A9F-4F45-82DC-FD3CCC92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Brier score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B4C09-BB38-4C22-90FB-830BDC5F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95575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447 active opportunities scored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E171AF-3F9F-4495-87C3-D7C85103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72390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1B9D1F-B86D-4F2A-AEFB-93CE4533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67100"/>
            <a:ext cx="681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Opportunity-time feature importance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C31859-44B9-481C-84A5-4D19DCCB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1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Aggregated Random Forest importance</a:t>
            </a:r>
          </a:p>
        </p:txBody>
      </p:sp>
      <p:graphicFrame>
        <p:nvGraphicFramePr>
          <p:cNvPr id="55" name="Chart"/>
          <p:cNvGraphicFramePr/>
          <p:nvPr/>
        </p:nvGraphicFramePr>
        <p:xfrm>
          <a:off xmlns:a="http://schemas.openxmlformats.org/drawingml/2006/main" x="800100" y="4029075"/>
          <a:ext xmlns:a="http://schemas.openxmlformats.org/drawingml/2006/main" cx="6819900" cy="17430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3ae3e1b9034721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982B7C-5210-4764-AC5D-4DD1D449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333750"/>
            <a:ext cx="3438525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241FBC-CE33-4433-8B48-01BE1022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333750"/>
            <a:ext cx="57150" cy="26193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0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1447AB-EE56-40FD-856F-304901A5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486150"/>
            <a:ext cx="3038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Leakage 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35B6C3-A26B-46BE-8F99-A331A04B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781425"/>
            <a:ext cx="303847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Uses channel, CRM market segment, recorded amount, and create-date features. Excludes current stage, present-day intent, account snapshots, and contact counts. Pilot probability bands with sales before setting a cutoff.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7C60DD-7036-4FC3-B738-9E623B04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93A5A4-83BE-4947-9786-2A741E8A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93EBFB-FDB2-40FD-B09D-A44B8FCF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964286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855D5C-158F-440D-B24F-B097D1AA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9A1A7-A222-4F02-BF69-7B191FC4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Use the budget to create evidence—not a false forecast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A4A98-17F1-40A2-84CA-C7F9B3C2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Every plan preserves the same tracked-spend total.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D6CB0-5F90-4F5B-978A-09E7D188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55377-89CF-427F-9757-50AE1AF6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78105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9E04F-A2DA-4E36-92A6-7CA214CD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739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Budget-neutral operating plans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D139AE-DFFA-4F1B-9A36-F9DE5FBC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739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Tracked spend in millions • no pipeline forecast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739140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a031b6c1534044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3F224-68AB-4108-AFC4-3F851357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241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9F7F3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A320BD-1C01-4E57-81DA-C79F1100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57150" cy="1714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A1C0AE-5BB3-4C40-BACD-FD983ECF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05025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Recommended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3813CC-C564-41B3-A9ED-D1E68577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0300"/>
            <a:ext cx="2324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Measurement First: activate 80%, reserve 10% as holdout, and use 10% for a pre-registered experiment pool.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3EA7E7-E456-4C39-8148-586C9730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57625"/>
            <a:ext cx="27241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5D3550-80AA-4F78-B0B1-48E7438F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57625"/>
            <a:ext cx="57150" cy="1952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58E83-2201-4816-9DA3-5E8619D1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10025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Scale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83009-DADA-4268-86E9-14C1F415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305300"/>
            <a:ext cx="23241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Require incremental qualified opportunities or pipeline, stable closed-deal win rate, and clean spend/outcome reconciliation before expanding.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5DA49E-174B-423D-B8B3-4616053C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B721F4-A26C-462C-A41B-441F2AD1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0A10BD-614B-4945-BAA8-78ECED8C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739387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223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FB9BEB-F5B4-4707-B68F-EB78DD53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428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339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2F74DC-2E96-4367-B7C4-22B8BFF8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238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FD4FF"/>
                </a:solidFill>
              </a:defRPr>
            </a:pPr>
            <a:r>
              <a:rPr sz="900" b="1">
                <a:solidFill>
                  <a:srgbClr val="BFD4FF"/>
                </a:solidFill>
              </a:rPr>
              <a:t>30 / 60 / 90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91B567-333B-4E33-AE88-103D5388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62000"/>
            <a:ext cx="1038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Turn the analysis into a measurement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40AFE-4D4B-41CA-AF14-140ED61C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BD7E7"/>
                </a:solidFill>
              </a:defRPr>
            </a:pPr>
            <a:r>
              <a:rPr sz="1275" b="0">
                <a:solidFill>
                  <a:srgbClr val="CBD7E7"/>
                </a:solidFill>
              </a:rPr>
              <a:t>The goal is not another dashboard refresh. It is a clean decision loop from data quality to experiment to scale.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00E135-F15C-4F48-84FF-ADDE0E3E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33718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C2E49"/>
          </a:solidFill>
          <a:ln xmlns:a="http://schemas.openxmlformats.org/drawingml/2006/main" w="9525">
            <a:solidFill>
              <a:srgbClr val="3D58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A88E9-F43E-4169-A948-0CA8B2CF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57150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1B96F-3480-4D3F-921D-17DF7365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30 days  /  repair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5F64B2-8DD1-41DA-95DF-55AD35F3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2971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BD7E7"/>
                </a:solidFill>
              </a:defRPr>
            </a:pPr>
            <a:r>
              <a:rPr sz="975" b="0">
                <a:solidFill>
                  <a:srgbClr val="CBD7E7"/>
                </a:solidFill>
              </a:rPr>
              <a:t>Backfill zero-amount won opportunities. Reconcile 6sense spend sources. Add sent/delivered email denominators. Freeze attribution definitions and owners.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5AA777-55E6-4AFB-A2B5-D50591E8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95500"/>
            <a:ext cx="33718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C2E49"/>
          </a:solidFill>
          <a:ln xmlns:a="http://schemas.openxmlformats.org/drawingml/2006/main" w="9525">
            <a:solidFill>
              <a:srgbClr val="3D587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78A43-821E-40CA-A73A-7D1A9C4B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95500"/>
            <a:ext cx="57150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95F16A-DB83-4DCE-BEB4-11097C48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4790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60 days  / 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A525D1-D601-4CBE-869A-0D086845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43175"/>
            <a:ext cx="2971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BD7E7"/>
                </a:solidFill>
              </a:defRPr>
            </a:pPr>
            <a:r>
              <a:rPr sz="975" b="0">
                <a:solidFill>
                  <a:srgbClr val="CBD7E7"/>
                </a:solidFill>
              </a:rPr>
              <a:t>Randomize strong-fit unreached accounts. Test email-first outreach and a 6sense overlay. Pre-register outcomes, windows, exclusions, and stop rules.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3BEE5A-5D31-496B-B1BB-37539A3D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33718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C2E49"/>
          </a:solidFill>
          <a:ln xmlns:a="http://schemas.openxmlformats.org/drawingml/2006/main" w="9525">
            <a:solidFill>
              <a:srgbClr val="3D587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73D0C6-7650-4428-B55B-DB4404E9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57150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093E13-179A-4DF1-AEF6-B0C906CC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4790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90 days  /  decide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86DBBE-A466-4C15-8842-0D91B40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43175"/>
            <a:ext cx="2971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BD7E7"/>
                </a:solidFill>
              </a:defRPr>
            </a:pPr>
            <a:r>
              <a:rPr sz="975" b="0">
                <a:solidFill>
                  <a:srgbClr val="CBD7E7"/>
                </a:solidFill>
              </a:rPr>
              <a:t>Scale only when incremental qualified pipeline is positive, closed-deal quality holds, and model score bands show stable conversion in production.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FAAB49-C864-45E0-85E4-989D6A90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8162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FD4FF"/>
                </a:solidFill>
              </a:defRPr>
            </a:pPr>
            <a:r>
              <a:rPr sz="975" b="1">
                <a:solidFill>
                  <a:srgbClr val="BFD4FF"/>
                </a:solidFill>
              </a:rPr>
              <a:t>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641B57-EF13-417A-922C-ABFA69AB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578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CRM completeness  ≥ 95%  •  attribution coverage reported  •  holdout integrity verified  •  closed-win quality protected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CFDF60-03BC-4539-A8BB-BC893841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4FF"/>
                </a:solidFill>
              </a:defRPr>
            </a:pPr>
            <a:r>
              <a:rPr sz="1050" b="1">
                <a:solidFill>
                  <a:srgbClr val="BFD4FF"/>
                </a:solidFill>
              </a:rPr>
              <a:t>Bottom line  /  Targeted, measured growth can win—once the data can distinguish activity from incrementality.</a:t>
            </a:r>
          </a:p>
        </p:txBody>
      </p:sp>
    </p:spTree>
    <p:extLst>
      <p:ext uri="{BB962C8B-B14F-4D97-AF65-F5344CB8AC3E}">
        <p14:creationId xmlns:p14="http://schemas.microsoft.com/office/powerpoint/2010/main" val="17888763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2026-08-30T11:31:41.1690000Z</dcterms:created>
  <dcterms:modified xsi:type="dcterms:W3CDTF">2026-08-30T11:31:41.1690000Z</dcterms:modified>
</coreProperties>
</file>