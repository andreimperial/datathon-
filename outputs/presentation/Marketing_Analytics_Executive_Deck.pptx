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170b4f21f4920" /><Relationship Type="http://schemas.openxmlformats.org/officeDocument/2006/relationships/extended-properties" Target="/docProps/app.xml" Id="R542701fa7e1c4003" /><Relationship Type="http://schemas.openxmlformats.org/officeDocument/2006/relationships/officeDocument" Target="/ppt/presentation.xml" Id="Re2c64ddeb222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13c1705fa43a4"/>
  </p:sldMasterIdLst>
  <p:notesMasterIdLst>
    <p:notesMasterId xmlns:r="http://schemas.openxmlformats.org/officeDocument/2006/relationships" r:id="R0a57f65b944e4b81"/>
  </p:notesMasterIdLst>
  <p:sldIdLst>
    <p:sldId xmlns:r="http://schemas.openxmlformats.org/officeDocument/2006/relationships" id="256" r:id="R3dcb5351786240ce"/>
    <p:sldId xmlns:r="http://schemas.openxmlformats.org/officeDocument/2006/relationships" id="257" r:id="R26bad879508d4e65"/>
    <p:sldId xmlns:r="http://schemas.openxmlformats.org/officeDocument/2006/relationships" id="258" r:id="R81caefe2e830450a"/>
    <p:sldId xmlns:r="http://schemas.openxmlformats.org/officeDocument/2006/relationships" id="259" r:id="R496249e6cc794440"/>
    <p:sldId xmlns:r="http://schemas.openxmlformats.org/officeDocument/2006/relationships" id="260" r:id="Rf962675290154c82"/>
    <p:sldId xmlns:r="http://schemas.openxmlformats.org/officeDocument/2006/relationships" id="261" r:id="Rae2857f822224459"/>
    <p:sldId xmlns:r="http://schemas.openxmlformats.org/officeDocument/2006/relationships" id="262" r:id="R4c9fa963e9704031"/>
    <p:sldId xmlns:r="http://schemas.openxmlformats.org/officeDocument/2006/relationships" id="263" r:id="R62a7de93837b4e7b"/>
    <p:sldId xmlns:r="http://schemas.openxmlformats.org/officeDocument/2006/relationships" id="264" r:id="Rcca842244a074508"/>
    <p:sldId xmlns:r="http://schemas.openxmlformats.org/officeDocument/2006/relationships" id="265" r:id="Rb0bde08ecfaa40dd"/>
    <p:sldId xmlns:r="http://schemas.openxmlformats.org/officeDocument/2006/relationships" id="266" r:id="R719edd9eecf24411"/>
    <p:sldId xmlns:r="http://schemas.openxmlformats.org/officeDocument/2006/relationships" id="267" r:id="Ra1db85d58e624f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7e9c4aa1284fd4" /><Relationship Type="http://schemas.openxmlformats.org/officeDocument/2006/relationships/slideMaster" Target="/ppt/slideMasters/slideMaster1.xml" Id="Rfc513c1705fa43a4" /><Relationship Type="http://schemas.openxmlformats.org/officeDocument/2006/relationships/notesMaster" Target="/ppt/notesMasters/notesMaster1.xml" Id="R0a57f65b944e4b81" /><Relationship Type="http://schemas.openxmlformats.org/officeDocument/2006/relationships/presProps" Target="/ppt/presProps.xml" Id="R44f50dcd25b14052" /><Relationship Type="http://schemas.openxmlformats.org/officeDocument/2006/relationships/tableStyles" Target="/ppt/tableStyles.xml" Id="Ra1f35510a5604017" /><Relationship Type="http://schemas.openxmlformats.org/officeDocument/2006/relationships/slide" Target="/ppt/slides/slide1.xml" Id="R3dcb5351786240ce" /><Relationship Type="http://schemas.openxmlformats.org/officeDocument/2006/relationships/slide" Target="/ppt/slides/slide2.xml" Id="R26bad879508d4e65" /><Relationship Type="http://schemas.openxmlformats.org/officeDocument/2006/relationships/slide" Target="/ppt/slides/slide3.xml" Id="R81caefe2e830450a" /><Relationship Type="http://schemas.openxmlformats.org/officeDocument/2006/relationships/slide" Target="/ppt/slides/slide4.xml" Id="R496249e6cc794440" /><Relationship Type="http://schemas.openxmlformats.org/officeDocument/2006/relationships/slide" Target="/ppt/slides/slide5.xml" Id="Rf962675290154c82" /><Relationship Type="http://schemas.openxmlformats.org/officeDocument/2006/relationships/slide" Target="/ppt/slides/slide6.xml" Id="Rae2857f822224459" /><Relationship Type="http://schemas.openxmlformats.org/officeDocument/2006/relationships/slide" Target="/ppt/slides/slide7.xml" Id="R4c9fa963e9704031" /><Relationship Type="http://schemas.openxmlformats.org/officeDocument/2006/relationships/slide" Target="/ppt/slides/slide8.xml" Id="R62a7de93837b4e7b" /><Relationship Type="http://schemas.openxmlformats.org/officeDocument/2006/relationships/slide" Target="/ppt/slides/slide9.xml" Id="Rcca842244a074508" /><Relationship Type="http://schemas.openxmlformats.org/officeDocument/2006/relationships/slide" Target="/ppt/slides/slide10.xml" Id="Rb0bde08ecfaa40dd" /><Relationship Type="http://schemas.openxmlformats.org/officeDocument/2006/relationships/slide" Target="/ppt/slides/slide11.xml" Id="R719edd9eecf24411" /><Relationship Type="http://schemas.openxmlformats.org/officeDocument/2006/relationships/slide" Target="/ppt/slides/slide12.xml" Id="Ra1db85d58e624f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d7eddfeb240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1594a08644969" /><Relationship Type="http://schemas.openxmlformats.org/officeDocument/2006/relationships/notesMaster" Target="/ppt/notesMasters/notesMaster1.xml" Id="Rb4c086480bee48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ff16f0c5b64784" /><Relationship Type="http://schemas.openxmlformats.org/officeDocument/2006/relationships/notesMaster" Target="/ppt/notesMasters/notesMaster1.xml" Id="R373e587fab9e4e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03c1d9bb294ece" /><Relationship Type="http://schemas.openxmlformats.org/officeDocument/2006/relationships/notesMaster" Target="/ppt/notesMasters/notesMaster1.xml" Id="R0f7193b06217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e763483a5e4713" /><Relationship Type="http://schemas.openxmlformats.org/officeDocument/2006/relationships/notesMaster" Target="/ppt/notesMasters/notesMaster1.xml" Id="Rb02a3bfa65fb41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86b60e75ff4e54" /><Relationship Type="http://schemas.openxmlformats.org/officeDocument/2006/relationships/notesMaster" Target="/ppt/notesMasters/notesMaster1.xml" Id="R0f25b092df884d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bf6ce722f34ced" /><Relationship Type="http://schemas.openxmlformats.org/officeDocument/2006/relationships/notesMaster" Target="/ppt/notesMasters/notesMaster1.xml" Id="R70b43e6a21d8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5df81d83f348c5" /><Relationship Type="http://schemas.openxmlformats.org/officeDocument/2006/relationships/notesMaster" Target="/ppt/notesMasters/notesMaster1.xml" Id="R728951c0ecfa46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1e4366d4fd4af1" /><Relationship Type="http://schemas.openxmlformats.org/officeDocument/2006/relationships/notesMaster" Target="/ppt/notesMasters/notesMaster1.xml" Id="R55685b81dbfc49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be419c21d34258" /><Relationship Type="http://schemas.openxmlformats.org/officeDocument/2006/relationships/notesMaster" Target="/ppt/notesMasters/notesMaster1.xml" Id="Ra514c3b130fc42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78d68304ee4648" /><Relationship Type="http://schemas.openxmlformats.org/officeDocument/2006/relationships/notesMaster" Target="/ppt/notesMasters/notesMaster1.xml" Id="R51019ce6a76c4c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37856a7e4d4145" /><Relationship Type="http://schemas.openxmlformats.org/officeDocument/2006/relationships/notesMaster" Target="/ppt/notesMasters/notesMaster1.xml" Id="Re037f8821dd443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fe9df6c01f4e50" /><Relationship Type="http://schemas.openxmlformats.org/officeDocument/2006/relationships/notesMaster" Target="/ppt/notesMasters/notesMaster1.xml" Id="R97132a94880d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data/cleaned/opportunities.parquet</a:t>
            </a:r>
          </a:p>
          <a:p xmlns:a="http://schemas.openxmlformats.org/drawingml/2006/main">
            <a:r>
              <a:t>- data/integrated/account_coverage_summary.parquet</a:t>
            </a:r>
          </a:p>
          <a:p xmlns:a="http://schemas.openxmlformats.org/drawingml/2006/main">
            <a:r>
              <a:t>- data/integrated/model_stats.parquet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Pipeline and won revenue use recorded CRM amounts. Closed win rate is won divided by resolved outcomes. Active opportunities are excluded from that denominator.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data/integrated/cohort_analysis.parquet</a:t>
            </a:r>
          </a:p>
          <a:p xmlns:a="http://schemas.openxmlformats.org/drawingml/2006/main">
            <a:r>
              <a:t>- data/integrated/account_coverage_summary.parquet</a:t>
            </a:r>
          </a:p>
          <a:p xmlns:a="http://schemas.openxmlformats.org/drawingml/2006/main">
            <a:r>
              <a:t>- data/integrated/budget_scenarios.parquet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The three recommendations separate observed evidence from causal claims. Coverage groups are observational until tested with a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data/integrated/data_quality_summary.parquet</a:t>
            </a:r>
          </a:p>
          <a:p xmlns:a="http://schemas.openxmlformats.org/drawingml/2006/main">
            <a:r>
              <a:t>- data/integrated/attribution_coverage.parquet</a:t>
            </a:r>
          </a:p>
          <a:p xmlns:a="http://schemas.openxmlformats.org/drawingml/2006/main">
            <a:r>
              <a:t>- outputs/analysis/email_campaign_performance.xlsx</a:t>
            </a:r>
          </a:p>
          <a:p xmlns:a="http://schemas.openxmlformats.org/drawingml/2006/main">
            <a:r>
              <a:t>- data/integrated/budget_scenarios.parquet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Zero-amount won opportunities are counted from deduplicated CRM opportunities. Touch linkage uses a 365-day lookback and one account-channel presence per ISO week.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data/integrated/cohort_analysis.parquet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Win rate equals won divided by resolved outcomes (closed won, closed lost, or discontinued). This slide includes only cohorts with resolved share at or above 80%.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data/integrated/attribution_results.parquet</a:t>
            </a:r>
          </a:p>
          <a:p xmlns:a="http://schemas.openxmlformats.org/drawingml/2006/main">
            <a:r>
              <a:t>- data/integrated/attribution_coverage.parquet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Marketing sourced uses CRM source mapping. Marketing influenced includes opportunities linked to normalized pre-opportunity touches within 365 days. Blank-UTM web sessions are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data/integrated/attribution_results.parquet</a:t>
            </a:r>
          </a:p>
          <a:p xmlns:a="http://schemas.openxmlformats.org/drawingml/2006/main">
            <a:r>
              <a:t>- data/integrated/attribution_touchpoint_quality.parquet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Touchpoints are normalized to one account-channel presence per ISO week before first-touch, last-touch, linear, and time-decay allocation.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data/integrated/account_coverage_summary.parquet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Coverage tier is based on tracked email and 6sense presence by normalized domain. Wilson intervals describe observed account-level opportunity rates; groups were not randomized.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data/cleaned/email_engagements.parquet</a:t>
            </a:r>
          </a:p>
          <a:p xmlns:a="http://schemas.openxmlformats.org/drawingml/2006/main">
            <a:r>
              <a:t>- outputs/analysis/email_campaign_performance.xlsx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Event shares divide event-type rows by all supplied engagement-event rows. They are not standard email rates and should not be benchmarked against campaign norms.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data/integrated/creative_performance.parquet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Platform CTR is weighted clicks divided by impressions. The dashboard further limits creative ranking to the top five ads within each platform with at least 10,000 impressions.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data/integrated/model_stats.parquet</a:t>
            </a:r>
          </a:p>
          <a:p xmlns:a="http://schemas.openxmlformats.org/drawingml/2006/main">
            <a:r>
              <a:t>- data/integrated/feature_importance.parquet</a:t>
            </a:r>
          </a:p>
          <a:p xmlns:a="http://schemas.openxmlformats.org/drawingml/2006/main">
            <a:r>
              <a:t>- data/integrated/win_probability.parquet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Preprocessing is fit on the earlier 80% training window and evaluated on the later 20% holdout. The final model scores active opportunities only after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data/integrated/budget_scenarios.parquet</a:t>
            </a:r>
          </a:p>
          <a:p xmlns:a="http://schemas.openxmlformats.org/drawingml/2006/main">
            <a:r>
              <a:t>- outputs/analysis/budget_recommendation.xlsx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All scenarios preserve total tracked spend. No historical ROI is extrapolated because only two paid channels have spend and outcome evidence is insufficient.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data/integrated/data_quality_summary.parquet</a:t>
            </a:r>
          </a:p>
          <a:p xmlns:a="http://schemas.openxmlformats.org/drawingml/2006/main">
            <a:r>
              <a:t>- data/integrated/account_coverage_summary.parquet</a:t>
            </a:r>
          </a:p>
          <a:p xmlns:a="http://schemas.openxmlformats.org/drawingml/2006/main">
            <a:r>
              <a:t>- data/integrated/budget_scenarios.parquet</a:t>
            </a:r>
          </a:p>
          <a:p xmlns:a="http://schemas.openxmlformats.org/drawingml/2006/main">
            <a:r>
              <a:t>- data/integrated/model_stats.parquet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[Methodology]</a:t>
            </a:r>
          </a:p>
          <a:p xmlns:a="http://schemas.openxmlformats.org/drawingml/2006/main">
            <a:r>
              <a:t>The operating plan converts current limitations into explicit remediation, experiment, and scale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9c675f747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f1c464a2164e61" /><Relationship Type="http://schemas.openxmlformats.org/officeDocument/2006/relationships/slideLayout" Target="/ppt/slideLayouts/slideLayout1.xml" Id="R6cff68ce75ce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f68ce75ce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8d74173c84412" /><Relationship Type="http://schemas.openxmlformats.org/officeDocument/2006/relationships/notesSlide" Target="/ppt/notesSlides/notesSlide1.xml" Id="R99f49840cb5046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1d900524d4da9" /><Relationship Type="http://schemas.openxmlformats.org/officeDocument/2006/relationships/notesSlide" Target="/ppt/notesSlides/notesSlide2.xml" Id="Rba9c277f1464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9c71a25d94a86" /><Relationship Type="http://schemas.openxmlformats.org/officeDocument/2006/relationships/notesSlide" Target="/ppt/notesSlides/notesSlide3.xml" Id="Rbe45325b0ac841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969e1ce30487e" /><Relationship Type="http://schemas.openxmlformats.org/officeDocument/2006/relationships/chart" Target="/ppt/slides/charts/chart1.xml" Id="R32981635c28a4ecd" /><Relationship Type="http://schemas.openxmlformats.org/officeDocument/2006/relationships/notesSlide" Target="/ppt/notesSlides/notesSlide4.xml" Id="R68e7e70ca2b943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96b24afdf4028" /><Relationship Type="http://schemas.openxmlformats.org/officeDocument/2006/relationships/chart" Target="/ppt/slides/charts/chart2.xml" Id="R3d28be5067304e55" /><Relationship Type="http://schemas.openxmlformats.org/officeDocument/2006/relationships/notesSlide" Target="/ppt/notesSlides/notesSlide5.xml" Id="Rbcb51945d6784c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420eba8fe48ed" /><Relationship Type="http://schemas.openxmlformats.org/officeDocument/2006/relationships/chart" Target="/ppt/slides/charts/chart3.xml" Id="Rd4edc32367ac4ef8" /><Relationship Type="http://schemas.openxmlformats.org/officeDocument/2006/relationships/notesSlide" Target="/ppt/notesSlides/notesSlide6.xml" Id="Rd39a1325215740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95cd085744f14" /><Relationship Type="http://schemas.openxmlformats.org/officeDocument/2006/relationships/chart" Target="/ppt/slides/charts/chart4.xml" Id="R80cd81c475d24eae" /><Relationship Type="http://schemas.openxmlformats.org/officeDocument/2006/relationships/notesSlide" Target="/ppt/notesSlides/notesSlide7.xml" Id="R2a00d3ebcf0245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502459b9946bc" /><Relationship Type="http://schemas.openxmlformats.org/officeDocument/2006/relationships/chart" Target="/ppt/slides/charts/chart5.xml" Id="R58c5f5533551446b" /><Relationship Type="http://schemas.openxmlformats.org/officeDocument/2006/relationships/notesSlide" Target="/ppt/notesSlides/notesSlide8.xml" Id="R87e1712c613d4f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af194f16a4836" /><Relationship Type="http://schemas.openxmlformats.org/officeDocument/2006/relationships/chart" Target="/ppt/slides/charts/chart6.xml" Id="R4bf9579fd61f4599" /><Relationship Type="http://schemas.openxmlformats.org/officeDocument/2006/relationships/notesSlide" Target="/ppt/notesSlides/notesSlide9.xml" Id="R110c3af7599d4a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d6909ebe84780" /><Relationship Type="http://schemas.openxmlformats.org/officeDocument/2006/relationships/chart" Target="/ppt/slides/charts/chart7.xml" Id="Rc3f659c50e7b4ff9" /><Relationship Type="http://schemas.openxmlformats.org/officeDocument/2006/relationships/notesSlide" Target="/ppt/notesSlides/notesSlide10.xml" Id="R375635d04b2149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9bdccb8554e86" /><Relationship Type="http://schemas.openxmlformats.org/officeDocument/2006/relationships/chart" Target="/ppt/slides/charts/chart8.xml" Id="R9beaa9301ac249f9" /><Relationship Type="http://schemas.openxmlformats.org/officeDocument/2006/relationships/notesSlide" Target="/ppt/notesSlides/notesSlide11.xml" Id="Rd8ddb6ad56a646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498b8e68d43e2" /><Relationship Type="http://schemas.openxmlformats.org/officeDocument/2006/relationships/notesSlide" Target="/ppt/notesSlides/notesSlide12.xml" Id="R6c4dfa67ca3244b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Closed win rate</c:v>
          </c:tx>
          <c:spPr>
            <a:ln xmlns:a="http://schemas.openxmlformats.org/drawingml/2006/main" w="28575">
              <a:solidFill>
                <a:srgbClr val="1E40A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E40AF"/>
              </a:solidFill>
            </c:spPr>
          </c:marker>
          <c:cat>
            <c:strLit>
              <c:ptCount val="10"/>
              <c:pt idx="0">
                <c:v>2022Q1</c:v>
              </c:pt>
              <c:pt idx="1">
                <c:v>2022Q2</c:v>
              </c:pt>
              <c:pt idx="2">
                <c:v>2022Q3</c:v>
              </c:pt>
              <c:pt idx="3">
                <c:v>2022Q4</c:v>
              </c:pt>
              <c:pt idx="4">
                <c:v>2023Q1</c:v>
              </c:pt>
              <c:pt idx="5">
                <c:v>2023Q2</c:v>
              </c:pt>
              <c:pt idx="6">
                <c:v>2023Q3</c:v>
              </c:pt>
              <c:pt idx="7">
                <c:v>2023Q4</c:v>
              </c:pt>
              <c:pt idx="8">
                <c:v>2024Q1</c:v>
              </c:pt>
              <c:pt idx="9">
                <c:v>2024Q2</c:v>
              </c:pt>
            </c:strLit>
          </c:cat>
          <c:val>
            <c:numLit>
              <c:formatCode>0.0"%"</c:formatCode>
              <c:ptCount val="10"/>
              <c:pt idx="0">
                <c:v>37.6</c:v>
              </c:pt>
              <c:pt idx="1">
                <c:v>38.1</c:v>
              </c:pt>
              <c:pt idx="2">
                <c:v>36.6</c:v>
              </c:pt>
              <c:pt idx="3">
                <c:v>44.4</c:v>
              </c:pt>
              <c:pt idx="4">
                <c:v>30.3</c:v>
              </c:pt>
              <c:pt idx="5">
                <c:v>31.9</c:v>
              </c:pt>
              <c:pt idx="6">
                <c:v>33.1</c:v>
              </c:pt>
              <c:pt idx="7">
                <c:v>28.1</c:v>
              </c:pt>
              <c:pt idx="8">
                <c:v>23</c:v>
              </c:pt>
              <c:pt idx="9">
                <c:v>21.9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2233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B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Pipeline ($M)</c:v>
          </c:tx>
          <c:spPr>
            <a:solidFill xmlns:a="http://schemas.openxmlformats.org/drawingml/2006/main">
              <a:srgbClr val="1E40A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B45309"/>
              </a:solidFill>
            </c:spPr>
          </c:dPt>
          <c:cat>
            <c:strLit>
              <c:ptCount val="2"/>
              <c:pt idx="0">
                <c:v>CRM sourced</c:v>
              </c:pt>
              <c:pt idx="1">
                <c:v>Linked influenced</c:v>
              </c:pt>
            </c:strLit>
          </c:cat>
          <c:val>
            <c:numLit>
              <c:formatCode>$0.0"M"</c:formatCode>
              <c:ptCount val="2"/>
              <c:pt idx="0">
                <c:v>4.2</c:v>
              </c:pt>
              <c:pt idx="1">
                <c:v>6.34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2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B"/>
              </a:solidFill>
              <a:prstDash val="solid"/>
            </a:ln>
          </c:spPr>
        </c:majorGridlines>
        <c:numFmt formatCode="$0.0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First-Touch</c:v>
          </c:tx>
          <c:spPr>
            <a:solidFill xmlns:a="http://schemas.openxmlformats.org/drawingml/2006/main">
              <a:srgbClr val="1E40AF"/>
            </a:solidFill>
          </c:spPr>
          <c:cat>
            <c:strLit>
              <c:ptCount val="2"/>
              <c:pt idx="0">
                <c:v>Email</c:v>
              </c:pt>
              <c:pt idx="1">
                <c:v>6sense display</c:v>
              </c:pt>
            </c:strLit>
          </c:cat>
          <c:val>
            <c:numLit>
              <c:formatCode>$0.0"M"</c:formatCode>
              <c:ptCount val="2"/>
              <c:pt idx="0">
                <c:v>4.06</c:v>
              </c:pt>
              <c:pt idx="1">
                <c:v>2.29</c:v>
              </c:pt>
            </c:numLit>
          </c:val>
        </c:ser>
        <c:ser>
          <c:idx val="1"/>
          <c:order val="1"/>
          <c:tx>
            <c:v>Last-Touch</c:v>
          </c:tx>
          <c:spPr>
            <a:solidFill xmlns:a="http://schemas.openxmlformats.org/drawingml/2006/main">
              <a:srgbClr val="B45309"/>
            </a:solidFill>
          </c:spPr>
          <c:cat>
            <c:strLit>
              <c:ptCount val="2"/>
              <c:pt idx="0">
                <c:v>Email</c:v>
              </c:pt>
              <c:pt idx="1">
                <c:v>6sense display</c:v>
              </c:pt>
            </c:strLit>
          </c:cat>
          <c:val>
            <c:numLit>
              <c:formatCode>$0.0"M"</c:formatCode>
              <c:ptCount val="2"/>
              <c:pt idx="0">
                <c:v>3.11</c:v>
              </c:pt>
              <c:pt idx="1">
                <c:v>3.23</c:v>
              </c:pt>
            </c:numLit>
          </c:val>
        </c:ser>
        <c:ser>
          <c:idx val="2"/>
          <c:order val="2"/>
          <c:tx>
            <c:v>Time-Decay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Email</c:v>
              </c:pt>
              <c:pt idx="1">
                <c:v>6sense display</c:v>
              </c:pt>
            </c:strLit>
          </c:cat>
          <c:val>
            <c:numLit>
              <c:formatCode>$0.0"M"</c:formatCode>
              <c:ptCount val="2"/>
              <c:pt idx="0">
                <c:v>3.03</c:v>
              </c:pt>
              <c:pt idx="1">
                <c:v>3.31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2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B"/>
              </a:solidFill>
              <a:prstDash val="solid"/>
            </a:ln>
          </c:spPr>
        </c:majorGridlines>
        <c:numFmt formatCode="$0.0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4748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Accounts</c:v>
          </c:tx>
          <c:spPr>
            <a:solidFill xmlns:a="http://schemas.openxmlformats.org/drawingml/2006/main">
              <a:srgbClr val="1E40A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45309"/>
              </a:solidFill>
            </c:spPr>
          </c:dPt>
          <c:cat>
            <c:strLit>
              <c:ptCount val="4"/>
              <c:pt idx="0">
                <c:v>Not Reached</c:v>
              </c:pt>
              <c:pt idx="1">
                <c:v>Email Only</c:v>
              </c:pt>
              <c:pt idx="2">
                <c:v>Both Channels</c:v>
              </c:pt>
              <c:pt idx="3">
                <c:v>6sense Only</c:v>
              </c:pt>
            </c:strLit>
          </c:cat>
          <c:val>
            <c:numLit>
              <c:formatCode>General</c:formatCode>
              <c:ptCount val="4"/>
              <c:pt idx="0">
                <c:v>3256</c:v>
              </c:pt>
              <c:pt idx="1">
                <c:v>732</c:v>
              </c:pt>
              <c:pt idx="2">
                <c:v>526</c:v>
              </c:pt>
              <c:pt idx="3">
                <c:v>283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2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Events</c:v>
          </c:tx>
          <c:spPr>
            <a:solidFill xmlns:a="http://schemas.openxmlformats.org/drawingml/2006/main">
              <a:srgbClr val="1E40AF"/>
            </a:solidFill>
          </c:spPr>
          <c:dPt>
            <c:idx val="1"/>
            <c:spPr>
              <a:solidFill xmlns:a="http://schemas.openxmlformats.org/drawingml/2006/main">
                <a:srgbClr val="B45309"/>
              </a:solidFill>
            </c:spPr>
          </c:dPt>
          <c:dPt>
            <c:idx val="2"/>
            <c:spPr>
              <a:solidFill xmlns:a="http://schemas.openxmlformats.org/drawingml/2006/main">
                <a:srgbClr val="0F766E"/>
              </a:solidFill>
            </c:spPr>
          </c:dPt>
          <c:cat>
            <c:strLit>
              <c:ptCount val="3"/>
              <c:pt idx="0">
                <c:v>Open events</c:v>
              </c:pt>
              <c:pt idx="1">
                <c:v>Click events</c:v>
              </c:pt>
              <c:pt idx="2">
                <c:v>Registration events</c:v>
              </c:pt>
            </c:strLit>
          </c:cat>
          <c:val>
            <c:numLit>
              <c:formatCode>General</c:formatCode>
              <c:ptCount val="3"/>
              <c:pt idx="0">
                <c:v>16217</c:v>
              </c:pt>
              <c:pt idx="1">
                <c:v>766</c:v>
              </c:pt>
              <c:pt idx="2">
                <c:v>147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233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FFFFF"/>
        </a:solidFill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4748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CTR</c:v>
          </c:tx>
          <c:spPr>
            <a:solidFill xmlns:a="http://schemas.openxmlformats.org/drawingml/2006/main">
              <a:srgbClr val="1E40A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B82F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45309"/>
              </a:solidFill>
            </c:spPr>
          </c:dPt>
          <c:cat>
            <c:strLit>
              <c:ptCount val="2"/>
              <c:pt idx="0">
                <c:v>LinkedIn</c:v>
              </c:pt>
              <c:pt idx="1">
                <c:v>6sense</c:v>
              </c:pt>
            </c:strLit>
          </c:cat>
          <c:val>
            <c:numLit>
              <c:formatCode>0.000"%"</c:formatCode>
              <c:ptCount val="2"/>
              <c:pt idx="0">
                <c:v>2.211</c:v>
              </c:pt>
              <c:pt idx="1">
                <c:v>0.043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2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B"/>
              </a:solidFill>
              <a:prstDash val="solid"/>
            </a:ln>
          </c:spPr>
        </c:majorGridlines>
        <c:numFmt formatCode="0.0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Importance</c:v>
          </c:tx>
          <c:spPr>
            <a:solidFill xmlns:a="http://schemas.openxmlformats.org/drawingml/2006/main">
              <a:srgbClr val="1E40AF"/>
            </a:solidFill>
          </c:spPr>
          <c:cat>
            <c:strLit>
              <c:ptCount val="5"/>
              <c:pt idx="0">
                <c:v>Create quarter</c:v>
              </c:pt>
              <c:pt idx="1">
                <c:v>CRM market segment</c:v>
              </c:pt>
              <c:pt idx="2">
                <c:v>Create year</c:v>
              </c:pt>
              <c:pt idx="3">
                <c:v>Recorded amount</c:v>
              </c:pt>
              <c:pt idx="4">
                <c:v>Channel category</c:v>
              </c:pt>
            </c:strLit>
          </c:cat>
          <c:val>
            <c:numLit>
              <c:formatCode>0.0"%"</c:formatCode>
              <c:ptCount val="5"/>
              <c:pt idx="0">
                <c:v>3.8</c:v>
              </c:pt>
              <c:pt idx="1">
                <c:v>10.5</c:v>
              </c:pt>
              <c:pt idx="2">
                <c:v>14.2</c:v>
              </c:pt>
              <c:pt idx="3">
                <c:v>20.5</c:v>
              </c:pt>
              <c:pt idx="4">
                <c:v>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2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B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Activated media</c:v>
          </c:tx>
          <c:spPr>
            <a:solidFill xmlns:a="http://schemas.openxmlformats.org/drawingml/2006/main">
              <a:srgbClr val="1E40AF"/>
            </a:solidFill>
          </c:spPr>
          <c:cat>
            <c:strLit>
              <c:ptCount val="3"/>
              <c:pt idx="0">
                <c:v>Status Quo</c:v>
              </c:pt>
              <c:pt idx="1">
                <c:v>10% Holdout</c:v>
              </c:pt>
              <c:pt idx="2">
                <c:v>Measurement First</c:v>
              </c:pt>
            </c:strLit>
          </c:cat>
          <c:val>
            <c:numLit>
              <c:formatCode>$0.0"M"</c:formatCode>
              <c:ptCount val="3"/>
              <c:pt idx="0">
                <c:v>1.221</c:v>
              </c:pt>
              <c:pt idx="1">
                <c:v>1.099</c:v>
              </c:pt>
              <c:pt idx="2">
                <c:v>0.977</c:v>
              </c:pt>
            </c:numLit>
          </c:val>
        </c:ser>
        <c:ser>
          <c:idx val="1"/>
          <c:order val="1"/>
          <c:tx>
            <c:v>Holdout reserve</c:v>
          </c:tx>
          <c:spPr>
            <a:solidFill xmlns:a="http://schemas.openxmlformats.org/drawingml/2006/main">
              <a:srgbClr val="B45309"/>
            </a:solidFill>
          </c:spPr>
          <c:cat>
            <c:strLit>
              <c:ptCount val="3"/>
              <c:pt idx="0">
                <c:v>Status Quo</c:v>
              </c:pt>
              <c:pt idx="1">
                <c:v>10% Holdout</c:v>
              </c:pt>
              <c:pt idx="2">
                <c:v>Measurement First</c:v>
              </c:pt>
            </c:strLit>
          </c:cat>
          <c:val>
            <c:numLit>
              <c:formatCode>$0.0"M"</c:formatCode>
              <c:ptCount val="3"/>
              <c:pt idx="0">
                <c:v>0</c:v>
              </c:pt>
              <c:pt idx="1">
                <c:v>0.122</c:v>
              </c:pt>
              <c:pt idx="2">
                <c:v>0.122</c:v>
              </c:pt>
            </c:numLit>
          </c:val>
        </c:ser>
        <c:ser>
          <c:idx val="2"/>
          <c:order val="2"/>
          <c:tx>
            <c:v>Experiment pool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3"/>
              <c:pt idx="0">
                <c:v>Status Quo</c:v>
              </c:pt>
              <c:pt idx="1">
                <c:v>10% Holdout</c:v>
              </c:pt>
              <c:pt idx="2">
                <c:v>Measurement First</c:v>
              </c:pt>
            </c:strLit>
          </c:cat>
          <c:val>
            <c:numLit>
              <c:formatCode>$0.0"M"</c:formatCode>
              <c:ptCount val="3"/>
              <c:pt idx="0">
                <c:v>0</c:v>
              </c:pt>
              <c:pt idx="1">
                <c:v>0</c:v>
              </c:pt>
              <c:pt idx="2">
                <c:v>0.122</c:v>
              </c:pt>
            </c:numLit>
          </c:val>
        </c:ser>
        <c:gapWidth val="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B"/>
              </a:solidFill>
              <a:prstDash val="solid"/>
            </a:ln>
          </c:spPr>
        </c:majorGridlines>
        <c:numFmt formatCode="$0.0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4748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82BFE-5AE6-4F73-8D2A-716FAD73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33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AD934-8C4D-498C-984E-64CABAF2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FD4FF"/>
                </a:solidFill>
              </a:defRPr>
            </a:pPr>
            <a:r>
              <a:rPr sz="900" b="1">
                <a:solidFill>
                  <a:srgbClr val="BFD4FF"/>
                </a:solidFill>
              </a:rPr>
              <a:t>EXECUTIVE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0A18F-2B2F-4289-8418-A70354DD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752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Targeted growth is credible.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Blanket scaling is not—yet.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E3142-373C-4E9B-9B71-37696403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7E7"/>
                </a:solidFill>
              </a:defRPr>
            </a:pPr>
            <a:r>
              <a:rPr sz="1500" b="0">
                <a:solidFill>
                  <a:srgbClr val="CBD7E7"/>
                </a:solidFill>
              </a:rPr>
              <a:t>The opportunity is large, but measurement coverage and CRM completeness must improve before budget claims become decision-grade.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5479-9D99-43A9-9DAE-AA4EB24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B95A1-B87F-45AF-BAF6-DF98DEE6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$25.0M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3C0FF-778E-4950-8AE2-2EB1765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Recorded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6ED78-09F2-4E51-8F43-ECAA8A25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3,288 deduplicated opportunities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252F1-ADB1-4D3A-8DCA-37181C3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00500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759C9-7385-4ABA-8159-7C5C7AF0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243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$5.4M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74D64-887E-400C-A4F6-154E4851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52437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Recorded won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031D5-5694-4576-8BE0-9293340C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4345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37.8% closed-deal win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85679-950D-457C-AFC1-1639CE69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9B39A-DAD0-484B-8268-5EC1D279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243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447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D41F6-2CA2-4412-8712-93BDED3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2437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Active opportunities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DC006-86DF-48CE-9291-671707C9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4345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Scored only after leakage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A17D0-E277-46E3-B14C-DA75355C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00500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DC51F-1AAD-4EDC-B551-5BB11F98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243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67.9%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76C60-E685-4CF1-AB51-DA583FF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24375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Target accounts unreached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94726-4BC7-472C-A56F-E37B3C7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743450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Largest testable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D4562-AC1F-40F6-98B9-BC9EDC86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4FF"/>
                </a:solidFill>
              </a:defRPr>
            </a:pPr>
            <a:r>
              <a:rPr sz="975" b="1">
                <a:solidFill>
                  <a:srgbClr val="BFD4FF"/>
                </a:solidFill>
              </a:rPr>
              <a:t>Recommendation  /  protect quality • expand strong-fit coverage • reserve spend for causal measurement</a:t>
            </a:r>
          </a:p>
        </p:txBody>
      </p:sp>
    </p:spTree>
    <p:extLst>
      <p:ext uri="{BB962C8B-B14F-4D97-AF65-F5344CB8AC3E}">
        <p14:creationId xmlns:p14="http://schemas.microsoft.com/office/powerpoint/2010/main" val="1113265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ED0E2-6981-4F4C-80E3-CD5D1C28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C8076-8CBD-46ED-937F-484B1D6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The executive answer: scale learning before spend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8AF37-BA35-4465-BA9D-CEA99FCA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Three decisions connect the analysis to an operating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79D61-9774-4F8D-9CD5-1B2E09A9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FAB00-A3A5-4A16-A362-689776E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3718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40598-AD42-46E4-B8A4-974A7C52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3D6DE-FEDD-443F-9C8E-689FA02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1  Protect pipeline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9A3FD-D363-4034-B773-C3BFE0E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9718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Closed-deal win rate moved from 38% in 2022 Q1 to 22% in 2024 Q2 among cohorts at least 80% resolved. Review ICP and qualification before broad acquisition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BEBB5-D8D5-4E34-BDF7-62FC5F7E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52625"/>
            <a:ext cx="33718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83702-4C98-44CC-A3CE-E4DF25C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52625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C93D7-8C08-42AA-A215-A49444AB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050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2  Expand strong-fit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5E142-7F2C-42C6-ABAE-60060207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00300"/>
            <a:ext cx="29718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67.9% of target account domains have no tracked email or 6sense touch. Use that audience for a randomized or phased coverage 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9A999-4461-448F-A9B8-C51BB33A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3718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13658-E2C1-41D9-A47E-DD374791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89C56-5459-427B-97A4-4295B487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050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3  Measure before reallocating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DCBB6-8307-4E6A-99A6-3ECFC032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9718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Only two paid channels have tracked spend; one has a single opportunity and neither has recorded won revenue. Reserve a holdout instead of claiming an optimizer.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F1E44-AE09-4C9B-85A0-318A9C1C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</a:defRPr>
            </a:pPr>
            <a:r>
              <a:rPr sz="975" b="1">
                <a:solidFill>
                  <a:srgbClr val="1E40AF"/>
                </a:solidFill>
              </a:rPr>
              <a:t>Decision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D8F6A-058E-459C-ADF7-D9169846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Scale only after incremental qualified opportunities or pipeline are demonstrated without degrading closed-deal quality.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2F7B9-20C6-4C8B-B5BF-91BEE6C2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BD321-2419-45D6-83F2-1CC93D0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CRM + marketing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D118D-0DD4-449B-8618-D60071DF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8111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14039-65D5-451A-B1A5-A37FC919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11B56-21FD-43AF-8550-35D349E0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Four evidence boundaries change the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D8FFE-C698-4ABF-8ED4-8FFB4A0C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 strong analysis shows what the data cannot support—not only what it can.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5D189-B20D-4807-A114-FB2F8831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4B51A-6D68-477D-99D3-BA16C17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4583E-0E4E-46AA-9807-A8432AA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65.3%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BE702-0F6D-4E13-BFC7-B8411AA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Won opportunities with zero amount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68E70-6906-4ED9-B4FC-15977FB6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Recorded revenue and revenue ROI are understated.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792F9-019B-44B1-82BA-D6D13F20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00250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4AEF-0761-49AE-8C45-C6F81FFE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2407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11.7%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1F52D-655D-4C5F-9EA7-1A56BEF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Won opportunities linked to touches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81993-2967-47E2-97C4-0BD89E38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4320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Influenced attribution describes a linked subset, not every win.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B8056-E476-4CA1-952E-8ABCCD13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41074-F6BB-4D41-9B33-CDC8EA1C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2407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89B1B-3F24-4417-91A6-B8555FA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24125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Paid channels with tracked spend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6C8CF-BAAE-45CB-AA7A-748774A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4320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One has a single opportunity; neither has recorded won revenue.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09A27-F502-4737-BCB2-E1D10B57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00250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0032F-6526-427B-B77B-D6A7994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2407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AB439-4FDE-4CD0-8B97-9217F45D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24125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Delivered-email denominator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D22F3-B166-4B2D-8E30-B884ED4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43200"/>
            <a:ext cx="2181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Open/click rates cannot be calculated from an engagement-event log.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50072-A120-40DC-9162-9517159A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52673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2E3DB-7C92-4CBE-9C3E-B8618581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571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84DBC-1C0B-4411-9508-DDC27565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86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What remains decision-grade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1C641-6E9E-4853-8BB1-08529925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48672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Opportunity counts, recorded pipeline, closed outcomes, source credit, account coverage counts, and time-based model evaluation are reproducible and validated across outputs.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6FCFF5-6653-43E7-BCF4-4AD5BC9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53435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74AD91-C4A4-43FE-8CAD-60C7490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571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E16AF-AD7A-41A3-AB0E-974D3FE0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81400"/>
            <a:ext cx="4943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What remains directional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8EDAB-AED1-4708-9B96-DB0556C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76675"/>
            <a:ext cx="49434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Influence attribution, reached-vs-unreached opportunity rates, email event composition, creative CTR comparisons, and budget scenarios require explicit scope labels or experiments.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8EEC33-08F2-4165-9C24-396B676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41A7D-6A45-4A19-9428-32686F0A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data | Known limitations surfaced before recommendations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51B71-9825-4C62-BF29-690793F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1847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CA26BF-D0E8-41F0-9CE8-E12DEA72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21219-C4F2-44D7-A03D-651C3980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Pipeline growth is outpacing conversion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79057-79FA-45B4-BEBD-FEAE67E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Compare only cohorts with at least 80% of opportunities resolved.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D0784-C8BF-459C-8105-2893F699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5054F-D9F0-4D1B-8992-377220D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7429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D8573-B026-4C75-9FA2-FCC16F45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01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Closed-deal win rate by create quarter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EE9FC-B428-4929-BACB-67A75503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Mature cohorts only • 95% intervals are available in the dashboard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00100" y="2600325"/>
          <a:ext xmlns:a="http://schemas.openxmlformats.org/drawingml/2006/main" cx="70104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981635c28a4ec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BABD1-B16F-417C-AA22-D455CF75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2480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843DD-4C9B-476A-9717-A1936AC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7645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38% → 22%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4E8AD-DCF2-4B91-B997-BC62C24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765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2022 Q1 to 2024 Q2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84BCA-843A-43CF-8062-1D2E42B2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9557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Resolved-outcome denominator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50F4E-ABEE-4456-BF3C-0B2F6A22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32480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58E7E-4749-4059-B956-A1F9799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1470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40AF"/>
                </a:solidFill>
              </a:defRPr>
            </a:pPr>
            <a:r>
              <a:rPr sz="2250" b="1">
                <a:solidFill>
                  <a:srgbClr val="1E40AF"/>
                </a:solidFill>
              </a:rPr>
              <a:t>$3.5M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55BB5-7237-47EE-9FC0-F7A9FEBF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147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Pipeline in 2024 Q2 cohort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88779-D7FD-45CB-BE0A-B65834AD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3382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88% resolved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B83D6-C50A-4CEF-A634-EB5F38FF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29125"/>
            <a:ext cx="32480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D99B6-1197-4F33-AE89-E0D50C97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29125"/>
            <a:ext cx="5715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81D22-213E-4AAC-B7D1-7FA0F466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81525"/>
            <a:ext cx="2847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F5906-FF5C-4B30-A3DC-CC36183D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76800"/>
            <a:ext cx="2847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Audit ICP fit, qualification, and source mix before accelerating broad acquisition. Keep 2024 Q3–Q4 provisional until they mature.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428E3-377B-4953-A659-46AF92E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A9660-1071-4F96-BB86-3309B1B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CRM + marketing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590CA-472E-4F40-9A73-916A5CF7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826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67EFE-CED0-4A32-A8D9-7BD26411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72748-AF6E-491E-8CF5-8D555C6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Source credit and linked influence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D78A4-10A9-4446-AE44-5ED901E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Report both, but never present influenced attribution as full-population or causal credit.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66FCE-FC90-41AE-A5C4-E68E1A2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41D75-52D8-4690-8F06-E0C4F594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47E6A-C8C2-45BF-BF00-4D5ADD11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624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Recorded pipeline contribution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E6F01-62D3-44CA-ADFE-168C08FC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CRM source vs touchpoint-linked opportunity subset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00100" y="2647950"/>
          <a:ext xmlns:a="http://schemas.openxmlformats.org/drawingml/2006/main" cx="62484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28be5067304e5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313B0-8590-4E31-91EF-D4BE2D3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867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1B232-9143-4D9C-AF32-1F4C968F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695 / 3,288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370E0-C32C-443A-8B4E-C37C305D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Opportunities linked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CA297-B5FA-466F-AE07-55009201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9557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21.1%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F27E3-1AAE-4DE0-8AE3-C4C4DA82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3867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AB13F-AE2B-4A87-BFE7-720F60FB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126 / 1,073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CF835-862B-4EC6-ABE3-BD0F303B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Won opportunities linked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D1C83-8448-44F2-8665-15C0C718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3382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11.7%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B05F3-2E09-43F2-AF7C-3E692EF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3867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37528-BE81-46FC-902A-C27B8DD4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571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0EE2D-C10C-4803-902F-5E0C2BD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81525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0F33C-8010-48F4-A0E3-A839C6E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7680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Influenced pipeline is useful journey context for linked opportunities. CRM sourced remains the conservative contribution 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A4C8E-AF93-475B-99ED-14F0CA9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DED30-7623-414D-9174-DDD3CB00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365-day lookback | one account-channel presence per ISO week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01AF3-EDD0-48B7-B5C6-314750F6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3956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84974-4689-4CA0-86B2-759C3837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28FF5-18A0-41D4-B629-4300F068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Email opens journeys; 6sense appears later in linked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04DAB-AA4E-4F05-86BC-585155B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Descriptive journey role—not proof that either channel caused the outcome.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C5867-652A-482F-8AB7-DF0B45B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0C071-65E1-4204-8D8F-3DF2F36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0962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CCC16-97E9-46B1-8C81-46023249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767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Attribution credit by journey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55E82-294B-41CE-BBA9-783804B2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767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Pipeline in millions • linked opportunities only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00100" y="2647950"/>
          <a:ext xmlns:a="http://schemas.openxmlformats.org/drawingml/2006/main" cx="767715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edc32367ac4ef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73D5A-1E08-4CDE-8163-3F24813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5336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0FB52-2AAB-467A-8CFD-0FBF5DD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571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D9B97-D52C-441A-B756-D1B3D45D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526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Observed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8BA8E-0F73-47C8-A794-EBF2C32B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479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Email receives more first-touch credit. 6sense display receives more last-touch and time-decay credit within the linked subset.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8EDB3-C827-4ADF-BE9D-C109DE9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5336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7F954-3C45-40F1-9CB8-1F6048C1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2EF73-BF64-4F24-BF8C-32293A3D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624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Next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9E375-63AB-42DF-B37A-96DE4214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57675"/>
            <a:ext cx="2133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After email engagement, randomize eligible strong-fit accounts into a 6sense overlay and holdout. Measure meetings, qualified opportunities, pipeline, and closed-deal quality.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68CE9-59A5-491A-8B6C-DCA4673E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CF8CD-31C7-494C-980E-2D8EF3F3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CRM + marketing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CF237-22C4-4A47-A679-EE057B97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5337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67F62-8408-4CBF-8A66-18D3FA94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B3C0B-CA4A-4622-BC4B-ACBBE5B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The largest measurable opportunity is account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F1A8A-7FAA-4904-8A68-E5F71E54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Reached-account opportunity rates are observational and include selection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52C65-6732-485B-8BCC-578F24AD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40B5D-6AC2-4B51-9599-858930D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858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729C7-A02B-4BE9-AA30-CB33FA58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643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Target accounts by tracked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F454C-F662-4F90-8071-8A5BCC25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Counts by normalized company domain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800100" y="2647950"/>
          <a:ext xmlns:a="http://schemas.openxmlformats.org/drawingml/2006/main" cx="643890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d81c475d24ea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01596-4008-416D-9D45-58B0F91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Observed opportunity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40E49-840E-4B6F-A27E-6B04F1FF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Not Reached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EA4C1-E196-4702-B7D4-964E352B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479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B45309"/>
                </a:solidFill>
              </a:defRPr>
            </a:pPr>
            <a:r>
              <a:rPr sz="1725" b="1">
                <a:solidFill>
                  <a:srgbClr val="B45309"/>
                </a:solidFill>
              </a:rPr>
              <a:t>17.5%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C76D-5A78-4D67-A816-C4FCEFE1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3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16%–19% 95% 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53607-9CB3-4615-929D-62DFE845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Email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6BE06-530B-4FC1-AD8C-3CA04B81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33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E40AF"/>
                </a:solidFill>
              </a:defRPr>
            </a:pPr>
            <a:r>
              <a:rPr sz="1725" b="1">
                <a:solidFill>
                  <a:srgbClr val="1E40AF"/>
                </a:solidFill>
              </a:rPr>
              <a:t>45.9%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9FD1C-1CA4-419D-97B0-AC307028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19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42%–50% 95% CI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99F53-70B0-4E06-8423-0B545C8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Both 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C1E45-8E92-4F6C-B226-E2EA665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9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E40AF"/>
                </a:solidFill>
              </a:defRPr>
            </a:pPr>
            <a:r>
              <a:rPr sz="1725" b="1">
                <a:solidFill>
                  <a:srgbClr val="1E40AF"/>
                </a:solidFill>
              </a:rPr>
              <a:t>42.6%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A7864-A52A-4DB9-9669-B998C44E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05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38%–47% 95%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7F484-3790-4D8F-BA61-66033E3E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6sense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F6EFD-C17E-4D31-87F6-A8D522AE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053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E40AF"/>
                </a:solidFill>
              </a:defRPr>
            </a:pPr>
            <a:r>
              <a:rPr sz="1725" b="1">
                <a:solidFill>
                  <a:srgbClr val="1E40AF"/>
                </a:solidFill>
              </a:rPr>
              <a:t>28.6%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9E689-27CD-47B8-98C7-91EAABEA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910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24%–34% 95% 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E9D85-D7FB-4301-882B-2BA2D421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17D74-D33B-4FCC-B131-7BA1F44F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571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3DC11-DECA-4D8B-8B22-9E28F428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9115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Test, do not infer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404F3-43E9-4FF3-81D0-5A17802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86425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Randomize strong-fit unreached accounts; use opportunity creation as the primary outcome.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F38BC-E1E7-411C-835F-8D47AF5F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1D475-EADB-4E44-A7DB-D70D3D4C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CRM + marketing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9F36D-C97C-4807-831B-D2284310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9608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66E4D-AE42-4F19-937D-752BDE9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923E2-0AE8-49F0-AFE2-AE895C9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Email data measures event composition—not campaign 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18DB9-AB19-46DB-B6C8-E32E58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The supplied file contains engagement events, without sent or delivered counts.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EEE4B-1B7A-49E2-AEF8-3C42BF2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B278-84D5-4434-B191-B44FE683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5722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C3C87-25EB-4259-AA69-5F875435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615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Recorded engagement-event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CC821-24AB-491D-9A6E-83B4A0BD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615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17,130 event rows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00100" y="2647950"/>
          <a:ext xmlns:a="http://schemas.openxmlformats.org/drawingml/2006/main" cx="615315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c5f5533551446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E0481-C373-4F70-9E36-12AD0FEC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962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D4291-B72A-4C46-8B4B-E461CF68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40AF"/>
                </a:solidFill>
              </a:defRPr>
            </a:pPr>
            <a:r>
              <a:rPr sz="2250" b="1">
                <a:solidFill>
                  <a:srgbClr val="1E40AF"/>
                </a:solidFill>
              </a:rPr>
              <a:t>5,576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C8B52-A4DF-4DBF-85EE-A77EE59B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Unique engaged email addresses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842F6-994A-4FF7-8753-170D22C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9557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Deduplicated within the engagement 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F3E33-B96E-4445-80C2-4092BB8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3962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65E11-B810-4BDF-9BD7-57CF400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4.5%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FD8EA-421E-495D-B8E9-9F4786CF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Click-event share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5B3E9-DAC2-441B-9299-AA8957F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3382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Clicks / all recorded engagement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4F745-2944-4811-B438-C99562A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9624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4FE18-8103-465E-AFA4-11A6B756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5715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D5B8E-F148-4800-91E3-EE87381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81525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Measurement requirement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09A56-3EAB-4151-95C8-A8B7CB91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562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Acquire sent, delivered, unique-open, unique-click, bounce, and unsubscribe denominators before publishing campaign reach, open rate, or CTR.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A0541-DF7F-4312-98C4-D2B7E30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D9823-A4E8-4F4F-AA24-F34F73C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No send-based open or click rate is claimed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96B98-85CC-4955-9CAF-A9DE057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9764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8A246-95D1-45A7-9F6D-4112F09C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1ACE3-E06D-4B38-B079-9D79F5F4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Creative efficiency must be compared within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9DD85-89C9-4D57-A77C-16CE643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Delivery mechanics and baseline CTR differ between LinkedIn and 6sense.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B4D89-AD81-4E8D-8A41-29E6BD42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0DDC0-5FE5-40F1-A0F8-D536F9E9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0A33C-A59A-444E-8A8D-A1315DF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Weighted platform CTR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58C05-3149-4B6E-8044-5C9D6A3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681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Clicks / impressions across supplied creative rows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00100" y="2647950"/>
          <a:ext xmlns:a="http://schemas.openxmlformats.org/drawingml/2006/main" cx="681990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f9579fd61f459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BF426-09FB-46AC-9B51-BDBC2C27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385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75B57-1F6F-4799-A256-80DE49CC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571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ADD85-B422-4300-9825-110963E9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05025"/>
            <a:ext cx="3038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Use for optimization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25B69-1901-4874-B3CC-EE063816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0030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Rank ads within each platform, require minimum impression volume, and evaluate downstream account engagement before scaling.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10738-BE50-49C2-88F5-E5788DD1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34385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D0470-2389-4E11-BEA6-6A24EFA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5715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A19FE-6EB1-4AF7-B621-9DC46A15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10025"/>
            <a:ext cx="3038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Metadata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FEE03-5FF1-4CD7-A58D-F74D757A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05300"/>
            <a:ext cx="3038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Most 6sense delivery is labeled with unknown copy tone and asset metadata. Backfill taxonomy before claiming that a creative attribute drives performance.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0354A-8960-4D9C-97F2-8148E0E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41939-0B06-4A38-AAB9-D7989B4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CRM + marketing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70C92-B607-4095-A3C2-61B072B9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0039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6EFCB7-1BFE-4714-A637-DEA88709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78B43-E92A-419F-8CD3-6AF3B57E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The model is a useful baseline—not an automated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EC4C0-3ED8-4191-A3BF-851D6793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Time-based evaluation and feature-policy controls replace the prior lookahead-prone specification.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863C9-B03F-4A9F-B06D-C3D6893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C04AA-882A-42A3-A677-7CF5127D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11115-2DA0-42EF-8CE7-740D613E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40AF"/>
                </a:solidFill>
              </a:defRPr>
            </a:pPr>
            <a:r>
              <a:rPr sz="2250" b="1">
                <a:solidFill>
                  <a:srgbClr val="1E40AF"/>
                </a:solidFill>
              </a:rPr>
              <a:t>0.712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FD658-A874-4D93-920A-B3A26A3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ROC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61C59-E7BB-4637-8F1C-46717FC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Time-based 80/20 holdout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7AE0A-95A8-47FB-95CA-D9AE513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5262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DF786-DD5C-4961-B398-CF29307A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76450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61.0%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9AF5E-02E6-4F7D-A208-F834EEBA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7650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1AF93-B1D6-4A39-A40F-3AC15AF1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955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At the default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D5B2B-0A36-416A-BAEF-D462FF5B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DA7BF-7CFE-42DD-9939-E72540B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44.4%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0343E-A3B1-4E7A-90DD-34150F4B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96AE6-5EE8-4CC3-B0E9-2D64EF10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955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At the default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9D97C-100C-4E4B-880D-19C7BDFE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5262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112FA-5B0C-47FF-88E5-CA9232AF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76450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0.182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80767-DF5D-4B3B-B4DD-D590EDEB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Brier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B7215-3C68-46FE-858B-857D773F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95575"/>
            <a:ext cx="2085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447 active opportunities scored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617CD-8F7D-4085-A72B-924F9F67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7239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B647C-1A4F-41CC-99D6-1405ABF8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Opportunity-time feature importance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7163C-15C4-41B5-97D8-E04B834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81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Aggregated Random Forest importance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800100" y="4029075"/>
          <a:ext xmlns:a="http://schemas.openxmlformats.org/drawingml/2006/main" cx="6819900" cy="1743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f659c50e7b4ff9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891C4-DF00-40DD-B127-0E007ABA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34385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B33B4-0E31-4BE9-B8FF-1EABDB2E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57150" cy="2619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71A53-B1F2-4D90-80F7-68F33A07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86150"/>
            <a:ext cx="3038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Leakage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AE4BF-0556-4006-B20D-E3E84B99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781425"/>
            <a:ext cx="30384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Uses channel, CRM market segment, recorded amount, and create-date features. Excludes current stage, present-day intent, account snapshots, and contact counts. Pilot probability bands with sales before setting a cutoff.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C59D1-3378-45B5-B96D-6F7F874B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31638-50AE-4493-8C14-665E9747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CRM + marketing 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FF544-47BE-43DE-A0B5-EB59F66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9082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4F510-A0DA-43FA-A57C-F4F012D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40AF"/>
                </a:solidFill>
              </a:defRPr>
            </a:pPr>
            <a:r>
              <a:rPr sz="900" b="1">
                <a:solidFill>
                  <a:srgbClr val="1E40AF"/>
                </a:solidFill>
              </a:rPr>
              <a:t>MARKETING ANALYTICS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71848-63D3-4D88-86AF-E00FFC2E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1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33F"/>
                </a:solidFill>
              </a:defRPr>
            </a:pPr>
            <a:r>
              <a:rPr sz="2400" b="1">
                <a:solidFill>
                  <a:srgbClr val="12233F"/>
                </a:solidFill>
              </a:rPr>
              <a:t>Use the budget to create evidence—not a false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4FB21-6F0B-4EEC-9F5E-2002CED5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Every plan preserves the same tracked-spend total.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B39E0-B45F-405B-AC50-4885E25D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46CA4-9DA5-4B16-9D70-0DA66A9E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8105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29F26-DB23-4AD9-8F08-D445347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739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33F"/>
                </a:solidFill>
              </a:defRPr>
            </a:pPr>
            <a:r>
              <a:rPr sz="1275" b="1">
                <a:solidFill>
                  <a:srgbClr val="12233F"/>
                </a:solidFill>
              </a:rPr>
              <a:t>Budget-neutral operating plans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DCEAB-AA87-4035-9A63-71BD2FF0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739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Tracked spend in millions • no pipeline forecast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00100" y="2647950"/>
          <a:ext xmlns:a="http://schemas.openxmlformats.org/drawingml/2006/main" cx="739140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eaa9301ac249f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68322-62E1-4B8D-930C-1115CCEE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7241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818FA-D7D1-47D2-AC48-466A93EE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571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EBFA4-9A2E-4D84-8855-A65D31D3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0502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Recommended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7028D-9C36-4225-8F30-B63E9E6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324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Measurement First: activate 80%, reserve 10% as holdout, and use 10% for a pre-registered experiment pool.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66F9F-0BCD-4EA1-B38C-D0ABBDC2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724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8E1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C72D6-EFA8-4CA3-8AF5-08551F39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5715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8499D-4374-4F93-8DEF-C1F6390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002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Scale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E9CBE-7EDC-4A00-80AA-305F4774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05300"/>
            <a:ext cx="2324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Require incremental qualified opportunities or pipeline, stable closed-deal win rate, and clean spend/outcome reconciliation before expanding.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D7E23-78A1-421E-AC92-4B7B78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2EBDE-188D-4189-9320-8222B1C8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53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Internal CRM + marketing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DA4D5-44A4-4077-AF4F-BA2521A1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233F"/>
                </a:solidFill>
              </a:defRPr>
            </a:pPr>
            <a:r>
              <a:rPr sz="750" b="1">
                <a:solidFill>
                  <a:srgbClr val="12233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50347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1033F-8D07-4830-8017-3313334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33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31FC2-BB8D-4B79-B9AB-DDF2E44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FD4FF"/>
                </a:solidFill>
              </a:defRPr>
            </a:pPr>
            <a:r>
              <a:rPr sz="900" b="1">
                <a:solidFill>
                  <a:srgbClr val="BFD4FF"/>
                </a:solidFill>
              </a:rPr>
              <a:t>30 / 60 / 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EF63B-A215-4964-85AE-12F4191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Turn the analysis into a measurement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A978F-ED28-485C-A076-7B51760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7E7"/>
                </a:solidFill>
              </a:defRPr>
            </a:pPr>
            <a:r>
              <a:rPr sz="1275" b="0">
                <a:solidFill>
                  <a:srgbClr val="CBD7E7"/>
                </a:solidFill>
              </a:rPr>
              <a:t>The goal is not another dashboard refresh. It is a clean decision loop from data quality to experiment to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C3E85-FE63-4746-B12E-C4AD07F2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371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C2E49"/>
          </a:solidFill>
          <a:ln xmlns:a="http://schemas.openxmlformats.org/drawingml/2006/main" w="9525">
            <a:solidFill>
              <a:srgbClr val="3D58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575ED-D6F1-4EA9-9BA9-B1EE929E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715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2F23B-55CE-4B46-8132-9DDED81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30 days  /  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263CC-BE49-4C68-962E-8B494C16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2971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7E7"/>
                </a:solidFill>
              </a:defRPr>
            </a:pPr>
            <a:r>
              <a:rPr sz="975" b="0">
                <a:solidFill>
                  <a:srgbClr val="CBD7E7"/>
                </a:solidFill>
              </a:rPr>
              <a:t>Backfill zero-amount won opportunities. Reconcile 6sense spend sources. Add sent/delivered email denominators. Freeze attribution definitions and owners.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00468-EE8E-493D-B84E-B8A6083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71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C2E49"/>
          </a:solidFill>
          <a:ln xmlns:a="http://schemas.openxmlformats.org/drawingml/2006/main" w="9525">
            <a:solidFill>
              <a:srgbClr val="3D58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B0374-9880-4E10-948D-D90DDB5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5715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F7A07-F10E-4207-9742-AB5ABAEF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479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60 days  / 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25D64-6C9A-41EB-A926-E5FA716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43175"/>
            <a:ext cx="2971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7E7"/>
                </a:solidFill>
              </a:defRPr>
            </a:pPr>
            <a:r>
              <a:rPr sz="975" b="0">
                <a:solidFill>
                  <a:srgbClr val="CBD7E7"/>
                </a:solidFill>
              </a:rPr>
              <a:t>Randomize strong-fit unreached accounts. Test email-first outreach and a 6sense overlay. Pre-register outcomes, windows, exclusions, and stop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D1327-6BE1-4017-B7C2-A9350B31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3718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C2E49"/>
          </a:solidFill>
          <a:ln xmlns:a="http://schemas.openxmlformats.org/drawingml/2006/main" w="9525">
            <a:solidFill>
              <a:srgbClr val="3D58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F3780-A782-4F0B-B603-9869100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5715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A572D-3C69-4F42-9C77-173149F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479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90 days  /  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E3231-2085-455D-A474-7E6898C4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43175"/>
            <a:ext cx="2971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7E7"/>
                </a:solidFill>
              </a:defRPr>
            </a:pPr>
            <a:r>
              <a:rPr sz="975" b="0">
                <a:solidFill>
                  <a:srgbClr val="CBD7E7"/>
                </a:solidFill>
              </a:rPr>
              <a:t>Scale only when incremental qualified pipeline is positive, closed-deal quality holds, and model score bands show stable conversion in production.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FCF2D-3217-432B-AA4D-B9C3F504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4FF"/>
                </a:solidFill>
              </a:defRPr>
            </a:pPr>
            <a:r>
              <a:rPr sz="975" b="1">
                <a:solidFill>
                  <a:srgbClr val="BFD4FF"/>
                </a:solidFill>
              </a:rPr>
              <a:t>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55D95-EBCB-4EAF-9484-E0E179A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CRM completeness  ≥ 95%  •  attribution coverage reported  •  holdout integrity verified  •  closed-win quality protected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F13A9-877E-4EEA-A5D1-5E059933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4FF"/>
                </a:solidFill>
              </a:defRPr>
            </a:pPr>
            <a:r>
              <a:rPr sz="1050" b="1">
                <a:solidFill>
                  <a:srgbClr val="BFD4FF"/>
                </a:solidFill>
              </a:rPr>
              <a:t>Bottom line  /  Targeted, measured growth can win—once the data can distinguish activity from incrementality.</a:t>
            </a:r>
          </a:p>
        </p:txBody>
      </p:sp>
    </p:spTree>
    <p:extLst>
      <p:ext uri="{BB962C8B-B14F-4D97-AF65-F5344CB8AC3E}">
        <p14:creationId xmlns:p14="http://schemas.microsoft.com/office/powerpoint/2010/main" val="235528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2026-08-08T10:30:35.3560000Z</dcterms:created>
  <dcterms:modified xsi:type="dcterms:W3CDTF">2026-08-08T10:30:35.3560000Z</dcterms:modified>
</coreProperties>
</file>