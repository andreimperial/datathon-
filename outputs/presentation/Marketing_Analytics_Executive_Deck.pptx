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7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8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b4d5b42d0b4644" /><Relationship Type="http://schemas.openxmlformats.org/officeDocument/2006/relationships/extended-properties" Target="/docProps/app.xml" Id="R0b0a54948a164099" /><Relationship Type="http://schemas.openxmlformats.org/officeDocument/2006/relationships/officeDocument" Target="/ppt/presentation.xml" Id="R6c0982aad52948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dd4852345941cf"/>
  </p:sldMasterIdLst>
  <p:notesMasterIdLst>
    <p:notesMasterId xmlns:r="http://schemas.openxmlformats.org/officeDocument/2006/relationships" r:id="R1938dac0ade64d2c"/>
  </p:notesMasterIdLst>
  <p:sldIdLst>
    <p:sldId xmlns:r="http://schemas.openxmlformats.org/officeDocument/2006/relationships" id="256" r:id="R405c5c32f60a482d"/>
    <p:sldId xmlns:r="http://schemas.openxmlformats.org/officeDocument/2006/relationships" id="257" r:id="R4c2c3dbd1ef741e0"/>
    <p:sldId xmlns:r="http://schemas.openxmlformats.org/officeDocument/2006/relationships" id="258" r:id="Rd2e8d9ce94e046d1"/>
    <p:sldId xmlns:r="http://schemas.openxmlformats.org/officeDocument/2006/relationships" id="259" r:id="R0e586d2171b747ff"/>
    <p:sldId xmlns:r="http://schemas.openxmlformats.org/officeDocument/2006/relationships" id="260" r:id="Rd5972f9ed4e94050"/>
    <p:sldId xmlns:r="http://schemas.openxmlformats.org/officeDocument/2006/relationships" id="261" r:id="Rab384426d6b447c8"/>
    <p:sldId xmlns:r="http://schemas.openxmlformats.org/officeDocument/2006/relationships" id="262" r:id="Rbac4db78d479494d"/>
    <p:sldId xmlns:r="http://schemas.openxmlformats.org/officeDocument/2006/relationships" id="263" r:id="Rb87edefb930146d9"/>
    <p:sldId xmlns:r="http://schemas.openxmlformats.org/officeDocument/2006/relationships" id="264" r:id="R3038adc8078c4f36"/>
    <p:sldId xmlns:r="http://schemas.openxmlformats.org/officeDocument/2006/relationships" id="265" r:id="R074f94efbc554c0b"/>
    <p:sldId xmlns:r="http://schemas.openxmlformats.org/officeDocument/2006/relationships" id="266" r:id="R4edabfeb85bf4628"/>
    <p:sldId xmlns:r="http://schemas.openxmlformats.org/officeDocument/2006/relationships" id="267" r:id="R93e1fd88672145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562a45ff4e4c54" /><Relationship Type="http://schemas.openxmlformats.org/officeDocument/2006/relationships/slideMaster" Target="/ppt/slideMasters/slideMaster1.xml" Id="R65dd4852345941cf" /><Relationship Type="http://schemas.openxmlformats.org/officeDocument/2006/relationships/notesMaster" Target="/ppt/notesMasters/notesMaster1.xml" Id="R1938dac0ade64d2c" /><Relationship Type="http://schemas.openxmlformats.org/officeDocument/2006/relationships/presProps" Target="/ppt/presProps.xml" Id="Rff3b117d821845bf" /><Relationship Type="http://schemas.openxmlformats.org/officeDocument/2006/relationships/tableStyles" Target="/ppt/tableStyles.xml" Id="Rb652d57aac394e1e" /><Relationship Type="http://schemas.openxmlformats.org/officeDocument/2006/relationships/slide" Target="/ppt/slides/slide1.xml" Id="R405c5c32f60a482d" /><Relationship Type="http://schemas.openxmlformats.org/officeDocument/2006/relationships/slide" Target="/ppt/slides/slide2.xml" Id="R4c2c3dbd1ef741e0" /><Relationship Type="http://schemas.openxmlformats.org/officeDocument/2006/relationships/slide" Target="/ppt/slides/slide3.xml" Id="Rd2e8d9ce94e046d1" /><Relationship Type="http://schemas.openxmlformats.org/officeDocument/2006/relationships/slide" Target="/ppt/slides/slide4.xml" Id="R0e586d2171b747ff" /><Relationship Type="http://schemas.openxmlformats.org/officeDocument/2006/relationships/slide" Target="/ppt/slides/slide5.xml" Id="Rd5972f9ed4e94050" /><Relationship Type="http://schemas.openxmlformats.org/officeDocument/2006/relationships/slide" Target="/ppt/slides/slide6.xml" Id="Rab384426d6b447c8" /><Relationship Type="http://schemas.openxmlformats.org/officeDocument/2006/relationships/slide" Target="/ppt/slides/slide7.xml" Id="Rbac4db78d479494d" /><Relationship Type="http://schemas.openxmlformats.org/officeDocument/2006/relationships/slide" Target="/ppt/slides/slide8.xml" Id="Rb87edefb930146d9" /><Relationship Type="http://schemas.openxmlformats.org/officeDocument/2006/relationships/slide" Target="/ppt/slides/slide9.xml" Id="R3038adc8078c4f36" /><Relationship Type="http://schemas.openxmlformats.org/officeDocument/2006/relationships/slide" Target="/ppt/slides/slide10.xml" Id="R074f94efbc554c0b" /><Relationship Type="http://schemas.openxmlformats.org/officeDocument/2006/relationships/slide" Target="/ppt/slides/slide11.xml" Id="R4edabfeb85bf4628" /><Relationship Type="http://schemas.openxmlformats.org/officeDocument/2006/relationships/slide" Target="/ppt/slides/slide12.xml" Id="R93e1fd88672145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809791ca3342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04501f01f046e3" /><Relationship Type="http://schemas.openxmlformats.org/officeDocument/2006/relationships/notesMaster" Target="/ppt/notesMasters/notesMaster1.xml" Id="R31b37c3858124e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a6de9227be4d24" /><Relationship Type="http://schemas.openxmlformats.org/officeDocument/2006/relationships/notesMaster" Target="/ppt/notesMasters/notesMaster1.xml" Id="Ra8fa68420ee44d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787cd12458471d" /><Relationship Type="http://schemas.openxmlformats.org/officeDocument/2006/relationships/notesMaster" Target="/ppt/notesMasters/notesMaster1.xml" Id="R39f83de0371140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045890c9794c96" /><Relationship Type="http://schemas.openxmlformats.org/officeDocument/2006/relationships/notesMaster" Target="/ppt/notesMasters/notesMaster1.xml" Id="R9aa5bdc14dbb43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441ba72a0c45fb" /><Relationship Type="http://schemas.openxmlformats.org/officeDocument/2006/relationships/notesMaster" Target="/ppt/notesMasters/notesMaster1.xml" Id="R0b90e61797364a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46d79510d5467f" /><Relationship Type="http://schemas.openxmlformats.org/officeDocument/2006/relationships/notesMaster" Target="/ppt/notesMasters/notesMaster1.xml" Id="Rb764c67b28f446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fd4b5cce3b43af" /><Relationship Type="http://schemas.openxmlformats.org/officeDocument/2006/relationships/notesMaster" Target="/ppt/notesMasters/notesMaster1.xml" Id="Rab2db1e6c1834b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c10176558c4b01" /><Relationship Type="http://schemas.openxmlformats.org/officeDocument/2006/relationships/notesMaster" Target="/ppt/notesMasters/notesMaster1.xml" Id="Refd1028bae2747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77a5b012114ee1" /><Relationship Type="http://schemas.openxmlformats.org/officeDocument/2006/relationships/notesMaster" Target="/ppt/notesMasters/notesMaster1.xml" Id="R8f853073440041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c9763da41349a0" /><Relationship Type="http://schemas.openxmlformats.org/officeDocument/2006/relationships/notesMaster" Target="/ppt/notesMasters/notesMaster1.xml" Id="R8c633a0a19064f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efe2907ff94f68" /><Relationship Type="http://schemas.openxmlformats.org/officeDocument/2006/relationships/notesMaster" Target="/ppt/notesMasters/notesMaster1.xml" Id="R07d82f1f2c8f448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f3ce3db15f49bf" /><Relationship Type="http://schemas.openxmlformats.org/officeDocument/2006/relationships/notesMaster" Target="/ppt/notesMasters/notesMaster1.xml" Id="R5cb71caf3c434e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data/cleaned/opportunities.parquet</a:t>
            </a:r>
          </a:p>
          <a:p xmlns:a="http://schemas.openxmlformats.org/drawingml/2006/main">
            <a:r>
              <a:t>- data/integrated/account_coverage_summary.parquet</a:t>
            </a:r>
          </a:p>
          <a:p xmlns:a="http://schemas.openxmlformats.org/drawingml/2006/main">
            <a:r>
              <a:t>- data/integrated/model_stats.parquet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Pipeline and won revenue use recorded CRM amounts. Closed win rate is won divided by resolved outcomes. Active opportunities are excluded from that denominator.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data/integrated/cohort_analysis.parquet</a:t>
            </a:r>
          </a:p>
          <a:p xmlns:a="http://schemas.openxmlformats.org/drawingml/2006/main">
            <a:r>
              <a:t>- data/integrated/account_coverage_summary.parquet</a:t>
            </a:r>
          </a:p>
          <a:p xmlns:a="http://schemas.openxmlformats.org/drawingml/2006/main">
            <a:r>
              <a:t>- data/integrated/budget_scenarios.parquet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The three recommendations separate observed evidence from causal claims. Coverage groups are observational until tested with a holdout.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data/integrated/data_quality_summary.parquet</a:t>
            </a:r>
          </a:p>
          <a:p xmlns:a="http://schemas.openxmlformats.org/drawingml/2006/main">
            <a:r>
              <a:t>- data/integrated/attribution_coverage.parquet</a:t>
            </a:r>
          </a:p>
          <a:p xmlns:a="http://schemas.openxmlformats.org/drawingml/2006/main">
            <a:r>
              <a:t>- outputs/analysis/email_campaign_performance.xlsx</a:t>
            </a:r>
          </a:p>
          <a:p xmlns:a="http://schemas.openxmlformats.org/drawingml/2006/main">
            <a:r>
              <a:t>- data/integrated/budget_scenarios.parquet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Zero-amount won opportunities are counted from deduplicated CRM opportunities. Touch linkage uses a 365-day lookback and one account-channel presence per ISO week.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data/integrated/cohort_analysis.parquet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Win rate equals won divided by resolved outcomes (closed won, closed lost, or discontinued). This slide includes only cohorts with resolved share at or above 80%.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data/integrated/attribution_results.parquet</a:t>
            </a:r>
          </a:p>
          <a:p xmlns:a="http://schemas.openxmlformats.org/drawingml/2006/main">
            <a:r>
              <a:t>- data/integrated/attribution_coverage.parquet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Marketing sourced uses CRM source mapping. Marketing influenced includes opportunities linked to normalized pre-opportunity touches within 365 days. Blank-UTM web sessions are excluded.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data/integrated/attribution_results.parquet</a:t>
            </a:r>
          </a:p>
          <a:p xmlns:a="http://schemas.openxmlformats.org/drawingml/2006/main">
            <a:r>
              <a:t>- data/integrated/attribution_touchpoint_quality.parquet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Touchpoints are normalized to one account-channel presence per ISO week before first-touch, last-touch, linear, and time-decay allocation.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data/integrated/account_coverage_summary.parquet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Coverage tier is based on tracked email and 6sense presence by normalized domain. Wilson intervals describe observed account-level opportunity rates; groups were not randomized.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data/cleaned/email_engagements.parquet</a:t>
            </a:r>
          </a:p>
          <a:p xmlns:a="http://schemas.openxmlformats.org/drawingml/2006/main">
            <a:r>
              <a:t>- outputs/analysis/email_campaign_performance.xlsx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Event shares divide event-type rows by all supplied engagement-event rows. They are not standard email rates and should not be benchmarked against campaign norms.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data/integrated/creative_performance.parquet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Platform CTR is weighted clicks divided by impressions. The dashboard further limits creative ranking to the top five ads within each platform with at least 10,000 impressions.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data/integrated/model_stats.parquet</a:t>
            </a:r>
          </a:p>
          <a:p xmlns:a="http://schemas.openxmlformats.org/drawingml/2006/main">
            <a:r>
              <a:t>- data/integrated/feature_importance.parquet</a:t>
            </a:r>
          </a:p>
          <a:p xmlns:a="http://schemas.openxmlformats.org/drawingml/2006/main">
            <a:r>
              <a:t>- data/integrated/win_probability.parquet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Preprocessing is fit on the earlier 80% training window and evaluated on the later 20% holdout. The final model scores active opportunities only after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data/integrated/budget_scenarios.parquet</a:t>
            </a:r>
          </a:p>
          <a:p xmlns:a="http://schemas.openxmlformats.org/drawingml/2006/main">
            <a:r>
              <a:t>- outputs/analysis/budget_recommendation.xlsx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All scenarios preserve total tracked spend. No historical ROI is extrapolated because only two paid channels have spend and outcome evidence is insufficient.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data/integrated/data_quality_summary.parquet</a:t>
            </a:r>
          </a:p>
          <a:p xmlns:a="http://schemas.openxmlformats.org/drawingml/2006/main">
            <a:r>
              <a:t>- data/integrated/account_coverage_summary.parquet</a:t>
            </a:r>
          </a:p>
          <a:p xmlns:a="http://schemas.openxmlformats.org/drawingml/2006/main">
            <a:r>
              <a:t>- data/integrated/budget_scenarios.parquet</a:t>
            </a:r>
          </a:p>
          <a:p xmlns:a="http://schemas.openxmlformats.org/drawingml/2006/main">
            <a:r>
              <a:t>- data/integrated/model_stats.parquet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[Methodology]</a:t>
            </a:r>
          </a:p>
          <a:p xmlns:a="http://schemas.openxmlformats.org/drawingml/2006/main">
            <a:r>
              <a:t>The operating plan converts current limitations into explicit remediation, experiment, and scale gates.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667070c6b949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643612ce834c9a" /><Relationship Type="http://schemas.openxmlformats.org/officeDocument/2006/relationships/slideLayout" Target="/ppt/slideLayouts/slideLayout1.xml" Id="R4c8d0454ec2044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8d0454ec2044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086872e3342d6" /><Relationship Type="http://schemas.openxmlformats.org/officeDocument/2006/relationships/notesSlide" Target="/ppt/notesSlides/notesSlide1.xml" Id="R1ee56be480e24c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be9cd3e7e41b2" /><Relationship Type="http://schemas.openxmlformats.org/officeDocument/2006/relationships/notesSlide" Target="/ppt/notesSlides/notesSlide2.xml" Id="Re0b53ac2a3814a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a7af531f94fb1" /><Relationship Type="http://schemas.openxmlformats.org/officeDocument/2006/relationships/notesSlide" Target="/ppt/notesSlides/notesSlide3.xml" Id="R8e2be9962c7941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cd7e4d67f4f6b" /><Relationship Type="http://schemas.openxmlformats.org/officeDocument/2006/relationships/chart" Target="/ppt/slides/charts/chart1.xml" Id="R11480aec1d2343f2" /><Relationship Type="http://schemas.openxmlformats.org/officeDocument/2006/relationships/notesSlide" Target="/ppt/notesSlides/notesSlide4.xml" Id="Re73f7d35a0d343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e305f8306492c" /><Relationship Type="http://schemas.openxmlformats.org/officeDocument/2006/relationships/chart" Target="/ppt/slides/charts/chart2.xml" Id="R2c2006a433024eb9" /><Relationship Type="http://schemas.openxmlformats.org/officeDocument/2006/relationships/notesSlide" Target="/ppt/notesSlides/notesSlide5.xml" Id="R4ddd668298b948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4bb275c2a4731" /><Relationship Type="http://schemas.openxmlformats.org/officeDocument/2006/relationships/chart" Target="/ppt/slides/charts/chart3.xml" Id="Recffdeee0cf041a1" /><Relationship Type="http://schemas.openxmlformats.org/officeDocument/2006/relationships/notesSlide" Target="/ppt/notesSlides/notesSlide6.xml" Id="R1151cf59800e42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0c60f119740a5" /><Relationship Type="http://schemas.openxmlformats.org/officeDocument/2006/relationships/chart" Target="/ppt/slides/charts/chart4.xml" Id="R4f31389574814219" /><Relationship Type="http://schemas.openxmlformats.org/officeDocument/2006/relationships/notesSlide" Target="/ppt/notesSlides/notesSlide7.xml" Id="R71c59ca3d7004a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030476e5a4ceb" /><Relationship Type="http://schemas.openxmlformats.org/officeDocument/2006/relationships/chart" Target="/ppt/slides/charts/chart5.xml" Id="R79e7db130c064066" /><Relationship Type="http://schemas.openxmlformats.org/officeDocument/2006/relationships/notesSlide" Target="/ppt/notesSlides/notesSlide8.xml" Id="R46f1cb354d294b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d3e544914451d" /><Relationship Type="http://schemas.openxmlformats.org/officeDocument/2006/relationships/chart" Target="/ppt/slides/charts/chart6.xml" Id="R6e9573e5884b4d78" /><Relationship Type="http://schemas.openxmlformats.org/officeDocument/2006/relationships/notesSlide" Target="/ppt/notesSlides/notesSlide9.xml" Id="Re3d62373533544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a3c71bc184cd4" /><Relationship Type="http://schemas.openxmlformats.org/officeDocument/2006/relationships/chart" Target="/ppt/slides/charts/chart7.xml" Id="Rafd8937be75449f5" /><Relationship Type="http://schemas.openxmlformats.org/officeDocument/2006/relationships/notesSlide" Target="/ppt/notesSlides/notesSlide10.xml" Id="Rad0eb5f8a5434c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8bd9ab9324e77" /><Relationship Type="http://schemas.openxmlformats.org/officeDocument/2006/relationships/chart" Target="/ppt/slides/charts/chart8.xml" Id="Rc122c7fd73bb4f4c" /><Relationship Type="http://schemas.openxmlformats.org/officeDocument/2006/relationships/notesSlide" Target="/ppt/notesSlides/notesSlide11.xml" Id="Rc80a8c51bac2479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c18e35f104de8" /><Relationship Type="http://schemas.openxmlformats.org/officeDocument/2006/relationships/notesSlide" Target="/ppt/notesSlides/notesSlide12.xml" Id="R1dfaec5b49484725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Closed win rate</c:v>
          </c:tx>
          <c:spPr>
            <a:ln xmlns:a="http://schemas.openxmlformats.org/drawingml/2006/main" w="28575">
              <a:solidFill>
                <a:srgbClr val="1E40AF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1E40AF"/>
              </a:solidFill>
            </c:spPr>
          </c:marker>
          <c:cat>
            <c:strLit>
              <c:ptCount val="10"/>
              <c:pt idx="0">
                <c:v>2022Q1</c:v>
              </c:pt>
              <c:pt idx="1">
                <c:v>2022Q2</c:v>
              </c:pt>
              <c:pt idx="2">
                <c:v>2022Q3</c:v>
              </c:pt>
              <c:pt idx="3">
                <c:v>2022Q4</c:v>
              </c:pt>
              <c:pt idx="4">
                <c:v>2023Q1</c:v>
              </c:pt>
              <c:pt idx="5">
                <c:v>2023Q2</c:v>
              </c:pt>
              <c:pt idx="6">
                <c:v>2023Q3</c:v>
              </c:pt>
              <c:pt idx="7">
                <c:v>2023Q4</c:v>
              </c:pt>
              <c:pt idx="8">
                <c:v>2024Q1</c:v>
              </c:pt>
              <c:pt idx="9">
                <c:v>2024Q2</c:v>
              </c:pt>
            </c:strLit>
          </c:cat>
          <c:val>
            <c:numLit>
              <c:formatCode>0.0"%"</c:formatCode>
              <c:ptCount val="10"/>
              <c:pt idx="0">
                <c:v>37.6</c:v>
              </c:pt>
              <c:pt idx="1">
                <c:v>38.1</c:v>
              </c:pt>
              <c:pt idx="2">
                <c:v>36.6</c:v>
              </c:pt>
              <c:pt idx="3">
                <c:v>44.4</c:v>
              </c:pt>
              <c:pt idx="4">
                <c:v>30.3</c:v>
              </c:pt>
              <c:pt idx="5">
                <c:v>31.9</c:v>
              </c:pt>
              <c:pt idx="6">
                <c:v>33.1</c:v>
              </c:pt>
              <c:pt idx="7">
                <c:v>28.1</c:v>
              </c:pt>
              <c:pt idx="8">
                <c:v>23</c:v>
              </c:pt>
              <c:pt idx="9">
                <c:v>21.9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2233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Pipeline ($M)</c:v>
          </c:tx>
          <c:spPr>
            <a:solidFill xmlns:a="http://schemas.openxmlformats.org/drawingml/2006/main">
              <a:srgbClr val="1E40AF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B45309"/>
              </a:solidFill>
            </c:spPr>
          </c:dPt>
          <c:cat>
            <c:strLit>
              <c:ptCount val="2"/>
              <c:pt idx="0">
                <c:v>CRM sourced</c:v>
              </c:pt>
              <c:pt idx="1">
                <c:v>Linked influenced</c:v>
              </c:pt>
            </c:strLit>
          </c:cat>
          <c:val>
            <c:numLit>
              <c:formatCode>$0.0"M"</c:formatCode>
              <c:ptCount val="2"/>
              <c:pt idx="0">
                <c:v>4.2</c:v>
              </c:pt>
              <c:pt idx="1">
                <c:v>6.34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$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72033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First-Touch</c:v>
          </c:tx>
          <c:spPr>
            <a:solidFill xmlns:a="http://schemas.openxmlformats.org/drawingml/2006/main">
              <a:srgbClr val="1E40AF"/>
            </a:solidFill>
          </c:spPr>
          <c:cat>
            <c:strLit>
              <c:ptCount val="2"/>
              <c:pt idx="0">
                <c:v>Email</c:v>
              </c:pt>
              <c:pt idx="1">
                <c:v>6sense display</c:v>
              </c:pt>
            </c:strLit>
          </c:cat>
          <c:val>
            <c:numLit>
              <c:formatCode>$0.0"M"</c:formatCode>
              <c:ptCount val="2"/>
              <c:pt idx="0">
                <c:v>4.06</c:v>
              </c:pt>
              <c:pt idx="1">
                <c:v>2.29</c:v>
              </c:pt>
            </c:numLit>
          </c:val>
        </c:ser>
        <c:ser>
          <c:idx val="1"/>
          <c:order val="1"/>
          <c:tx>
            <c:v>Last-Touch</c:v>
          </c:tx>
          <c:spPr>
            <a:solidFill xmlns:a="http://schemas.openxmlformats.org/drawingml/2006/main">
              <a:srgbClr val="B45309"/>
            </a:solidFill>
          </c:spPr>
          <c:cat>
            <c:strLit>
              <c:ptCount val="2"/>
              <c:pt idx="0">
                <c:v>Email</c:v>
              </c:pt>
              <c:pt idx="1">
                <c:v>6sense display</c:v>
              </c:pt>
            </c:strLit>
          </c:cat>
          <c:val>
            <c:numLit>
              <c:formatCode>$0.0"M"</c:formatCode>
              <c:ptCount val="2"/>
              <c:pt idx="0">
                <c:v>3.11</c:v>
              </c:pt>
              <c:pt idx="1">
                <c:v>3.23</c:v>
              </c:pt>
            </c:numLit>
          </c:val>
        </c:ser>
        <c:ser>
          <c:idx val="2"/>
          <c:order val="2"/>
          <c:tx>
            <c:v>Time-Decay</c:v>
          </c:tx>
          <c:spPr>
            <a:solidFill xmlns:a="http://schemas.openxmlformats.org/drawingml/2006/main">
              <a:srgbClr val="0F766E"/>
            </a:solidFill>
          </c:spPr>
          <c:cat>
            <c:strLit>
              <c:ptCount val="2"/>
              <c:pt idx="0">
                <c:v>Email</c:v>
              </c:pt>
              <c:pt idx="1">
                <c:v>6sense display</c:v>
              </c:pt>
            </c:strLit>
          </c:cat>
          <c:val>
            <c:numLit>
              <c:formatCode>$0.0"M"</c:formatCode>
              <c:ptCount val="2"/>
              <c:pt idx="0">
                <c:v>3.03</c:v>
              </c:pt>
              <c:pt idx="1">
                <c:v>3.31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720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$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4748B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Accounts</c:v>
          </c:tx>
          <c:spPr>
            <a:solidFill xmlns:a="http://schemas.openxmlformats.org/drawingml/2006/main">
              <a:srgbClr val="1E40A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B45309"/>
              </a:solidFill>
            </c:spPr>
          </c:dPt>
          <c:cat>
            <c:strLit>
              <c:ptCount val="4"/>
              <c:pt idx="0">
                <c:v>Not Reached</c:v>
              </c:pt>
              <c:pt idx="1">
                <c:v>Email Only</c:v>
              </c:pt>
              <c:pt idx="2">
                <c:v>Both Channels</c:v>
              </c:pt>
              <c:pt idx="3">
                <c:v>6sense Only</c:v>
              </c:pt>
            </c:strLit>
          </c:cat>
          <c:val>
            <c:numLit>
              <c:formatCode>General</c:formatCode>
              <c:ptCount val="4"/>
              <c:pt idx="0">
                <c:v>3256</c:v>
              </c:pt>
              <c:pt idx="1">
                <c:v>732</c:v>
              </c:pt>
              <c:pt idx="2">
                <c:v>526</c:v>
              </c:pt>
              <c:pt idx="3">
                <c:v>283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72033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5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Events</c:v>
          </c:tx>
          <c:spPr>
            <a:solidFill xmlns:a="http://schemas.openxmlformats.org/drawingml/2006/main">
              <a:srgbClr val="1E40AF"/>
            </a:solidFill>
          </c:spPr>
          <c:dPt>
            <c:idx val="1"/>
            <c:spPr>
              <a:solidFill xmlns:a="http://schemas.openxmlformats.org/drawingml/2006/main">
                <a:srgbClr val="B45309"/>
              </a:solidFill>
            </c:spPr>
          </c:dPt>
          <c:dPt>
            <c:idx val="2"/>
            <c:spPr>
              <a:solidFill xmlns:a="http://schemas.openxmlformats.org/drawingml/2006/main">
                <a:srgbClr val="0F766E"/>
              </a:solidFill>
            </c:spPr>
          </c:dPt>
          <c:cat>
            <c:strLit>
              <c:ptCount val="3"/>
              <c:pt idx="0">
                <c:v>Open events</c:v>
              </c:pt>
              <c:pt idx="1">
                <c:v>Click events</c:v>
              </c:pt>
              <c:pt idx="2">
                <c:v>Registration events</c:v>
              </c:pt>
            </c:strLit>
          </c:cat>
          <c:val>
            <c:numLit>
              <c:formatCode>General</c:formatCode>
              <c:ptCount val="3"/>
              <c:pt idx="0">
                <c:v>16217</c:v>
              </c:pt>
              <c:pt idx="1">
                <c:v>766</c:v>
              </c:pt>
              <c:pt idx="2">
                <c:v>147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2233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270"/>
        <c:holeSize val="62"/>
      </c:doughnutChart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4748B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CTR</c:v>
          </c:tx>
          <c:spPr>
            <a:solidFill xmlns:a="http://schemas.openxmlformats.org/drawingml/2006/main">
              <a:srgbClr val="1E40A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B82F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45309"/>
              </a:solidFill>
            </c:spPr>
          </c:dPt>
          <c:cat>
            <c:strLit>
              <c:ptCount val="2"/>
              <c:pt idx="0">
                <c:v>LinkedIn</c:v>
              </c:pt>
              <c:pt idx="1">
                <c:v>6sense</c:v>
              </c:pt>
            </c:strLit>
          </c:cat>
          <c:val>
            <c:numLit>
              <c:formatCode>0.000"%"</c:formatCode>
              <c:ptCount val="2"/>
              <c:pt idx="0">
                <c:v>2.211</c:v>
              </c:pt>
              <c:pt idx="1">
                <c:v>0.043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0.0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72033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Importance</c:v>
          </c:tx>
          <c:spPr>
            <a:solidFill xmlns:a="http://schemas.openxmlformats.org/drawingml/2006/main">
              <a:srgbClr val="1E40AF"/>
            </a:solidFill>
          </c:spPr>
          <c:cat>
            <c:strLit>
              <c:ptCount val="5"/>
              <c:pt idx="0">
                <c:v>Create quarter</c:v>
              </c:pt>
              <c:pt idx="1">
                <c:v>CRM market segment</c:v>
              </c:pt>
              <c:pt idx="2">
                <c:v>Create year</c:v>
              </c:pt>
              <c:pt idx="3">
                <c:v>Recorded amount</c:v>
              </c:pt>
              <c:pt idx="4">
                <c:v>Channel category</c:v>
              </c:pt>
            </c:strLit>
          </c:cat>
          <c:val>
            <c:numLit>
              <c:formatCode>0.0"%"</c:formatCode>
              <c:ptCount val="5"/>
              <c:pt idx="0">
                <c:v>3.8</c:v>
              </c:pt>
              <c:pt idx="1">
                <c:v>10.5</c:v>
              </c:pt>
              <c:pt idx="2">
                <c:v>14.2</c:v>
              </c:pt>
              <c:pt idx="3">
                <c:v>20.5</c:v>
              </c:pt>
              <c:pt idx="4">
                <c:v>51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2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72033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Activated media</c:v>
          </c:tx>
          <c:spPr>
            <a:solidFill xmlns:a="http://schemas.openxmlformats.org/drawingml/2006/main">
              <a:srgbClr val="1E40AF"/>
            </a:solidFill>
          </c:spPr>
          <c:cat>
            <c:strLit>
              <c:ptCount val="3"/>
              <c:pt idx="0">
                <c:v>Status Quo</c:v>
              </c:pt>
              <c:pt idx="1">
                <c:v>10% Holdout</c:v>
              </c:pt>
              <c:pt idx="2">
                <c:v>Measurement First</c:v>
              </c:pt>
            </c:strLit>
          </c:cat>
          <c:val>
            <c:numLit>
              <c:formatCode>$0.0"M"</c:formatCode>
              <c:ptCount val="3"/>
              <c:pt idx="0">
                <c:v>1.221</c:v>
              </c:pt>
              <c:pt idx="1">
                <c:v>1.099</c:v>
              </c:pt>
              <c:pt idx="2">
                <c:v>0.977</c:v>
              </c:pt>
            </c:numLit>
          </c:val>
        </c:ser>
        <c:ser>
          <c:idx val="1"/>
          <c:order val="1"/>
          <c:tx>
            <c:v>Holdout reserve</c:v>
          </c:tx>
          <c:spPr>
            <a:solidFill xmlns:a="http://schemas.openxmlformats.org/drawingml/2006/main">
              <a:srgbClr val="B45309"/>
            </a:solidFill>
          </c:spPr>
          <c:cat>
            <c:strLit>
              <c:ptCount val="3"/>
              <c:pt idx="0">
                <c:v>Status Quo</c:v>
              </c:pt>
              <c:pt idx="1">
                <c:v>10% Holdout</c:v>
              </c:pt>
              <c:pt idx="2">
                <c:v>Measurement First</c:v>
              </c:pt>
            </c:strLit>
          </c:cat>
          <c:val>
            <c:numLit>
              <c:formatCode>$0.0"M"</c:formatCode>
              <c:ptCount val="3"/>
              <c:pt idx="0">
                <c:v>0</c:v>
              </c:pt>
              <c:pt idx="1">
                <c:v>0.122</c:v>
              </c:pt>
              <c:pt idx="2">
                <c:v>0.122</c:v>
              </c:pt>
            </c:numLit>
          </c:val>
        </c:ser>
        <c:ser>
          <c:idx val="2"/>
          <c:order val="2"/>
          <c:tx>
            <c:v>Experiment pool</c:v>
          </c:tx>
          <c:spPr>
            <a:solidFill xmlns:a="http://schemas.openxmlformats.org/drawingml/2006/main">
              <a:srgbClr val="0F766E"/>
            </a:solidFill>
          </c:spPr>
          <c:cat>
            <c:strLit>
              <c:ptCount val="3"/>
              <c:pt idx="0">
                <c:v>Status Quo</c:v>
              </c:pt>
              <c:pt idx="1">
                <c:v>10% Holdout</c:v>
              </c:pt>
              <c:pt idx="2">
                <c:v>Measurement First</c:v>
              </c:pt>
            </c:strLit>
          </c:cat>
          <c:val>
            <c:numLit>
              <c:formatCode>$0.0"M"</c:formatCode>
              <c:ptCount val="3"/>
              <c:pt idx="0">
                <c:v>0</c:v>
              </c:pt>
              <c:pt idx="1">
                <c:v>0</c:v>
              </c:pt>
              <c:pt idx="2">
                <c:v>0.122</c:v>
              </c:pt>
            </c:numLit>
          </c:val>
        </c:ser>
        <c:gapWidth val="5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1E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720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1EB"/>
              </a:solidFill>
              <a:prstDash val="solid"/>
            </a:ln>
          </c:spPr>
        </c:majorGridlines>
        <c:numFmt formatCode="$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4748B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3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9C4DAB-49A9-4505-B87F-D788AA82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714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339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06748-CBE4-46F3-9E5A-DE4496FF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524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FD4FF"/>
                </a:solidFill>
              </a:defRPr>
            </a:pPr>
            <a:r>
              <a:rPr sz="900" b="1">
                <a:solidFill>
                  <a:srgbClr val="BFD4FF"/>
                </a:solidFill>
              </a:rPr>
              <a:t>EXECUTIVE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BA271-AB74-44A5-A685-0B37967E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0125"/>
            <a:ext cx="7524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Targeted growth is credible.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Blanket scaling is not—yet.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2D5E0-4953-4EE8-A9DF-DB71AC69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62250"/>
            <a:ext cx="7429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7E7"/>
                </a:solidFill>
              </a:defRPr>
            </a:pPr>
            <a:r>
              <a:rPr sz="1500" b="0">
                <a:solidFill>
                  <a:srgbClr val="CBD7E7"/>
                </a:solidFill>
              </a:rPr>
              <a:t>The opportunity is large, but measurement coverage and CRM completeness must improve before budget claims become decision-grade.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19F71E-1B9F-456F-A2B2-1E6DFC56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B900E-50FD-425E-9DBE-FF253407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$25.0M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B70647-D791-4545-B97D-7DC3E3BF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Recorded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66305-2F7D-4F1C-8A07-92FFF67F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3,288 deduplicated opportunities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6C028-DCF7-4681-B597-534AE2DE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000500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7100D-69ED-404F-8F60-59AED3FF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124325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$5.4M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01A80-4282-433C-A906-4945B517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524375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Recorded won revenue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A93C3-16FF-43A1-88C4-4AEFA98D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743450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37.8% closed-deal win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26AF96-6C2F-4CAC-BA63-015AE490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00500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D4AC7A-129D-4CE9-B8A8-8D96E646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124325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447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DEF9FB-DE13-46D5-AF36-0088A6CB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24375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Active opportunities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A1D104-A761-4F00-A9A5-788C145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743450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Scored only after leakage controls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72BA3C-C11E-417D-A460-52E66631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000500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9A4B7B-E32E-4F5F-8384-19851D8A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24325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67.9%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92212A-9DB7-4F0D-9D55-0152C6FF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524375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CRM domains unreached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4CDC29-20DF-4A7F-874B-516D00AE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743450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Largest testable audience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1BA1CD-2D18-4A88-B102-780BD154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FD4FF"/>
                </a:solidFill>
              </a:defRPr>
            </a:pPr>
            <a:r>
              <a:rPr sz="975" b="1">
                <a:solidFill>
                  <a:srgbClr val="BFD4FF"/>
                </a:solidFill>
              </a:rPr>
              <a:t>Recommendation  /  protect quality • expand strong-fit coverage • reserve spend for causal measurement</a:t>
            </a:r>
          </a:p>
        </p:txBody>
      </p:sp>
    </p:spTree>
    <p:extLst>
      <p:ext uri="{BB962C8B-B14F-4D97-AF65-F5344CB8AC3E}">
        <p14:creationId xmlns:p14="http://schemas.microsoft.com/office/powerpoint/2010/main" val="18266355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61438C-F08E-4D9D-8E6C-3D78CCE3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69430-9869-4316-94E7-CA7A9BE8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The executive answer: scale learning before spend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37590-7963-44D2-B942-91D5B57A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Three decisions connect the analysis to an operating plan.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0C989-BBF5-491D-B217-71BCF9E9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C4A41-DFEF-4A21-AB4F-83BEAAF8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33718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268B2-DC69-41BD-9200-22A9C0E7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5715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C35AC-A48A-4022-B68E-3F106369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05025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1  Protect pipeline quality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A1667A-1013-4F38-A904-E1BD3A14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29718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Closed-deal win rate moved from 38% in 2022 Q1 to 22% in 2024 Q2 among cohorts at least 80% resolved. Review ICP and qualification before broad acquisition grows.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82F10-5B4F-4540-9A24-011F535C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952625"/>
            <a:ext cx="33718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63ADA-5C21-49DE-AF61-6B8A14E8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952625"/>
            <a:ext cx="5715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0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35B51-0CDC-4582-BD05-28F9AE20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105025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2  Expand strong-fit coverage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70387B-BB05-4023-8901-4ACD6290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400300"/>
            <a:ext cx="29718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67.9% of CRM account domains have no tracked email or 6sense touch. Use that audience for a randomized or phased coverage test.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30F805-AE29-4DDD-B325-778F665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3718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1F129-AA6B-4A59-9F70-B0AF80F6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5715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1FB580-5840-4DFD-B135-F4699AD5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05025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3  Measure before reallocating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53D0CA-9441-41C6-B432-57F8271B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9718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Only two paid channels have tracked spend; one has a single opportunity and neither has recorded won revenue. Reserve a holdout instead of claiming an optimizer.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EEF1CE-9541-4326-9271-FD891C71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816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E40AF"/>
                </a:solidFill>
              </a:defRPr>
            </a:pPr>
            <a:r>
              <a:rPr sz="975" b="1">
                <a:solidFill>
                  <a:srgbClr val="1E40AF"/>
                </a:solidFill>
              </a:rPr>
              <a:t>Decision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2B614A-10BC-4FB9-87A4-B311446B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86375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233F"/>
                </a:solidFill>
              </a:defRPr>
            </a:pPr>
            <a:r>
              <a:rPr sz="1500" b="1">
                <a:solidFill>
                  <a:srgbClr val="12233F"/>
                </a:solidFill>
              </a:rPr>
              <a:t>Scale only after incremental qualified opportunities or pipeline are demonstrated without degrading closed-deal quality.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617CB4-8CEE-4E7C-B65A-359F680D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4DFC4B-0E9E-4E67-A5CD-B593BF89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D3E678-AC58-477D-B5C6-A55DFCF3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516756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347B42-F5E0-4E6D-8967-FD9714FA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652286-4C68-46B2-91E2-465D41D5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Four evidence boundaries change the 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545DE9-987A-4847-9C15-7EB3CD31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 strong analysis shows what the data cannot support—not only what it can.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3409B-5B0A-49D2-AE20-8EDCAC20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0F4A6-64D2-4004-8E62-CB39ED6B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0E699F-2570-4007-BE08-9622C299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1C1C"/>
                </a:solidFill>
              </a:defRPr>
            </a:pPr>
            <a:r>
              <a:rPr sz="2250" b="1">
                <a:solidFill>
                  <a:srgbClr val="B91C1C"/>
                </a:solidFill>
              </a:rPr>
              <a:t>65.3%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60024-2DDB-42F2-A928-B4726882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21812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Won opportunities with zero amount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981D1-BF76-48B2-AC37-2D0FF386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181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Recorded revenue and revenue ROI are understated.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A6201-4F2B-4021-B279-5613DE1C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000250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98B50-4C34-4420-BA1C-77258393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12407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11.7%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96576-933E-4107-A595-11709653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524125"/>
            <a:ext cx="21812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Won opportunities linked to touches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AE380-3CCA-4721-8009-5EDEBAF9C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743200"/>
            <a:ext cx="2181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Influenced attribution describes a linked subset, not every win.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BCE4A-469E-495C-9639-EB06B08F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00250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BAAE87-4046-4FEA-B36D-18B96C88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2407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D7F6B-E542-409A-BAC7-D1DE9F61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24125"/>
            <a:ext cx="21812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Paid channels with tracked spend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B8F4FA-EA94-4886-B2CA-95D1A39E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43200"/>
            <a:ext cx="2181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One has a single opportunity; neither has recorded won revenue.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4E660C-F00B-4316-9A88-5D3CE5CA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000250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15735-E3E5-4756-BA03-BC9FFBA5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124075"/>
            <a:ext cx="2181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1C1C"/>
                </a:solidFill>
              </a:defRPr>
            </a:pPr>
            <a:r>
              <a:rPr sz="2250" b="1">
                <a:solidFill>
                  <a:srgbClr val="B91C1C"/>
                </a:solidFill>
              </a:rPr>
              <a:t>No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9F26E0-7F57-4CD6-B190-A3DDF36D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524125"/>
            <a:ext cx="21812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Delivered-email denominator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FAC1BC-DF8D-4CE2-BCC7-9413C1C1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743200"/>
            <a:ext cx="2181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Open/click rates cannot be calculated from an engagement-event log.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EBBA9A-94AF-4C22-9246-5CF703D9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5267325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9F7F3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04279A-44D4-4ABC-ABD4-58627180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57150" cy="2190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108740-FB5A-4963-B50A-FDC6AC3B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48672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What remains decision-grade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7D6236-D186-477C-8D4B-AE7CC19C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48672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Opportunity counts, recorded pipeline, closed outcomes, source credit, account coverage counts, and time-based model evaluation are reproducible and validated across outputs.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D8513D-39EA-481D-B5DC-9C5FD0BE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429000"/>
            <a:ext cx="5343525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CBB596-E87A-49B9-A10B-1B228BD6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429000"/>
            <a:ext cx="57150" cy="2190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37D035-8FFB-4DF6-A957-4D00DADD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581400"/>
            <a:ext cx="494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What remains directional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3574B8-EB2E-4B74-9A1C-2DF0420B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876675"/>
            <a:ext cx="49434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Influence attribution, reached-vs-unreached opportunity rates, email event composition, creative CTR comparisons, and budget scenarios require explicit scope labels or experiments.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099BEE-69F7-4A8D-8830-D8640B63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227533-46FC-4D53-8639-743679EB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data | Known limitations surfaced before recommendations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0F4B69-C733-4662-B8BF-DB5DDA5B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57268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BE0D6D-6079-416B-9910-40A6EB43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338DB-A79D-4429-9C6B-39CADA4C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Pipeline growth is outpacing conversion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DEC06-495C-4735-B5E0-E13C34CB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Compare only cohorts with at least 80% of opportunities resolved.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97151-C378-4E46-AAA0-97016A8E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C97D7-FB4D-4428-ACF2-D73CD49ED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05000"/>
            <a:ext cx="74295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DDE434-070E-4F18-A875-64B8B65E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701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Closed-deal win rate by create quarter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D4E002-5E57-4E34-8C85-E4D541C1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701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Mature cohorts only • 95% intervals are available in the dashboard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800100" y="2600325"/>
          <a:ext xmlns:a="http://schemas.openxmlformats.org/drawingml/2006/main" cx="7010400" cy="3124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480aec1d2343f2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47C2C-43A1-4D90-8429-8B67838C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52625"/>
            <a:ext cx="32480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0131D0-D9BF-4838-8C61-017D53BF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076450"/>
            <a:ext cx="290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1C1C"/>
                </a:solidFill>
              </a:defRPr>
            </a:pPr>
            <a:r>
              <a:rPr sz="2250" b="1">
                <a:solidFill>
                  <a:srgbClr val="B91C1C"/>
                </a:solidFill>
              </a:rPr>
              <a:t>38% → 22%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40EAF-3F5B-4BB9-8C24-480F5BB6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476500"/>
            <a:ext cx="2905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2022 Q1 to 2024 Q2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272160-241F-4C1C-9A80-829AC200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695575"/>
            <a:ext cx="2905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Resolved-outcome denominator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C92D34-70AA-4687-A0CB-5DC4D47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90875"/>
            <a:ext cx="32480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327AF6-F312-46B4-8DD4-2C9A5449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314700"/>
            <a:ext cx="290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E40AF"/>
                </a:solidFill>
              </a:defRPr>
            </a:pPr>
            <a:r>
              <a:rPr sz="2250" b="1">
                <a:solidFill>
                  <a:srgbClr val="1E40AF"/>
                </a:solidFill>
              </a:rPr>
              <a:t>$3.5M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93FA9E-8550-456C-A3F0-C8A1CE9C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714750"/>
            <a:ext cx="2905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Pipeline in 2024 Q2 cohort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22B906-2F20-4D80-89D1-DE6BA5CD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933825"/>
            <a:ext cx="2905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88% resolved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B7F534-0280-4CBC-86A1-34F373E4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29125"/>
            <a:ext cx="324802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BDAB28-9C96-461A-86CF-6F458C49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29125"/>
            <a:ext cx="57150" cy="14763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972798-313C-4D19-9423-456C6330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581525"/>
            <a:ext cx="28479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CEF0EE-F579-4B5A-ABB6-1B794482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876800"/>
            <a:ext cx="28479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Audit ICP fit, qualification, and source mix before accelerating broad acquisition. Keep 2024 Q3–Q4 provisional until they mature.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219BAC-912B-4B5C-9B4F-6BAD1753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93C5AF-9E8D-42F6-A993-73EC0E9B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F1DA73-BE40-46EA-A68A-0658F8B7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393701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621C39-359D-4760-BA19-152FC8AA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1876FD-04F6-4E0B-8BB1-36770B55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Source credit and linked influence answer different questions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F4798A-0734-476F-96E5-EB2B5E96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Report both, but never present influenced attribution as full-population or causal credit.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0D999-A346-45B8-A0E4-5F594439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CFB12-8B06-424A-8117-5C60E79C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66750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79C20-AB12-4CB1-9034-E6AB6AEF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624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Recorded pipeline contribution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97493F-0545-433D-B7BC-3B3906E3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624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CRM source vs touchpoint-linked opportunity subset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6248400" cy="2838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2006a433024eb9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03D2B-DB42-4E7D-AA1A-79F37568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52625"/>
            <a:ext cx="3867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3F9700-C3AA-4BD0-ADBC-90195F31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76450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695 / 3,288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390733-E99D-4743-AFBB-7A194E8A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7650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Opportunities linked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5C9DC-9D8D-4B96-9C45-FA88D202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95575"/>
            <a:ext cx="3524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21.1%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0BC6EC-941B-464B-B9BC-708DB1A6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90875"/>
            <a:ext cx="3867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DB62C-608C-46C7-945E-038A6513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14700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1C1C"/>
                </a:solidFill>
              </a:defRPr>
            </a:pPr>
            <a:r>
              <a:rPr sz="2250" b="1">
                <a:solidFill>
                  <a:srgbClr val="B91C1C"/>
                </a:solidFill>
              </a:rPr>
              <a:t>126 / 1,073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D52822-90AB-4A82-851C-D28F3681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7147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Won opportunities linked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596228-D3BB-458C-8C43-7EBDC579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33825"/>
            <a:ext cx="3524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11.7%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80C942-480E-424B-8A85-BB23B374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29125"/>
            <a:ext cx="38671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0C47FA-3BF6-4558-95AA-3289A041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29125"/>
            <a:ext cx="57150" cy="1238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68D6F1-CB85-4F0F-95A2-8BF03C00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581525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Interpretation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5868A1-30C6-48AB-8509-6A8B7450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76800"/>
            <a:ext cx="3467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Influenced pipeline is useful journey context for linked opportunities. CRM sourced remains the conservative contribution 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3865C9-E500-4D7D-9881-ADD1CEDE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B45C6E-E84D-4954-BF00-B1A88A1C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365-day lookback | one account-channel presence per ISO week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406AF6-7896-461E-9BF7-00D5CB3F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700860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49F2E-99CF-4CB5-8482-E12AFE2A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481C6-D0CB-4534-A991-0A1E3AAC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Email opens journeys; 6sense appears later in linked paths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F4530-B9D8-45B1-A24A-0AEBD011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Descriptive journey role—not proof that either channel caused the outcome.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5DE4D-EDDD-4FBC-82EF-9BA56DAD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C6521-61D6-4D17-A5A4-D1A7F101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809625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D9702D-6319-4577-A6AB-A30B845E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767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Attribution credit by journey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B13A6-8D5D-4D3D-98DC-A448CA45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7677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Pipeline in millions • linked opportunities only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767715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ffdeee0cf041a1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82751-28AB-4C6F-A065-587F17CA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2533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B4A08-6B8C-442D-A621-DE253092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5715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0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E73CE-1519-4A24-A991-3717D6E6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526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Observed pattern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1DD7F-B21B-4BC7-84C9-A5FDA51A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47925"/>
            <a:ext cx="2133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Email receives more first-touch credit. 6sense display receives more last-touch and time-decay credit within the linked subset.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05E1A7-E9AB-460B-AB7C-F396387D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10000"/>
            <a:ext cx="25336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983737-D00B-47E2-986B-2892F352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10000"/>
            <a:ext cx="57150" cy="2000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083B78-4A4B-4432-B3EC-D5EE29CD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624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Next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A70AD2-6CA0-4692-B5A6-6A6FD67D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257675"/>
            <a:ext cx="2133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After email engagement, randomize eligible strong-fit accounts into a 6sense overlay and holdout. Measure meetings, qualified opportunities, pipeline, and closed-deal quality.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DB9386-BBAA-4FC1-B8C0-55A41FFB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831447-057E-4D7A-A413-F7E9CFDE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FF34DC-A665-494B-93D0-9383C35D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717812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E25633-E3FF-453C-9B0E-9F64226A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3C302-A569-4B0C-9DDC-9CEA8E07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The largest measurable opportunity is account coverage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D03B7-2421-4151-9081-F7FD22E5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Reached-account opportunity rates are observational and include selection effects.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0578EF-6A81-4675-B860-5C474142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6FC8C-35F9-4280-B9C3-953CCDEA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858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314E3-064E-4DF3-86C7-92AF2433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643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CRM account domains by tracked coverage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8D888-E6FD-489F-8CDC-3A42DB0E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643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Counts by normalized company domain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643890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31389574814219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12D6F-AF49-4E66-90BC-23357AA3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47875"/>
            <a:ext cx="3676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Observed opportunity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D331B-7EFF-4F34-919A-16799C69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765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Not Reached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0B6598-AC86-4F90-901D-A8B42A47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4792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B45309"/>
                </a:solidFill>
              </a:defRPr>
            </a:pPr>
            <a:r>
              <a:rPr sz="1725" b="1">
                <a:solidFill>
                  <a:srgbClr val="B45309"/>
                </a:solidFill>
              </a:rPr>
              <a:t>17.5%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A13215-880B-4AF2-93AE-60BE600E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336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16%–19% 95% CI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7B885-8BD9-4998-9258-9279D8C5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623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Email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85464-CF74-4C87-9343-BF91FA5D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13372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E40AF"/>
                </a:solidFill>
              </a:defRPr>
            </a:pPr>
            <a:r>
              <a:rPr sz="1725" b="1">
                <a:solidFill>
                  <a:srgbClr val="1E40AF"/>
                </a:solidFill>
              </a:rPr>
              <a:t>45.9%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87E429-65C1-4352-B6AE-1DE49582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194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42%–50% 95% CI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E6CB32-B30A-4991-A3B3-45A26310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481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Both Channels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9E561E-3C73-4AB2-A485-0A0DE7D8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1952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E40AF"/>
                </a:solidFill>
              </a:defRPr>
            </a:pPr>
            <a:r>
              <a:rPr sz="1725" b="1">
                <a:solidFill>
                  <a:srgbClr val="1E40AF"/>
                </a:solidFill>
              </a:rPr>
              <a:t>42.6%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816607-A15F-4E7A-A917-60D7ABD7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052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38%–47% 95% 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F37E38-A8BF-4867-9B79-DA9BE6B8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33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6sense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919FF5-11F8-41BA-996D-7A790578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0532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E40AF"/>
                </a:solidFill>
              </a:defRPr>
            </a:pPr>
            <a:r>
              <a:rPr sz="1725" b="1">
                <a:solidFill>
                  <a:srgbClr val="1E40AF"/>
                </a:solidFill>
              </a:rPr>
              <a:t>28.6%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348D5E-6219-4E13-87A5-F68B9730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910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24%–34% 95% CI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A957DD-28C7-4E78-84F6-425DA683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38750"/>
            <a:ext cx="36766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3EAD26-2469-4141-B1B1-2DA16192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38750"/>
            <a:ext cx="5715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0D0A0D-8062-498C-999F-D2D82CD3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9115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Test, do not infer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9B36C0-DF97-4194-80D3-46BC548D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86425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Randomize strong-fit unreached accounts; use opportunity creation as the primary outcome.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74754D-3066-414C-8901-8ED6882E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8C4E52-5E1F-48AA-9ADC-300AA4B2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5007B3-73AD-4A51-82A3-DA4F7B6F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295096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1F6113-26AA-40FC-AA54-B1534AD9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A25D6-ED5C-4558-A67A-27EA76BA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Email data measures event composition—not campaign rates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393EA-4F4F-48CD-B35A-93460AAB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The supplied file contains engagement events, without sent or delivered counts.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E6CF52-5020-4A07-B5E8-871CCAA4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D5490-2D50-4674-A876-2EA51451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57225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B3AB10-7E80-4DD6-9EA0-212260B2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615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Recorded engagement-event mix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7061F3-E709-4129-84E1-4971F5F1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6153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17,130 event rows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615315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e7db130c064066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9104A-E411-483A-876B-C1C69D76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962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E9E785-D961-4191-B551-EE71CD23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76450"/>
            <a:ext cx="361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E40AF"/>
                </a:solidFill>
              </a:defRPr>
            </a:pPr>
            <a:r>
              <a:rPr sz="2250" b="1">
                <a:solidFill>
                  <a:srgbClr val="1E40AF"/>
                </a:solidFill>
              </a:rPr>
              <a:t>5,576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BFEE8-5E96-44EE-970C-A8F0D75A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476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Unique engaged email addresses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2D70EF-33B0-4746-985D-681CE27F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95575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Deduplicated within the engagement log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5AC052-3728-4B9F-9438-CC49271B6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90875"/>
            <a:ext cx="3962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BD1AB8-D748-4134-BFCA-D74F0E53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314700"/>
            <a:ext cx="361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4.5%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75FBCB-F9A6-43FA-8B45-B700F766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147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Click-event share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99AF30-68C9-4CD8-BD7E-561EDC56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33825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Clicks / all recorded engagement events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799BA1-DDF0-47E3-B977-6D88B4D2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29125"/>
            <a:ext cx="39624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97AC81-0D08-4644-A986-C9831A32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29125"/>
            <a:ext cx="57150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9B57A8-6CFA-42B6-8DE5-29FE87A1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81525"/>
            <a:ext cx="3562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Measurement requirement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114AC6-38C7-4D4D-AFB2-9C460AEC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76800"/>
            <a:ext cx="35623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Acquire sent, delivered, unique-open, unique-click, bounce, and unsubscribe denominators before publishing campaign reach, open rate, or CTR.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FA139D-05A5-4C19-8ABA-EDEF27F1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7716AF-6E87-45B1-AE8D-7286AABC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No send-based open or click rate is claimed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2D370-B6B1-42E2-BB58-915C11B0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981955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8672D4-A377-4BDB-93BE-A563A17B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119DCC-3BF7-4FDC-A83D-A35FF65F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Creative efficiency must be compared within platform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7BBBB1-E78A-4AF6-B1D1-C47F18AD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Delivery mechanics and baseline CTR differ between LinkedIn and 6sense.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EBF2E3-5049-4EB4-9FBF-E04B1122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9F4CD-FF4D-4460-BE32-92B6658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7239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45D83-E1B2-4F34-915B-71429E82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681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Weighted platform CTR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D8333A-449D-4F96-A7DB-34256AFA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681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Clicks / impressions across supplied creative rows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681990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9573e5884b4d78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42592-B245-4A03-8D69-36052A24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52625"/>
            <a:ext cx="343852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114F91-5628-4AC1-A99A-0B9A1D33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52625"/>
            <a:ext cx="57150" cy="1714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0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6F4EED-4776-4E65-BFF6-193CFA95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105025"/>
            <a:ext cx="3038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Use for optimization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235217-DB4F-40D7-92B5-01F232BB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400300"/>
            <a:ext cx="30384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Rank ads within each platform, require minimum impression volume, and evaluate downstream account engagement before scaling.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30BA87-C3D4-455A-AB10-EDED2201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857625"/>
            <a:ext cx="3438525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AEA783-9FB4-4C6C-8F4F-8E2AD650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857625"/>
            <a:ext cx="57150" cy="1952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A25B5E-2B05-4FBE-9F24-A0029706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010025"/>
            <a:ext cx="3038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Metadata gap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4163CA-C689-497E-9919-CB26D793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05300"/>
            <a:ext cx="30384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Most 6sense delivery is labeled with unknown copy tone and asset metadata. Backfill taxonomy before claiming that a creative attribute drives performance.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3513AD-F7B8-42C5-AA47-EE082739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AA177E-9278-45C5-85B6-D9B9956B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43F2AB-620D-4B57-9ED6-55A3A4D9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819815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384849-C019-417E-B79C-B1B1D360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EE3935-4911-479C-97C1-B37C287D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The model is a useful baseline—not an automated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DF16F-43CE-4FD2-8CEB-BE5B9DE3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Time-based evaluation and feature-policy controls replace the prior lookahead-prone specification.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D2028-5873-433E-A78E-59B4235F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9D6551-209B-4085-B455-749AE25A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BAE9D-C603-40EE-90DC-FA8FC5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E40AF"/>
                </a:solidFill>
              </a:defRPr>
            </a:pPr>
            <a:r>
              <a:rPr sz="2250" b="1">
                <a:solidFill>
                  <a:srgbClr val="1E40AF"/>
                </a:solidFill>
              </a:rPr>
              <a:t>0.712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832532-F2A0-4EB6-A48F-301E84AA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ROC AUC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408A0-D818-4068-9A89-395F3FE3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Time-based 80/20 holdout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96254C-2FAD-4E22-A0C6-59D074CA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95262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9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3EE36-A8E0-4417-AD22-24DFEA64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076450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61.0%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2EA5A-CAFC-42F8-9D9A-1FB41FF0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476500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Precision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320DFD-6DB7-4118-A166-D6243A5C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695575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At the default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60B29-5F46-45AB-944C-B377D255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95262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8503A8-DF31-4C05-B368-5EED9197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44.4%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6FF827-71F6-4B2D-8953-2D4EA82B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76500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Recall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09C96-2516-49AF-BF27-6538F6A3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95575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At the default threshold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AF3D13-90AD-466F-8A96-FF666917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95262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869C21-24A8-4850-BD0A-502BFEBA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076450"/>
            <a:ext cx="2085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233F"/>
                </a:solidFill>
              </a:defRPr>
            </a:pPr>
            <a:r>
              <a:rPr sz="2250" b="1">
                <a:solidFill>
                  <a:srgbClr val="12233F"/>
                </a:solidFill>
              </a:rPr>
              <a:t>0.182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E7A126-AE98-4F95-9A5D-4C1EB75B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085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Brier score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23E82E-657F-4781-B116-505C16F6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95575"/>
            <a:ext cx="20859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447 active opportunities scored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A4A664-F62C-4B47-AA51-5A7640A8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72390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A84567-ECC5-4ED7-B6DA-06672FE7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67100"/>
            <a:ext cx="681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Opportunity-time feature importance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AE7F65-6035-403D-8886-D7120FFC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1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Aggregated Random Forest importance</a:t>
            </a:r>
          </a:p>
        </p:txBody>
      </p:sp>
      <p:graphicFrame>
        <p:nvGraphicFramePr>
          <p:cNvPr id="55" name="Chart"/>
          <p:cNvGraphicFramePr/>
          <p:nvPr/>
        </p:nvGraphicFramePr>
        <p:xfrm>
          <a:off xmlns:a="http://schemas.openxmlformats.org/drawingml/2006/main" x="800100" y="4029075"/>
          <a:ext xmlns:a="http://schemas.openxmlformats.org/drawingml/2006/main" cx="6819900" cy="17430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d8937be75449f5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8281A3-3B93-4A84-B186-5336468D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333750"/>
            <a:ext cx="3438525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2AB4E4-E7D3-40E7-931B-22FC808F5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333750"/>
            <a:ext cx="57150" cy="26193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0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BB5C50-6DF9-47A7-A86C-C2E417C4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486150"/>
            <a:ext cx="3038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Leakage 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80FB1E-337B-4948-819B-8BD4DAF7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781425"/>
            <a:ext cx="303847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Uses channel, CRM market segment, recorded amount, and create-date features. Excludes current stage, present-day intent, account snapshots, and contact counts. Pilot probability bands with sales before setting a cutoff.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AEE7D6-A423-42D6-BDC1-99BE4D6E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585BBE-FFAD-44C3-9B36-5B5B2BD1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F505FF-B157-47D2-B16E-0E01A08D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561739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DC5438-9B10-4109-8A2A-4C6C19A6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E40AF"/>
                </a:solidFill>
              </a:defRPr>
            </a:pPr>
            <a:r>
              <a:rPr sz="900" b="1">
                <a:solidFill>
                  <a:srgbClr val="1E40AF"/>
                </a:solidFill>
              </a:rPr>
              <a:t>MARKETING ANALYTICS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7A2ABC-A0DF-462E-A434-1EB2677B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71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233F"/>
                </a:solidFill>
              </a:defRPr>
            </a:pPr>
            <a:r>
              <a:rPr sz="2400" b="1">
                <a:solidFill>
                  <a:srgbClr val="12233F"/>
                </a:solidFill>
              </a:rPr>
              <a:t>Use the budget to create evidence—not a false forecast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E1BD00-BC5E-4B8B-88C4-4E9AE2B1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1071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Every plan preserves the same tracked-spend total.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CACB75-3B1B-4BCE-926A-9BD311B5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5AED6-539F-4A0F-81B2-39C2E36F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78105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B5E1FC-5D1A-456D-8C11-0EBDA250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739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233F"/>
                </a:solidFill>
              </a:defRPr>
            </a:pPr>
            <a:r>
              <a:rPr sz="1275" b="1">
                <a:solidFill>
                  <a:srgbClr val="12233F"/>
                </a:solidFill>
              </a:rPr>
              <a:t>Budget-neutral operating plans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D510E1-4E80-4B89-8654-DCB2746D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739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Tracked spend in millions • no pipeline forecast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00100" y="2647950"/>
          <a:ext xmlns:a="http://schemas.openxmlformats.org/drawingml/2006/main" cx="7391400" cy="2981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22c7fd73bb4f4c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59F544-1256-4CF1-812F-121FCA1F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241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9F7F3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DDC489-6B69-4E04-936D-43428367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57150" cy="1714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FC2405-90FA-429A-AD62-FBECBB88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05025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Recommended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B9DD0E-EF6B-499A-8BC3-FDD94C01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0300"/>
            <a:ext cx="2324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Measurement First: activate 80%, reserve 10% as holdout, and use 10% for a pre-registered experiment pool.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60FC45-82FF-4C99-80DA-9B7A8824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57625"/>
            <a:ext cx="27241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8E1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3BE46-C39C-4A96-9D91-7A5AFCE4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57625"/>
            <a:ext cx="57150" cy="1952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476950-09B1-40AD-B6F2-C69D4DF6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10025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233F"/>
                </a:solidFill>
              </a:defRPr>
            </a:pPr>
            <a:r>
              <a:rPr sz="1200" b="1">
                <a:solidFill>
                  <a:srgbClr val="12233F"/>
                </a:solidFill>
              </a:rPr>
              <a:t>Scale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A0DA65-903D-4AE3-854F-131C26D0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305300"/>
            <a:ext cx="23241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Require incremental qualified opportunities or pipeline, stable closed-deal win rate, and clean spend/outcome reconciliation before expanding.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3923A-9BA9-4703-9760-B6D1E8A4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B6AECE-E01E-466E-BC80-0F012FF4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532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Internal CRM + marketing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E974AD-5C0A-4994-8348-62870532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2233F"/>
                </a:solidFill>
              </a:defRPr>
            </a:pPr>
            <a:r>
              <a:rPr sz="750" b="1">
                <a:solidFill>
                  <a:srgbClr val="12233F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062925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223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353786-5315-43F2-AD65-935591B6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428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339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60F0E5-0A2A-4B4C-8B5B-814BA623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238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FD4FF"/>
                </a:solidFill>
              </a:defRPr>
            </a:pPr>
            <a:r>
              <a:rPr sz="900" b="1">
                <a:solidFill>
                  <a:srgbClr val="BFD4FF"/>
                </a:solidFill>
              </a:rPr>
              <a:t>30 / 60 / 90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87A444-6146-4E82-93CD-E7DB1672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62000"/>
            <a:ext cx="1038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Turn the analysis into a measurement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3CEFD-233A-4EAB-A023-DD507CC2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BD7E7"/>
                </a:solidFill>
              </a:defRPr>
            </a:pPr>
            <a:r>
              <a:rPr sz="1275" b="0">
                <a:solidFill>
                  <a:srgbClr val="CBD7E7"/>
                </a:solidFill>
              </a:rPr>
              <a:t>The goal is not another dashboard refresh. It is a clean decision loop from data quality to experiment to scale.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72892F-20F7-48F9-9520-682316D1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33718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C2E49"/>
          </a:solidFill>
          <a:ln xmlns:a="http://schemas.openxmlformats.org/drawingml/2006/main" w="9525">
            <a:solidFill>
              <a:srgbClr val="3D58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63C1F-434C-4BCA-BEAE-24777B19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57150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8F38C9-CE04-4617-B8E2-4D9898C5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30 days  /  repair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D70B5-F042-4231-878C-A69E7CB1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2971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BD7E7"/>
                </a:solidFill>
              </a:defRPr>
            </a:pPr>
            <a:r>
              <a:rPr sz="975" b="0">
                <a:solidFill>
                  <a:srgbClr val="CBD7E7"/>
                </a:solidFill>
              </a:rPr>
              <a:t>Backfill zero-amount won opportunities. Reconcile 6sense spend sources. Add sent/delivered email denominators. Freeze attribution definitions and owners.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AB3A5-A424-4802-AF23-62E5C736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95500"/>
            <a:ext cx="33718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C2E49"/>
          </a:solidFill>
          <a:ln xmlns:a="http://schemas.openxmlformats.org/drawingml/2006/main" w="9525">
            <a:solidFill>
              <a:srgbClr val="3D587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89022-AE1B-4D58-8523-C157B27A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95500"/>
            <a:ext cx="57150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BCEEF-448D-4B9D-8388-069A9CA4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4790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60 days  / 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184275-7E9A-44A9-A6DA-AFD31096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43175"/>
            <a:ext cx="2971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BD7E7"/>
                </a:solidFill>
              </a:defRPr>
            </a:pPr>
            <a:r>
              <a:rPr sz="975" b="0">
                <a:solidFill>
                  <a:srgbClr val="CBD7E7"/>
                </a:solidFill>
              </a:rPr>
              <a:t>Randomize strong-fit unreached accounts. Test email-first outreach and a 6sense overlay. Pre-register outcomes, windows, exclusions, and stop rules.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DFDA4A-8F6F-4810-A83A-EF33646B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33718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C2E49"/>
          </a:solidFill>
          <a:ln xmlns:a="http://schemas.openxmlformats.org/drawingml/2006/main" w="9525">
            <a:solidFill>
              <a:srgbClr val="3D587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CE9962-DDB8-44AE-8A29-64235B07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57150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DB8A2B-98B1-408E-8BB7-40447E8A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4790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90 days  /  decide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24CDF3-AA0A-4D85-B6E4-62CE2E12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43175"/>
            <a:ext cx="2971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BD7E7"/>
                </a:solidFill>
              </a:defRPr>
            </a:pPr>
            <a:r>
              <a:rPr sz="975" b="0">
                <a:solidFill>
                  <a:srgbClr val="CBD7E7"/>
                </a:solidFill>
              </a:rPr>
              <a:t>Scale only when incremental qualified pipeline is positive, closed-deal quality holds, and model score bands show stable conversion in production.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837987-9AEE-444B-82EB-184A548B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8162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FD4FF"/>
                </a:solidFill>
              </a:defRPr>
            </a:pPr>
            <a:r>
              <a:rPr sz="975" b="1">
                <a:solidFill>
                  <a:srgbClr val="BFD4FF"/>
                </a:solidFill>
              </a:rPr>
              <a:t>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7C7B0-FAC6-4362-B146-3A31CC46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578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CRM completeness  ≥ 95%  •  attribution coverage reported  •  holdout integrity verified  •  closed-win quality protected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648937-16B7-42DF-A0B5-152B2DA3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4FF"/>
                </a:solidFill>
              </a:defRPr>
            </a:pPr>
            <a:r>
              <a:rPr sz="1050" b="1">
                <a:solidFill>
                  <a:srgbClr val="BFD4FF"/>
                </a:solidFill>
              </a:rPr>
              <a:t>Bottom line  /  Targeted, measured growth can win—once the data can distinguish activity from incrementality.</a:t>
            </a:r>
          </a:p>
        </p:txBody>
      </p:sp>
    </p:spTree>
    <p:extLst>
      <p:ext uri="{BB962C8B-B14F-4D97-AF65-F5344CB8AC3E}">
        <p14:creationId xmlns:p14="http://schemas.microsoft.com/office/powerpoint/2010/main" val="18735274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2026-08-30T12:20:36.6010000Z</dcterms:created>
  <dcterms:modified xsi:type="dcterms:W3CDTF">2026-08-30T12:20:36.6010000Z</dcterms:modified>
</coreProperties>
</file>