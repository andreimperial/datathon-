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a marketing attribution and budget optimization analysis for a B2B SaaS company. We integrated 8 datasets, mapped 80,500 touchpoints across 3,288 unique deals representing $176M in pipeline from 2021 through 2024, and applied 6 attribution models. The goal is simple: tell you what marketing's actually contributing, and where budget should move next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line: $25M in pipeline, $5.4M won, with marketing sourcing $4.2M and influencing another $6.5M. The headline win rate is 32.6%, but that hides important variation. The five highlighted findings below are what we'll spend the rest of the deck unpacking — but if you take only one thing away, it's that 6sense Display and Email play different roles in the funnel, and the budget should fund both. We're recommending +30% on 6sense display, +20% on email nurture, with a projected 15-25% pipeline 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note on data foundation. We pulled from 8 sources: 6sense campaign accounts, ad metrics, email engagements, web analytics, the account log, opportunity log, ICP database, and 6sense segments. All linked through company domain. Two important data quality notes: the opportunity log dropped from 16,000 rows to 3,288 unique deals after deduplication — that was critical. And of 36,931 web sessions, only 330 had a matched company domain. Fixing that anonymous-traffic gap is in our 90-day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six attribution models because there is no single right answer — each one answers a different business question. Marketing Sourced and Influenced are the executive reporting lenses. First Touch, Last Touch, Linear, and Time-Decay split credit across the journey. For budget decisions, we recommend Time-Decay — it weights recent touches but doesn't ignore the early ones. For awareness investment decisions, use First-Touch.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punchline of the entire attribution exercise on one chart. Email dominates First-Touch — it starts conversations, $4 million attributed there. 6sense Display dominates Last-Touch and Time-Decay — $3.3 to $3.5 million. They're different jobs. Email finds and warms accounts; 6sense keeps the brand visible right when deals close. A channel that's tall in First-Touch and short in Last-Touch is an awareness channel. The budget mix should fund both roles, not pick a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count marketing's contribution. Sourced — the CRM lead source field — is hard credit: $4.2M. Influenced — any marketing touch within 365 days before the deal — is $6.5M. The gap, $2.3M, is marketing's shadow credit: real contribution that never shows in the CRM. Influenced is 1.5x sourced. When the board asks 'what's marketing doing?' — the honest answer is somewhere between these two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funnel, end to end. 135 million impressions become 71,000 clicks become 1,286 form fills. Separately, the email channel produces 17,000 engagements. Both feed 3,288 deals, of which 511 are marketing-sourced and 52 ultimately close. Each step is a leverage point — improving any single conversion rate compounds downstream. The biggest opportunities are early: lifting click-to-form-fill, and lifting marketing-sourced win rate from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Channel-level economics by CRM lead source. Existing client and referral close at 54% and 29% — far higher than any pure marketing channel — because those leads come pre-sold. That's expected and healthy. Where marketing has work to do is the 6sense and email channels, where win rates sit at 1-12%. Compare these CRM numbers against the attribution slides we just saw — channels small here, like 6sense, can be huge in influenced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6sense Display in detail. We spent $291,000 to generate 31 million impressions, 14,000 clicks, and 117 form fills. CTR of 0.045% — completely in-line with B2B display benchmarks; the goal isn't clicks. The real value is here: in Last-Touch attribution, 6sense gets $3.3M credit. It warms accounts so when sales calls, the brand is already familiar. Cost-per-form-fill of $2,000 looks expensive in isolation, but the influenced pipeline number is what justifies the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is the awareness engine. 17,130 engagements, 94.7% open rate — that's unusually strong, suggests good list hygiene. Click rate of 4.5% is solid for B2B. Most importantly, email is the #1 First-Touch channel at $4.0M attributed. Look at the seniority breakdown: VPs and Directors are the most engaged. Manager-level audiences open less, click less. Implication: tier the email program — exec content for the top, more concrete content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analytics. 36,931 sessions, 1,169 goal completions — a healthy 3.2% conversion. But only 330 sessions have a matched company domain. 99% of web traffic is anonymous, which is the single largest data quality gap in the program. Web inbound as a lead source produces 119 deals worth $1.1M — that's clean signal. The 90-day recommendation is to deploy a de-anonymization layer, either 6sense Web Tag or Clearbit, to make the rest of this traffic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Creative analysis. Two views: top individual ads on the left, and grouped attributes on the right — by tone, asset type, and CTA style. The grouped view is what's actionable for creative briefs. It tells you whether to brief 'direct' or 'inspirational' tone, what asset format works best, and whether soft CTAs like 'Learn More' beat hard CTAs like 'Request Demo' for this audience. Use this as the input to the next quarter's creative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and ICP analysis. The math of ABM is win rate times deal size — that product is what determines where to put budget. Enterprise + Strong Profile Fit is the highest-value cell. The ICP contact breakdown on the right shows we have strong coverage at C-Level, Director, and VP — that's good — but a meaningful 'unknown seniority' bucket of 3,710 records that should be enriched.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health snapshot. Most pipeline value sits in Enterprise — $14.6M of the $23.8M open pipeline. That's concentration risk: a couple of large Enterprise deals slipping has outsized impact. Stage distribution skews early; we need to nurture deals into late-stage. And lost reasons should feed directly into the content strategy — every loss reason is a content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 intent and 6sense Profile Fit. Strong Profile Fit accounts close at higher rates and faster. The recommendation is straightforward: filter 6sense audiences to Strong + Moderate Fit only for Tier 1 campaigns, and trigger immediate SDR outreach when an account hits 'Decision' buying stage. Weak Fit accounts are a yellow flag — review the targeting criteria quarterly to make sure ICP definitions haven't drifted.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budget scenarios. Status Quo at $119K — current allocation. ROI-Optimized at $124K reallocates toward high-ROI channels at roughly the same total spend. Growth Mode at $104K is more aggressive: double email and 6sense, halve everything else. The expected pipeline lift in ROI-Optimized is 15-25%. This is a directional model — diminishing returns are real — but the direction is reliable, and the test period should be one full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a Random Forest classifier on 2,743 closed deals. AUC of 0.807 is strong — that's a model worth listening to. Top predictors: account tier, channel category, and campaign impressions in the prior 10 weeks. The fact that ad impressions show up as a top predictor is direct validation of the ABM strategy — accounts marketing has reached more often actually do close more often. The 545 currently open deals are scored; share the top decile with sales weekly as a hot-deal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growth lever in the deck. Of 4,797 target account domains, 67.9% — 3,256 accounts — have never received a single marketing touchpoint. Zero. And accounts reached by both email AND 6sense show a 2.4x higher opportunity rate than unreached accounts. The next-quarter action is concrete: take the 3,256 unreached accounts, prioritize the Strong Profile Fit ones, and push them into a coordinated email plus 6sense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strategic signal in the dataset. Pipeline is growing — bars going up. But win rate is dropping, from roughly 37% in 2022 to about 15% in 2024. That's a quality-versus-quantity tension, and quality is losing. Two possible causes: ICP targeting expanded too broadly, or deals are entering the funnel before they're qualified. The recommendation is a quarterly ICP audit and tighter qualification criteria at deal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ABM priority matrix. Segment crossed with Profile Fit. Commercial plus Strong is the highest win rate at 47% — that's where the volume motion lives. Enterprise plus Strong has lower win rate but the largest deal size; that's where executive personalization pays off. Weak Profile Fit drops win rates to 15-25% across the board — those accounts shouldn't see Tier 1 budget. Filter audience lists to Strong and Moderate Fit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prioritized actions. 30-day quick wins are mostly data hygiene and low-risk reallocation — fix UTMs, A/B test subject lines, shift 6sense budget toward Strong Fit accounts. 90-day strategic work is bigger: deploy web de-anonymization, build a coordinated playbook, set up monthly attribution review. The ongoing metrics at the bottom are what we'd put on the executive dashboard.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23257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DOC · MKT-ANALYTICS · V4</a:t>
            </a:r>
            <a:endParaRPr lang="en-US" sz="975" dirty="0"/>
          </a:p>
        </p:txBody>
      </p:sp>
      <p:sp>
        <p:nvSpPr>
          <p:cNvPr id="11" name="Text 9"/>
          <p:cNvSpPr/>
          <p:nvPr/>
        </p:nvSpPr>
        <p:spPr>
          <a:xfrm>
            <a:off x="14128403" y="361950"/>
            <a:ext cx="951607"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2021—2024</a:t>
            </a:r>
            <a:endParaRPr lang="en-US" sz="975" dirty="0"/>
          </a:p>
        </p:txBody>
      </p:sp>
      <p:sp>
        <p:nvSpPr>
          <p:cNvPr id="12" name="Text 10"/>
          <p:cNvSpPr/>
          <p:nvPr/>
        </p:nvSpPr>
        <p:spPr>
          <a:xfrm>
            <a:off x="15270510" y="361950"/>
            <a:ext cx="889397"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21 SLIDES</a:t>
            </a:r>
            <a:endParaRPr lang="en-US" sz="975" dirty="0"/>
          </a:p>
        </p:txBody>
      </p:sp>
      <p:sp>
        <p:nvSpPr>
          <p:cNvPr id="13" name="Text 11"/>
          <p:cNvSpPr/>
          <p:nvPr/>
        </p:nvSpPr>
        <p:spPr>
          <a:xfrm>
            <a:off x="16350407" y="361950"/>
            <a:ext cx="1251793"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CONFIDENTIAL</a:t>
            </a:r>
            <a:endParaRPr lang="en-US" sz="975" dirty="0"/>
          </a:p>
        </p:txBody>
      </p:sp>
      <p:sp>
        <p:nvSpPr>
          <p:cNvPr id="14" name="Text 12"/>
          <p:cNvSpPr/>
          <p:nvPr/>
        </p:nvSpPr>
        <p:spPr>
          <a:xfrm>
            <a:off x="914400" y="2580233"/>
            <a:ext cx="16952976" cy="190500"/>
          </a:xfrm>
          <a:prstGeom prst="rect">
            <a:avLst/>
          </a:prstGeom>
          <a:noFill/>
          <a:ln/>
        </p:spPr>
        <p:txBody>
          <a:bodyPr wrap="square" lIns="25400" tIns="25400" rIns="25400" bIns="25400" rtlCol="0" anchor="t">
            <a:normAutofit/>
          </a:bodyPr>
          <a:lstStyle/>
          <a:p>
            <a:pPr algn="l" indent="0" marL="0">
              <a:buNone/>
            </a:pPr>
            <a:r>
              <a:rPr lang="en-US" sz="1050" spc="315" kern="0" dirty="0">
                <a:solidFill>
                  <a:srgbClr val="7C8493"/>
                </a:solidFill>
                <a:latin typeface="Arial" pitchFamily="34" charset="0"/>
                <a:ea typeface="Arial" pitchFamily="34" charset="-122"/>
                <a:cs typeface="Arial" pitchFamily="34" charset="-120"/>
              </a:rPr>
              <a:t>B2B SAAS · MARKETING ANALYTICS CASE STUDY</a:t>
            </a:r>
            <a:endParaRPr lang="en-US" sz="1050" dirty="0"/>
          </a:p>
        </p:txBody>
      </p:sp>
      <p:sp>
        <p:nvSpPr>
          <p:cNvPr id="15" name="Shape 13"/>
          <p:cNvSpPr/>
          <p:nvPr/>
        </p:nvSpPr>
        <p:spPr>
          <a:xfrm>
            <a:off x="914400" y="2785021"/>
            <a:ext cx="57150" cy="57150"/>
          </a:xfrm>
          <a:prstGeom prst="ellipse">
            <a:avLst/>
          </a:prstGeom>
          <a:solidFill>
            <a:srgbClr val="82A6D9"/>
          </a:solidFill>
          <a:ln/>
        </p:spPr>
      </p:sp>
      <p:sp>
        <p:nvSpPr>
          <p:cNvPr id="16" name="Text 14"/>
          <p:cNvSpPr/>
          <p:nvPr/>
        </p:nvSpPr>
        <p:spPr>
          <a:xfrm>
            <a:off x="1104900" y="2732633"/>
            <a:ext cx="221768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EXECUTIVE BRIEFING</a:t>
            </a:r>
            <a:endParaRPr lang="en-US" sz="1125" dirty="0"/>
          </a:p>
        </p:txBody>
      </p:sp>
      <p:sp>
        <p:nvSpPr>
          <p:cNvPr id="17" name="Text 15"/>
          <p:cNvSpPr/>
          <p:nvPr/>
        </p:nvSpPr>
        <p:spPr>
          <a:xfrm>
            <a:off x="3379738" y="2732633"/>
            <a:ext cx="1326803"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 Q4 REVIEW</a:t>
            </a:r>
            <a:endParaRPr lang="en-US" sz="1125" dirty="0"/>
          </a:p>
        </p:txBody>
      </p:sp>
      <p:sp>
        <p:nvSpPr>
          <p:cNvPr id="18" name="Text 16"/>
          <p:cNvSpPr/>
          <p:nvPr/>
        </p:nvSpPr>
        <p:spPr>
          <a:xfrm>
            <a:off x="914400" y="3180308"/>
            <a:ext cx="16952976" cy="2452092"/>
          </a:xfrm>
          <a:prstGeom prst="rect">
            <a:avLst/>
          </a:prstGeom>
          <a:noFill/>
          <a:ln/>
        </p:spPr>
        <p:txBody>
          <a:bodyPr wrap="square" lIns="25400" tIns="25400" rIns="25400" bIns="25400" rtlCol="0" anchor="t">
            <a:normAutofit/>
          </a:bodyPr>
          <a:lstStyle/>
          <a:p>
            <a:pPr algn="l" indent="0" marL="0">
              <a:lnSpc>
                <a:spcPct val="96000"/>
              </a:lnSpc>
              <a:buNone/>
            </a:pPr>
            <a:r>
              <a:rPr lang="en-US" sz="9900" spc="-247" kern="0" dirty="0">
                <a:solidFill>
                  <a:srgbClr val="ECEEF2"/>
                </a:solidFill>
                <a:latin typeface="Arial" pitchFamily="34" charset="0"/>
                <a:ea typeface="Arial" pitchFamily="34" charset="-122"/>
                <a:cs typeface="Arial" pitchFamily="34" charset="-120"/>
              </a:rPr>
              <a:t>Marketing Attribution &amp; </a:t>
            </a:r>
            <a:pPr algn="l" indent="0" marL="0">
              <a:lnSpc>
                <a:spcPct val="96000"/>
              </a:lnSpc>
              <a:buNone/>
            </a:pPr>
            <a:r>
              <a:rPr lang="en-US" sz="9900" i="1" spc="-247" kern="0" dirty="0">
                <a:solidFill>
                  <a:srgbClr val="82A6D9"/>
                </a:solidFill>
                <a:latin typeface="Arial" pitchFamily="34" charset="0"/>
                <a:ea typeface="Arial" pitchFamily="34" charset="-122"/>
                <a:cs typeface="Arial" pitchFamily="34" charset="-120"/>
              </a:rPr>
              <a:t>Budget Optimization</a:t>
            </a:r>
            <a:endParaRPr lang="en-US" sz="9900" dirty="0"/>
          </a:p>
        </p:txBody>
      </p:sp>
      <p:sp>
        <p:nvSpPr>
          <p:cNvPr id="19" name="Text 17"/>
          <p:cNvSpPr/>
          <p:nvPr/>
        </p:nvSpPr>
        <p:spPr>
          <a:xfrm>
            <a:off x="914400" y="5822900"/>
            <a:ext cx="11772900"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B7BCC8"/>
                </a:solidFill>
                <a:latin typeface="Arial" pitchFamily="34" charset="0"/>
                <a:ea typeface="Arial" pitchFamily="34" charset="-122"/>
                <a:cs typeface="Arial" pitchFamily="34" charset="-120"/>
              </a:rPr>
              <a:t>A data-driven analysis of $176M in pipeline across eight datasets, six attribution models, and four years of channel investment.</a:t>
            </a:r>
            <a:endParaRPr lang="en-US" sz="1950" dirty="0"/>
          </a:p>
        </p:txBody>
      </p:sp>
      <p:sp>
        <p:nvSpPr>
          <p:cNvPr id="20" name="Shape 18"/>
          <p:cNvSpPr/>
          <p:nvPr/>
        </p:nvSpPr>
        <p:spPr>
          <a:xfrm>
            <a:off x="914400" y="6516142"/>
            <a:ext cx="16459200" cy="9525"/>
          </a:xfrm>
          <a:prstGeom prst="rect">
            <a:avLst/>
          </a:prstGeom>
          <a:solidFill>
            <a:srgbClr val="2A3450"/>
          </a:solidFill>
          <a:ln/>
        </p:spPr>
      </p:sp>
      <p:sp>
        <p:nvSpPr>
          <p:cNvPr id="21" name="Text 19"/>
          <p:cNvSpPr/>
          <p:nvPr/>
        </p:nvSpPr>
        <p:spPr>
          <a:xfrm>
            <a:off x="914400" y="6792367"/>
            <a:ext cx="4238244"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96" kern="0" dirty="0">
                <a:solidFill>
                  <a:srgbClr val="ECEEF2"/>
                </a:solidFill>
                <a:latin typeface="Arial" pitchFamily="34" charset="0"/>
                <a:ea typeface="Arial" pitchFamily="34" charset="-122"/>
                <a:cs typeface="Arial" pitchFamily="34" charset="-120"/>
              </a:rPr>
              <a:t>8</a:t>
            </a:r>
            <a:endParaRPr lang="en-US" sz="4800" dirty="0"/>
          </a:p>
        </p:txBody>
      </p:sp>
      <p:sp>
        <p:nvSpPr>
          <p:cNvPr id="22" name="Text 20"/>
          <p:cNvSpPr/>
          <p:nvPr/>
        </p:nvSpPr>
        <p:spPr>
          <a:xfrm>
            <a:off x="914400" y="7497217"/>
            <a:ext cx="4238244"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INTEGRATED DATASETS</a:t>
            </a:r>
            <a:endParaRPr lang="en-US" sz="900" dirty="0"/>
          </a:p>
        </p:txBody>
      </p:sp>
      <p:sp>
        <p:nvSpPr>
          <p:cNvPr id="23" name="Shape 21"/>
          <p:cNvSpPr/>
          <p:nvPr/>
        </p:nvSpPr>
        <p:spPr>
          <a:xfrm>
            <a:off x="5029200" y="6792367"/>
            <a:ext cx="9525" cy="838200"/>
          </a:xfrm>
          <a:prstGeom prst="rect">
            <a:avLst/>
          </a:prstGeom>
          <a:solidFill>
            <a:srgbClr val="2A3450"/>
          </a:solidFill>
          <a:ln/>
        </p:spPr>
      </p:sp>
      <p:sp>
        <p:nvSpPr>
          <p:cNvPr id="24" name="Text 22"/>
          <p:cNvSpPr/>
          <p:nvPr/>
        </p:nvSpPr>
        <p:spPr>
          <a:xfrm>
            <a:off x="5267325" y="6792367"/>
            <a:ext cx="399297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96" kern="0" dirty="0">
                <a:solidFill>
                  <a:srgbClr val="ECEEF2"/>
                </a:solidFill>
                <a:latin typeface="Arial" pitchFamily="34" charset="0"/>
                <a:ea typeface="Arial" pitchFamily="34" charset="-122"/>
                <a:cs typeface="Arial" pitchFamily="34" charset="-120"/>
              </a:rPr>
              <a:t>80,500</a:t>
            </a:r>
            <a:endParaRPr lang="en-US" sz="4800" dirty="0"/>
          </a:p>
        </p:txBody>
      </p:sp>
      <p:sp>
        <p:nvSpPr>
          <p:cNvPr id="25" name="Text 23"/>
          <p:cNvSpPr/>
          <p:nvPr/>
        </p:nvSpPr>
        <p:spPr>
          <a:xfrm>
            <a:off x="5267325" y="7497217"/>
            <a:ext cx="3992975"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TOUCHPOINTS MAPPED</a:t>
            </a:r>
            <a:endParaRPr lang="en-US" sz="900" dirty="0"/>
          </a:p>
        </p:txBody>
      </p:sp>
      <p:sp>
        <p:nvSpPr>
          <p:cNvPr id="26" name="Shape 24"/>
          <p:cNvSpPr/>
          <p:nvPr/>
        </p:nvSpPr>
        <p:spPr>
          <a:xfrm>
            <a:off x="9144000" y="6792367"/>
            <a:ext cx="9525" cy="838200"/>
          </a:xfrm>
          <a:prstGeom prst="rect">
            <a:avLst/>
          </a:prstGeom>
          <a:solidFill>
            <a:srgbClr val="2A3450"/>
          </a:solidFill>
          <a:ln/>
        </p:spPr>
      </p:sp>
      <p:sp>
        <p:nvSpPr>
          <p:cNvPr id="27" name="Text 25"/>
          <p:cNvSpPr/>
          <p:nvPr/>
        </p:nvSpPr>
        <p:spPr>
          <a:xfrm>
            <a:off x="9382125" y="6792367"/>
            <a:ext cx="399297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96" kern="0" dirty="0">
                <a:solidFill>
                  <a:srgbClr val="ECEEF2"/>
                </a:solidFill>
                <a:latin typeface="Arial" pitchFamily="34" charset="0"/>
                <a:ea typeface="Arial" pitchFamily="34" charset="-122"/>
                <a:cs typeface="Arial" pitchFamily="34" charset="-120"/>
              </a:rPr>
              <a:t>3,288</a:t>
            </a:r>
            <a:endParaRPr lang="en-US" sz="4800" dirty="0"/>
          </a:p>
        </p:txBody>
      </p:sp>
      <p:sp>
        <p:nvSpPr>
          <p:cNvPr id="28" name="Text 26"/>
          <p:cNvSpPr/>
          <p:nvPr/>
        </p:nvSpPr>
        <p:spPr>
          <a:xfrm>
            <a:off x="9382125" y="7497217"/>
            <a:ext cx="3992975"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UNIQUE DEALS</a:t>
            </a:r>
            <a:endParaRPr lang="en-US" sz="900" dirty="0"/>
          </a:p>
        </p:txBody>
      </p:sp>
      <p:sp>
        <p:nvSpPr>
          <p:cNvPr id="29" name="Shape 27"/>
          <p:cNvSpPr/>
          <p:nvPr/>
        </p:nvSpPr>
        <p:spPr>
          <a:xfrm>
            <a:off x="13258800" y="6792367"/>
            <a:ext cx="9525" cy="838200"/>
          </a:xfrm>
          <a:prstGeom prst="rect">
            <a:avLst/>
          </a:prstGeom>
          <a:solidFill>
            <a:srgbClr val="2A3450"/>
          </a:solidFill>
          <a:ln/>
        </p:spPr>
      </p:sp>
      <p:sp>
        <p:nvSpPr>
          <p:cNvPr id="30" name="Text 28"/>
          <p:cNvSpPr/>
          <p:nvPr/>
        </p:nvSpPr>
        <p:spPr>
          <a:xfrm>
            <a:off x="13496925" y="6792367"/>
            <a:ext cx="399297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spc="-96" kern="0" dirty="0">
                <a:solidFill>
                  <a:srgbClr val="ECEEF2"/>
                </a:solidFill>
                <a:latin typeface="Arial" pitchFamily="34" charset="0"/>
                <a:ea typeface="Arial" pitchFamily="34" charset="-122"/>
                <a:cs typeface="Arial" pitchFamily="34" charset="-120"/>
              </a:rPr>
              <a:t>$176 </a:t>
            </a:r>
            <a:pPr algn="l" indent="0" marL="0">
              <a:lnSpc>
                <a:spcPct val="100000"/>
              </a:lnSpc>
              <a:buNone/>
            </a:pPr>
            <a:r>
              <a:rPr lang="en-US" sz="2700" spc="-96" kern="0" dirty="0">
                <a:solidFill>
                  <a:srgbClr val="7C8493"/>
                </a:solidFill>
                <a:latin typeface="Arial" pitchFamily="34" charset="0"/>
                <a:ea typeface="Arial" pitchFamily="34" charset="-122"/>
                <a:cs typeface="Arial" pitchFamily="34" charset="-120"/>
              </a:rPr>
              <a:t>M</a:t>
            </a:r>
            <a:endParaRPr lang="en-US" sz="4800" dirty="0"/>
          </a:p>
        </p:txBody>
      </p:sp>
      <p:sp>
        <p:nvSpPr>
          <p:cNvPr id="31" name="Text 29"/>
          <p:cNvSpPr/>
          <p:nvPr/>
        </p:nvSpPr>
        <p:spPr>
          <a:xfrm>
            <a:off x="13496925" y="7497217"/>
            <a:ext cx="3992975"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PIPELINE ANALYZED</a:t>
            </a:r>
            <a:endParaRPr lang="en-US" sz="900" dirty="0"/>
          </a:p>
        </p:txBody>
      </p:sp>
      <p:sp>
        <p:nvSpPr>
          <p:cNvPr id="32" name="Text 30"/>
          <p:cNvSpPr/>
          <p:nvPr/>
        </p:nvSpPr>
        <p:spPr>
          <a:xfrm>
            <a:off x="762000" y="9791700"/>
            <a:ext cx="1233488"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01 / COVER</a:t>
            </a:r>
            <a:endParaRPr lang="en-US" sz="900" dirty="0"/>
          </a:p>
        </p:txBody>
      </p:sp>
      <p:sp>
        <p:nvSpPr>
          <p:cNvPr id="33" name="Text 31"/>
          <p:cNvSpPr/>
          <p:nvPr/>
        </p:nvSpPr>
        <p:spPr>
          <a:xfrm>
            <a:off x="15362932" y="9791700"/>
            <a:ext cx="2239268"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MARKETING ANALYTICS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533650"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02 / 21 · EXECUTIVE SUMMARY</a:t>
            </a:r>
            <a:endParaRPr lang="en-US" sz="975" dirty="0"/>
          </a:p>
        </p:txBody>
      </p:sp>
      <p:sp>
        <p:nvSpPr>
          <p:cNvPr id="11" name="Text 9"/>
          <p:cNvSpPr/>
          <p:nvPr/>
        </p:nvSpPr>
        <p:spPr>
          <a:xfrm>
            <a:off x="16706106" y="361950"/>
            <a:ext cx="89609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02</a:t>
            </a:r>
            <a:endParaRPr lang="en-US" sz="1125" dirty="0"/>
          </a:p>
        </p:txBody>
      </p:sp>
      <p:sp>
        <p:nvSpPr>
          <p:cNvPr id="13" name="Text 11"/>
          <p:cNvSpPr/>
          <p:nvPr/>
        </p:nvSpPr>
        <p:spPr>
          <a:xfrm>
            <a:off x="1275308" y="800100"/>
            <a:ext cx="2392263"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EXECUTIVE SUMMARY</a:t>
            </a:r>
            <a:endParaRPr lang="en-US" sz="1125" dirty="0"/>
          </a:p>
        </p:txBody>
      </p:sp>
      <p:sp>
        <p:nvSpPr>
          <p:cNvPr id="14" name="Text 12"/>
          <p:cNvSpPr/>
          <p:nvPr/>
        </p:nvSpPr>
        <p:spPr>
          <a:xfrm>
            <a:off x="914400" y="1171575"/>
            <a:ext cx="16952976" cy="1543645"/>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Top-line performance and the five findings that drive next quarter's budget.</a:t>
            </a:r>
            <a:endParaRPr lang="en-US" sz="5700" dirty="0"/>
          </a:p>
        </p:txBody>
      </p:sp>
      <p:sp>
        <p:nvSpPr>
          <p:cNvPr id="15" name="Shape 13"/>
          <p:cNvSpPr/>
          <p:nvPr/>
        </p:nvSpPr>
        <p:spPr>
          <a:xfrm>
            <a:off x="914400" y="4210645"/>
            <a:ext cx="16459200" cy="9525"/>
          </a:xfrm>
          <a:prstGeom prst="rect">
            <a:avLst/>
          </a:prstGeom>
          <a:solidFill>
            <a:srgbClr val="2A3450"/>
          </a:solidFill>
          <a:ln/>
        </p:spPr>
      </p:sp>
      <p:sp>
        <p:nvSpPr>
          <p:cNvPr id="16" name="Shape 14"/>
          <p:cNvSpPr/>
          <p:nvPr/>
        </p:nvSpPr>
        <p:spPr>
          <a:xfrm>
            <a:off x="914400" y="3134320"/>
            <a:ext cx="16459200" cy="9525"/>
          </a:xfrm>
          <a:prstGeom prst="rect">
            <a:avLst/>
          </a:prstGeom>
          <a:solidFill>
            <a:srgbClr val="2A3450"/>
          </a:solidFill>
          <a:ln/>
        </p:spPr>
      </p:sp>
      <p:sp>
        <p:nvSpPr>
          <p:cNvPr id="17" name="Text 15"/>
          <p:cNvSpPr/>
          <p:nvPr/>
        </p:nvSpPr>
        <p:spPr>
          <a:xfrm>
            <a:off x="1085850" y="3277195"/>
            <a:ext cx="3037347"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TOTAL PIPELINE</a:t>
            </a:r>
            <a:endParaRPr lang="en-US" sz="825" dirty="0"/>
          </a:p>
        </p:txBody>
      </p:sp>
      <p:sp>
        <p:nvSpPr>
          <p:cNvPr id="18" name="Text 16"/>
          <p:cNvSpPr/>
          <p:nvPr/>
        </p:nvSpPr>
        <p:spPr>
          <a:xfrm>
            <a:off x="1085850" y="3524845"/>
            <a:ext cx="3037347"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spc="-57" kern="0" dirty="0">
                <a:solidFill>
                  <a:srgbClr val="ECEEF2"/>
                </a:solidFill>
                <a:latin typeface="Arial" pitchFamily="34" charset="0"/>
                <a:ea typeface="Arial" pitchFamily="34" charset="-122"/>
                <a:cs typeface="Arial" pitchFamily="34" charset="-120"/>
              </a:rPr>
              <a:t>$25.0 </a:t>
            </a:r>
            <a:pPr algn="l" indent="0" marL="0">
              <a:lnSpc>
                <a:spcPct val="100000"/>
              </a:lnSpc>
              <a:buNone/>
            </a:pPr>
            <a:r>
              <a:rPr lang="en-US" sz="2100" spc="-57" kern="0" dirty="0">
                <a:solidFill>
                  <a:srgbClr val="7C8493"/>
                </a:solidFill>
                <a:latin typeface="Arial" pitchFamily="34" charset="0"/>
                <a:ea typeface="Arial" pitchFamily="34" charset="-122"/>
                <a:cs typeface="Arial" pitchFamily="34" charset="-120"/>
              </a:rPr>
              <a:t>M</a:t>
            </a:r>
            <a:endParaRPr lang="en-US" sz="2850" dirty="0"/>
          </a:p>
        </p:txBody>
      </p:sp>
      <p:sp>
        <p:nvSpPr>
          <p:cNvPr id="19" name="Text 17"/>
          <p:cNvSpPr/>
          <p:nvPr/>
        </p:nvSpPr>
        <p:spPr>
          <a:xfrm>
            <a:off x="1085850" y="3943945"/>
            <a:ext cx="3037347"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7C8493"/>
                </a:solidFill>
                <a:latin typeface="Arial" pitchFamily="34" charset="0"/>
                <a:ea typeface="Arial" pitchFamily="34" charset="-122"/>
                <a:cs typeface="Arial" pitchFamily="34" charset="-120"/>
              </a:rPr>
              <a:t>3,288 deals</a:t>
            </a:r>
            <a:endParaRPr lang="en-US" sz="900" dirty="0"/>
          </a:p>
        </p:txBody>
      </p:sp>
      <p:sp>
        <p:nvSpPr>
          <p:cNvPr id="20" name="Shape 18"/>
          <p:cNvSpPr/>
          <p:nvPr/>
        </p:nvSpPr>
        <p:spPr>
          <a:xfrm>
            <a:off x="4206180" y="3143845"/>
            <a:ext cx="9525" cy="1066800"/>
          </a:xfrm>
          <a:prstGeom prst="rect">
            <a:avLst/>
          </a:prstGeom>
          <a:solidFill>
            <a:srgbClr val="2A3450"/>
          </a:solidFill>
          <a:ln/>
        </p:spPr>
      </p:sp>
      <p:sp>
        <p:nvSpPr>
          <p:cNvPr id="21" name="Text 19"/>
          <p:cNvSpPr/>
          <p:nvPr/>
        </p:nvSpPr>
        <p:spPr>
          <a:xfrm>
            <a:off x="4387155" y="3277195"/>
            <a:ext cx="3027536"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WON REVENUE</a:t>
            </a:r>
            <a:endParaRPr lang="en-US" sz="825" dirty="0"/>
          </a:p>
        </p:txBody>
      </p:sp>
      <p:sp>
        <p:nvSpPr>
          <p:cNvPr id="22" name="Text 20"/>
          <p:cNvSpPr/>
          <p:nvPr/>
        </p:nvSpPr>
        <p:spPr>
          <a:xfrm>
            <a:off x="4387155" y="3524845"/>
            <a:ext cx="3027536"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spc="-57" kern="0" dirty="0">
                <a:solidFill>
                  <a:srgbClr val="ECEEF2"/>
                </a:solidFill>
                <a:latin typeface="Arial" pitchFamily="34" charset="0"/>
                <a:ea typeface="Arial" pitchFamily="34" charset="-122"/>
                <a:cs typeface="Arial" pitchFamily="34" charset="-120"/>
              </a:rPr>
              <a:t>$5.4 </a:t>
            </a:r>
            <a:pPr algn="l" indent="0" marL="0">
              <a:lnSpc>
                <a:spcPct val="100000"/>
              </a:lnSpc>
              <a:buNone/>
            </a:pPr>
            <a:r>
              <a:rPr lang="en-US" sz="2100" spc="-57" kern="0" dirty="0">
                <a:solidFill>
                  <a:srgbClr val="7C8493"/>
                </a:solidFill>
                <a:latin typeface="Arial" pitchFamily="34" charset="0"/>
                <a:ea typeface="Arial" pitchFamily="34" charset="-122"/>
                <a:cs typeface="Arial" pitchFamily="34" charset="-120"/>
              </a:rPr>
              <a:t>M</a:t>
            </a:r>
            <a:endParaRPr lang="en-US" sz="2850" dirty="0"/>
          </a:p>
        </p:txBody>
      </p:sp>
      <p:sp>
        <p:nvSpPr>
          <p:cNvPr id="23" name="Text 21"/>
          <p:cNvSpPr/>
          <p:nvPr/>
        </p:nvSpPr>
        <p:spPr>
          <a:xfrm>
            <a:off x="4387155" y="3943945"/>
            <a:ext cx="3027536"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88D1B0"/>
                </a:solidFill>
                <a:latin typeface="Arial" pitchFamily="34" charset="0"/>
                <a:ea typeface="Arial" pitchFamily="34" charset="-122"/>
                <a:cs typeface="Arial" pitchFamily="34" charset="-120"/>
              </a:rPr>
              <a:t>+ 32.6% win rate</a:t>
            </a:r>
            <a:endParaRPr lang="en-US" sz="900" dirty="0"/>
          </a:p>
        </p:txBody>
      </p:sp>
      <p:sp>
        <p:nvSpPr>
          <p:cNvPr id="24" name="Shape 22"/>
          <p:cNvSpPr/>
          <p:nvPr/>
        </p:nvSpPr>
        <p:spPr>
          <a:xfrm>
            <a:off x="7497961" y="3143845"/>
            <a:ext cx="9525" cy="1066800"/>
          </a:xfrm>
          <a:prstGeom prst="rect">
            <a:avLst/>
          </a:prstGeom>
          <a:solidFill>
            <a:srgbClr val="2A3450"/>
          </a:solidFill>
          <a:ln/>
        </p:spPr>
      </p:sp>
      <p:sp>
        <p:nvSpPr>
          <p:cNvPr id="25" name="Text 23"/>
          <p:cNvSpPr/>
          <p:nvPr/>
        </p:nvSpPr>
        <p:spPr>
          <a:xfrm>
            <a:off x="7678936" y="3277195"/>
            <a:ext cx="3027689"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MKTG-SOURCED</a:t>
            </a:r>
            <a:endParaRPr lang="en-US" sz="825" dirty="0"/>
          </a:p>
        </p:txBody>
      </p:sp>
      <p:sp>
        <p:nvSpPr>
          <p:cNvPr id="26" name="Text 24"/>
          <p:cNvSpPr/>
          <p:nvPr/>
        </p:nvSpPr>
        <p:spPr>
          <a:xfrm>
            <a:off x="7678936" y="3524845"/>
            <a:ext cx="3027689"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spc="-57" kern="0" dirty="0">
                <a:solidFill>
                  <a:srgbClr val="ECEEF2"/>
                </a:solidFill>
                <a:latin typeface="Arial" pitchFamily="34" charset="0"/>
                <a:ea typeface="Arial" pitchFamily="34" charset="-122"/>
                <a:cs typeface="Arial" pitchFamily="34" charset="-120"/>
              </a:rPr>
              <a:t>$4.2 </a:t>
            </a:r>
            <a:pPr algn="l" indent="0" marL="0">
              <a:lnSpc>
                <a:spcPct val="100000"/>
              </a:lnSpc>
              <a:buNone/>
            </a:pPr>
            <a:r>
              <a:rPr lang="en-US" sz="2100" spc="-57" kern="0" dirty="0">
                <a:solidFill>
                  <a:srgbClr val="7C8493"/>
                </a:solidFill>
                <a:latin typeface="Arial" pitchFamily="34" charset="0"/>
                <a:ea typeface="Arial" pitchFamily="34" charset="-122"/>
                <a:cs typeface="Arial" pitchFamily="34" charset="-120"/>
              </a:rPr>
              <a:t>M</a:t>
            </a:r>
            <a:endParaRPr lang="en-US" sz="2850" dirty="0"/>
          </a:p>
        </p:txBody>
      </p:sp>
      <p:sp>
        <p:nvSpPr>
          <p:cNvPr id="27" name="Text 25"/>
          <p:cNvSpPr/>
          <p:nvPr/>
        </p:nvSpPr>
        <p:spPr>
          <a:xfrm>
            <a:off x="7678936" y="3943945"/>
            <a:ext cx="3027689"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7C8493"/>
                </a:solidFill>
                <a:latin typeface="Arial" pitchFamily="34" charset="0"/>
                <a:ea typeface="Arial" pitchFamily="34" charset="-122"/>
                <a:cs typeface="Arial" pitchFamily="34" charset="-120"/>
              </a:rPr>
              <a:t>16.8% of pipeline</a:t>
            </a:r>
            <a:endParaRPr lang="en-US" sz="900" dirty="0"/>
          </a:p>
        </p:txBody>
      </p:sp>
      <p:sp>
        <p:nvSpPr>
          <p:cNvPr id="28" name="Shape 26"/>
          <p:cNvSpPr/>
          <p:nvPr/>
        </p:nvSpPr>
        <p:spPr>
          <a:xfrm>
            <a:off x="10789890" y="3143845"/>
            <a:ext cx="9525" cy="1066800"/>
          </a:xfrm>
          <a:prstGeom prst="rect">
            <a:avLst/>
          </a:prstGeom>
          <a:solidFill>
            <a:srgbClr val="2A3450"/>
          </a:solidFill>
          <a:ln/>
        </p:spPr>
      </p:sp>
      <p:sp>
        <p:nvSpPr>
          <p:cNvPr id="29" name="Text 27"/>
          <p:cNvSpPr/>
          <p:nvPr/>
        </p:nvSpPr>
        <p:spPr>
          <a:xfrm>
            <a:off x="10970865" y="3277195"/>
            <a:ext cx="3027536"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MKTG-INFLUENCED</a:t>
            </a:r>
            <a:endParaRPr lang="en-US" sz="825" dirty="0"/>
          </a:p>
        </p:txBody>
      </p:sp>
      <p:sp>
        <p:nvSpPr>
          <p:cNvPr id="30" name="Text 28"/>
          <p:cNvSpPr/>
          <p:nvPr/>
        </p:nvSpPr>
        <p:spPr>
          <a:xfrm>
            <a:off x="10970865" y="3524845"/>
            <a:ext cx="3027536"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spc="-57" kern="0" dirty="0">
                <a:solidFill>
                  <a:srgbClr val="ECEEF2"/>
                </a:solidFill>
                <a:latin typeface="Arial" pitchFamily="34" charset="0"/>
                <a:ea typeface="Arial" pitchFamily="34" charset="-122"/>
                <a:cs typeface="Arial" pitchFamily="34" charset="-120"/>
              </a:rPr>
              <a:t>$6.5 </a:t>
            </a:r>
            <a:pPr algn="l" indent="0" marL="0">
              <a:lnSpc>
                <a:spcPct val="100000"/>
              </a:lnSpc>
              <a:buNone/>
            </a:pPr>
            <a:r>
              <a:rPr lang="en-US" sz="2100" spc="-57" kern="0" dirty="0">
                <a:solidFill>
                  <a:srgbClr val="7C8493"/>
                </a:solidFill>
                <a:latin typeface="Arial" pitchFamily="34" charset="0"/>
                <a:ea typeface="Arial" pitchFamily="34" charset="-122"/>
                <a:cs typeface="Arial" pitchFamily="34" charset="-120"/>
              </a:rPr>
              <a:t>M</a:t>
            </a:r>
            <a:endParaRPr lang="en-US" sz="2850" dirty="0"/>
          </a:p>
        </p:txBody>
      </p:sp>
      <p:sp>
        <p:nvSpPr>
          <p:cNvPr id="31" name="Text 29"/>
          <p:cNvSpPr/>
          <p:nvPr/>
        </p:nvSpPr>
        <p:spPr>
          <a:xfrm>
            <a:off x="10970865" y="3943945"/>
            <a:ext cx="3027536"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7C8493"/>
                </a:solidFill>
                <a:latin typeface="Arial" pitchFamily="34" charset="0"/>
                <a:ea typeface="Arial" pitchFamily="34" charset="-122"/>
                <a:cs typeface="Arial" pitchFamily="34" charset="-120"/>
              </a:rPr>
              <a:t>1.5× sourced</a:t>
            </a:r>
            <a:endParaRPr lang="en-US" sz="900" dirty="0"/>
          </a:p>
        </p:txBody>
      </p:sp>
      <p:sp>
        <p:nvSpPr>
          <p:cNvPr id="32" name="Shape 30"/>
          <p:cNvSpPr/>
          <p:nvPr/>
        </p:nvSpPr>
        <p:spPr>
          <a:xfrm>
            <a:off x="14081671" y="3143845"/>
            <a:ext cx="9525" cy="1066800"/>
          </a:xfrm>
          <a:prstGeom prst="rect">
            <a:avLst/>
          </a:prstGeom>
          <a:solidFill>
            <a:srgbClr val="2A3450"/>
          </a:solidFill>
          <a:ln/>
        </p:spPr>
      </p:sp>
      <p:sp>
        <p:nvSpPr>
          <p:cNvPr id="33" name="Text 31"/>
          <p:cNvSpPr/>
          <p:nvPr/>
        </p:nvSpPr>
        <p:spPr>
          <a:xfrm>
            <a:off x="14262646" y="3277195"/>
            <a:ext cx="3027689"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WIN RATE</a:t>
            </a:r>
            <a:endParaRPr lang="en-US" sz="825" dirty="0"/>
          </a:p>
        </p:txBody>
      </p:sp>
      <p:sp>
        <p:nvSpPr>
          <p:cNvPr id="34" name="Text 32"/>
          <p:cNvSpPr/>
          <p:nvPr/>
        </p:nvSpPr>
        <p:spPr>
          <a:xfrm>
            <a:off x="14262646" y="3524845"/>
            <a:ext cx="3027689" cy="400050"/>
          </a:xfrm>
          <a:prstGeom prst="rect">
            <a:avLst/>
          </a:prstGeom>
          <a:noFill/>
          <a:ln/>
        </p:spPr>
        <p:txBody>
          <a:bodyPr wrap="square" lIns="25400" tIns="25400" rIns="25400" bIns="25400" rtlCol="0" anchor="t">
            <a:normAutofit/>
          </a:bodyPr>
          <a:lstStyle/>
          <a:p>
            <a:pPr algn="l" indent="0" marL="0">
              <a:lnSpc>
                <a:spcPct val="100000"/>
              </a:lnSpc>
              <a:buNone/>
            </a:pPr>
            <a:r>
              <a:rPr lang="en-US" sz="2850" spc="-57" kern="0" dirty="0">
                <a:solidFill>
                  <a:srgbClr val="ECEEF2"/>
                </a:solidFill>
                <a:latin typeface="Arial" pitchFamily="34" charset="0"/>
                <a:ea typeface="Arial" pitchFamily="34" charset="-122"/>
                <a:cs typeface="Arial" pitchFamily="34" charset="-120"/>
              </a:rPr>
              <a:t>32.6 </a:t>
            </a:r>
            <a:pPr algn="l" indent="0" marL="0">
              <a:lnSpc>
                <a:spcPct val="100000"/>
              </a:lnSpc>
              <a:buNone/>
            </a:pPr>
            <a:r>
              <a:rPr lang="en-US" sz="2100" spc="-57" kern="0" dirty="0">
                <a:solidFill>
                  <a:srgbClr val="7C8493"/>
                </a:solidFill>
                <a:latin typeface="Arial" pitchFamily="34" charset="0"/>
                <a:ea typeface="Arial" pitchFamily="34" charset="-122"/>
                <a:cs typeface="Arial" pitchFamily="34" charset="-120"/>
              </a:rPr>
              <a:t>%</a:t>
            </a:r>
            <a:endParaRPr lang="en-US" sz="2850" dirty="0"/>
          </a:p>
        </p:txBody>
      </p:sp>
      <p:sp>
        <p:nvSpPr>
          <p:cNvPr id="35" name="Text 33"/>
          <p:cNvSpPr/>
          <p:nvPr/>
        </p:nvSpPr>
        <p:spPr>
          <a:xfrm>
            <a:off x="14262646" y="3943945"/>
            <a:ext cx="3027689"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7C8493"/>
                </a:solidFill>
                <a:latin typeface="Arial" pitchFamily="34" charset="0"/>
                <a:ea typeface="Arial" pitchFamily="34" charset="-122"/>
                <a:cs typeface="Arial" pitchFamily="34" charset="-120"/>
              </a:rPr>
              <a:t>all channels</a:t>
            </a:r>
            <a:endParaRPr lang="en-US" sz="900" dirty="0"/>
          </a:p>
        </p:txBody>
      </p:sp>
      <p:sp>
        <p:nvSpPr>
          <p:cNvPr id="36" name="Text 34"/>
          <p:cNvSpPr/>
          <p:nvPr/>
        </p:nvSpPr>
        <p:spPr>
          <a:xfrm>
            <a:off x="914400" y="4496395"/>
            <a:ext cx="301228" cy="310455"/>
          </a:xfrm>
          <a:prstGeom prst="rect">
            <a:avLst/>
          </a:prstGeom>
          <a:noFill/>
          <a:ln/>
        </p:spPr>
        <p:txBody>
          <a:bodyPr wrap="square" lIns="25400" tIns="25400" rIns="25400" bIns="25400" rtlCol="0" anchor="t">
            <a:normAutofit/>
          </a:bodyPr>
          <a:lstStyle/>
          <a:p>
            <a:pPr algn="l" indent="0" marL="0">
              <a:lnSpc>
                <a:spcPct val="140000"/>
              </a:lnSpc>
              <a:buNone/>
            </a:pPr>
            <a:r>
              <a:rPr lang="en-US" sz="1350" spc="135" kern="0" dirty="0">
                <a:solidFill>
                  <a:srgbClr val="82A6D9"/>
                </a:solidFill>
                <a:latin typeface="Arial" pitchFamily="34" charset="0"/>
                <a:ea typeface="Arial" pitchFamily="34" charset="-122"/>
                <a:cs typeface="Arial" pitchFamily="34" charset="-120"/>
              </a:rPr>
              <a:t>01</a:t>
            </a:r>
            <a:endParaRPr lang="en-US" sz="1350" dirty="0"/>
          </a:p>
        </p:txBody>
      </p:sp>
      <p:sp>
        <p:nvSpPr>
          <p:cNvPr id="37" name="Text 35"/>
          <p:cNvSpPr/>
          <p:nvPr/>
        </p:nvSpPr>
        <p:spPr>
          <a:xfrm>
            <a:off x="1272778" y="4448770"/>
            <a:ext cx="8472809"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ECEEF2"/>
                </a:solidFill>
                <a:latin typeface="Arial" pitchFamily="34" charset="0"/>
                <a:ea typeface="Arial" pitchFamily="34" charset="-122"/>
                <a:cs typeface="Arial" pitchFamily="34" charset="-120"/>
              </a:rPr>
              <a:t>6sense converts; Email creates awareness. </a:t>
            </a:r>
            <a:pPr algn="l" indent="0" marL="0">
              <a:lnSpc>
                <a:spcPct val="140000"/>
              </a:lnSpc>
              <a:buNone/>
            </a:pPr>
            <a:r>
              <a:rPr lang="en-US" sz="1800" dirty="0">
                <a:solidFill>
                  <a:srgbClr val="B7BCC8"/>
                </a:solidFill>
                <a:latin typeface="Arial" pitchFamily="34" charset="0"/>
                <a:ea typeface="Arial" pitchFamily="34" charset="-122"/>
                <a:cs typeface="Arial" pitchFamily="34" charset="-120"/>
              </a:rPr>
              <a:t>Last-Touch $3.3M; First-Touch $4.0M.</a:t>
            </a:r>
            <a:endParaRPr lang="en-US" sz="1800" dirty="0"/>
          </a:p>
        </p:txBody>
      </p:sp>
      <p:sp>
        <p:nvSpPr>
          <p:cNvPr id="38" name="Text 36"/>
          <p:cNvSpPr/>
          <p:nvPr/>
        </p:nvSpPr>
        <p:spPr>
          <a:xfrm>
            <a:off x="914400" y="4949726"/>
            <a:ext cx="301228" cy="310455"/>
          </a:xfrm>
          <a:prstGeom prst="rect">
            <a:avLst/>
          </a:prstGeom>
          <a:noFill/>
          <a:ln/>
        </p:spPr>
        <p:txBody>
          <a:bodyPr wrap="square" lIns="25400" tIns="25400" rIns="25400" bIns="25400" rtlCol="0" anchor="t">
            <a:normAutofit/>
          </a:bodyPr>
          <a:lstStyle/>
          <a:p>
            <a:pPr algn="l" indent="0" marL="0">
              <a:lnSpc>
                <a:spcPct val="140000"/>
              </a:lnSpc>
              <a:buNone/>
            </a:pPr>
            <a:r>
              <a:rPr lang="en-US" sz="1350" spc="135" kern="0" dirty="0">
                <a:solidFill>
                  <a:srgbClr val="82A6D9"/>
                </a:solidFill>
                <a:latin typeface="Arial" pitchFamily="34" charset="0"/>
                <a:ea typeface="Arial" pitchFamily="34" charset="-122"/>
                <a:cs typeface="Arial" pitchFamily="34" charset="-120"/>
              </a:rPr>
              <a:t>02</a:t>
            </a:r>
            <a:endParaRPr lang="en-US" sz="1350" dirty="0"/>
          </a:p>
        </p:txBody>
      </p:sp>
      <p:sp>
        <p:nvSpPr>
          <p:cNvPr id="39" name="Text 37"/>
          <p:cNvSpPr/>
          <p:nvPr/>
        </p:nvSpPr>
        <p:spPr>
          <a:xfrm>
            <a:off x="1272778" y="4902101"/>
            <a:ext cx="8614605"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ECEEF2"/>
                </a:solidFill>
                <a:latin typeface="Arial" pitchFamily="34" charset="0"/>
                <a:ea typeface="Arial" pitchFamily="34" charset="-122"/>
                <a:cs typeface="Arial" pitchFamily="34" charset="-120"/>
              </a:rPr>
              <a:t>Use Linear &amp; Time-Decay for budget decisions. </a:t>
            </a:r>
            <a:pPr algn="l" indent="0" marL="0">
              <a:lnSpc>
                <a:spcPct val="140000"/>
              </a:lnSpc>
              <a:buNone/>
            </a:pPr>
            <a:r>
              <a:rPr lang="en-US" sz="1800" dirty="0">
                <a:solidFill>
                  <a:srgbClr val="B7BCC8"/>
                </a:solidFill>
                <a:latin typeface="Arial" pitchFamily="34" charset="0"/>
                <a:ea typeface="Arial" pitchFamily="34" charset="-122"/>
                <a:cs typeface="Arial" pitchFamily="34" charset="-120"/>
              </a:rPr>
              <a:t>They balance the full buyer journey.</a:t>
            </a:r>
            <a:endParaRPr lang="en-US" sz="1800" dirty="0"/>
          </a:p>
        </p:txBody>
      </p:sp>
      <p:sp>
        <p:nvSpPr>
          <p:cNvPr id="40" name="Text 38"/>
          <p:cNvSpPr/>
          <p:nvPr/>
        </p:nvSpPr>
        <p:spPr>
          <a:xfrm>
            <a:off x="914400" y="5403056"/>
            <a:ext cx="301228" cy="310455"/>
          </a:xfrm>
          <a:prstGeom prst="rect">
            <a:avLst/>
          </a:prstGeom>
          <a:noFill/>
          <a:ln/>
        </p:spPr>
        <p:txBody>
          <a:bodyPr wrap="square" lIns="25400" tIns="25400" rIns="25400" bIns="25400" rtlCol="0" anchor="t">
            <a:normAutofit/>
          </a:bodyPr>
          <a:lstStyle/>
          <a:p>
            <a:pPr algn="l" indent="0" marL="0">
              <a:lnSpc>
                <a:spcPct val="140000"/>
              </a:lnSpc>
              <a:buNone/>
            </a:pPr>
            <a:r>
              <a:rPr lang="en-US" sz="1350" spc="135" kern="0" dirty="0">
                <a:solidFill>
                  <a:srgbClr val="82A6D9"/>
                </a:solidFill>
                <a:latin typeface="Arial" pitchFamily="34" charset="0"/>
                <a:ea typeface="Arial" pitchFamily="34" charset="-122"/>
                <a:cs typeface="Arial" pitchFamily="34" charset="-120"/>
              </a:rPr>
              <a:t>03</a:t>
            </a:r>
            <a:endParaRPr lang="en-US" sz="1350" dirty="0"/>
          </a:p>
        </p:txBody>
      </p:sp>
      <p:sp>
        <p:nvSpPr>
          <p:cNvPr id="41" name="Text 39"/>
          <p:cNvSpPr/>
          <p:nvPr/>
        </p:nvSpPr>
        <p:spPr>
          <a:xfrm>
            <a:off x="1272778" y="5355431"/>
            <a:ext cx="704810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ECEEF2"/>
                </a:solidFill>
                <a:latin typeface="Arial" pitchFamily="34" charset="0"/>
                <a:ea typeface="Arial" pitchFamily="34" charset="-122"/>
                <a:cs typeface="Arial" pitchFamily="34" charset="-120"/>
              </a:rPr>
              <a:t>Enterprise + Strong Fit win faster. </a:t>
            </a:r>
            <a:pPr algn="l" indent="0" marL="0">
              <a:lnSpc>
                <a:spcPct val="140000"/>
              </a:lnSpc>
              <a:buNone/>
            </a:pPr>
            <a:r>
              <a:rPr lang="en-US" sz="1800" dirty="0">
                <a:solidFill>
                  <a:srgbClr val="B7BCC8"/>
                </a:solidFill>
                <a:latin typeface="Arial" pitchFamily="34" charset="0"/>
                <a:ea typeface="Arial" pitchFamily="34" charset="-122"/>
                <a:cs typeface="Arial" pitchFamily="34" charset="-120"/>
              </a:rPr>
              <a:t>Concentrate 6sense budget there.</a:t>
            </a:r>
            <a:endParaRPr lang="en-US" sz="1800" dirty="0"/>
          </a:p>
        </p:txBody>
      </p:sp>
      <p:sp>
        <p:nvSpPr>
          <p:cNvPr id="42" name="Text 40"/>
          <p:cNvSpPr/>
          <p:nvPr/>
        </p:nvSpPr>
        <p:spPr>
          <a:xfrm>
            <a:off x="914400" y="5856387"/>
            <a:ext cx="301228" cy="310455"/>
          </a:xfrm>
          <a:prstGeom prst="rect">
            <a:avLst/>
          </a:prstGeom>
          <a:noFill/>
          <a:ln/>
        </p:spPr>
        <p:txBody>
          <a:bodyPr wrap="square" lIns="25400" tIns="25400" rIns="25400" bIns="25400" rtlCol="0" anchor="t">
            <a:normAutofit/>
          </a:bodyPr>
          <a:lstStyle/>
          <a:p>
            <a:pPr algn="l" indent="0" marL="0">
              <a:lnSpc>
                <a:spcPct val="140000"/>
              </a:lnSpc>
              <a:buNone/>
            </a:pPr>
            <a:r>
              <a:rPr lang="en-US" sz="1350" spc="135" kern="0" dirty="0">
                <a:solidFill>
                  <a:srgbClr val="82A6D9"/>
                </a:solidFill>
                <a:latin typeface="Arial" pitchFamily="34" charset="0"/>
                <a:ea typeface="Arial" pitchFamily="34" charset="-122"/>
                <a:cs typeface="Arial" pitchFamily="34" charset="-120"/>
              </a:rPr>
              <a:t>04</a:t>
            </a:r>
            <a:endParaRPr lang="en-US" sz="1350" dirty="0"/>
          </a:p>
        </p:txBody>
      </p:sp>
      <p:sp>
        <p:nvSpPr>
          <p:cNvPr id="43" name="Text 41"/>
          <p:cNvSpPr/>
          <p:nvPr/>
        </p:nvSpPr>
        <p:spPr>
          <a:xfrm>
            <a:off x="1272778" y="5808762"/>
            <a:ext cx="7094092"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ECEEF2"/>
                </a:solidFill>
                <a:latin typeface="Arial" pitchFamily="34" charset="0"/>
                <a:ea typeface="Arial" pitchFamily="34" charset="-122"/>
                <a:cs typeface="Arial" pitchFamily="34" charset="-120"/>
              </a:rPr>
              <a:t>67.9% of target accounts are unreached. </a:t>
            </a:r>
            <a:pPr algn="l" indent="0" marL="0">
              <a:lnSpc>
                <a:spcPct val="140000"/>
              </a:lnSpc>
              <a:buNone/>
            </a:pPr>
            <a:r>
              <a:rPr lang="en-US" sz="1800" dirty="0">
                <a:solidFill>
                  <a:srgbClr val="B7BCC8"/>
                </a:solidFill>
                <a:latin typeface="Arial" pitchFamily="34" charset="0"/>
                <a:ea typeface="Arial" pitchFamily="34" charset="-122"/>
                <a:cs typeface="Arial" pitchFamily="34" charset="-120"/>
              </a:rPr>
              <a:t>Biggest single growth lever.</a:t>
            </a:r>
            <a:endParaRPr lang="en-US" sz="1800" dirty="0"/>
          </a:p>
        </p:txBody>
      </p:sp>
      <p:sp>
        <p:nvSpPr>
          <p:cNvPr id="44" name="Text 42"/>
          <p:cNvSpPr/>
          <p:nvPr/>
        </p:nvSpPr>
        <p:spPr>
          <a:xfrm>
            <a:off x="10328523" y="4639270"/>
            <a:ext cx="7020971"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RECOMMENDATION</a:t>
            </a:r>
            <a:endParaRPr lang="en-US" sz="900" dirty="0"/>
          </a:p>
        </p:txBody>
      </p:sp>
      <p:sp>
        <p:nvSpPr>
          <p:cNvPr id="45" name="Text 43"/>
          <p:cNvSpPr/>
          <p:nvPr/>
        </p:nvSpPr>
        <p:spPr>
          <a:xfrm>
            <a:off x="10328523" y="4867870"/>
            <a:ext cx="7020971" cy="595610"/>
          </a:xfrm>
          <a:prstGeom prst="rect">
            <a:avLst/>
          </a:prstGeom>
          <a:noFill/>
          <a:ln/>
        </p:spPr>
        <p:txBody>
          <a:bodyPr wrap="square" lIns="25400" tIns="25400" rIns="25400" bIns="25400" rtlCol="0" anchor="t">
            <a:normAutofit/>
          </a:bodyPr>
          <a:lstStyle/>
          <a:p>
            <a:pPr algn="l" indent="0" marL="0">
              <a:lnSpc>
                <a:spcPct val="122000"/>
              </a:lnSpc>
              <a:buNone/>
            </a:pPr>
            <a:r>
              <a:rPr lang="en-US" sz="1800" spc="-27" kern="0" dirty="0">
                <a:solidFill>
                  <a:srgbClr val="ECEEF2"/>
                </a:solidFill>
                <a:latin typeface="Arial" pitchFamily="34" charset="0"/>
                <a:ea typeface="Arial" pitchFamily="34" charset="-122"/>
                <a:cs typeface="Arial" pitchFamily="34" charset="-120"/>
              </a:rPr>
              <a:t>Increase 6sense display </a:t>
            </a:r>
            <a:pPr algn="l" indent="0" marL="0">
              <a:lnSpc>
                <a:spcPct val="122000"/>
              </a:lnSpc>
              <a:buNone/>
            </a:pPr>
            <a:r>
              <a:rPr lang="en-US" sz="1800" spc="-27" kern="0" dirty="0">
                <a:solidFill>
                  <a:srgbClr val="82A6D9"/>
                </a:solidFill>
                <a:latin typeface="Arial" pitchFamily="34" charset="0"/>
                <a:ea typeface="Arial" pitchFamily="34" charset="-122"/>
                <a:cs typeface="Arial" pitchFamily="34" charset="-120"/>
              </a:rPr>
              <a:t>+30%</a:t>
            </a:r>
            <a:pPr algn="l" indent="0" marL="0">
              <a:lnSpc>
                <a:spcPct val="122000"/>
              </a:lnSpc>
              <a:buNone/>
            </a:pPr>
            <a:r>
              <a:rPr lang="en-US" sz="1800" spc="-27" kern="0" dirty="0">
                <a:solidFill>
                  <a:srgbClr val="ECEEF2"/>
                </a:solidFill>
                <a:latin typeface="Arial" pitchFamily="34" charset="0"/>
                <a:ea typeface="Arial" pitchFamily="34" charset="-122"/>
                <a:cs typeface="Arial" pitchFamily="34" charset="-120"/>
              </a:rPr>
              <a:t>, email nurture </a:t>
            </a:r>
            <a:pPr algn="l" indent="0" marL="0">
              <a:lnSpc>
                <a:spcPct val="122000"/>
              </a:lnSpc>
              <a:buNone/>
            </a:pPr>
            <a:r>
              <a:rPr lang="en-US" sz="1800" spc="-27" kern="0" dirty="0">
                <a:solidFill>
                  <a:srgbClr val="82A6D9"/>
                </a:solidFill>
                <a:latin typeface="Arial" pitchFamily="34" charset="0"/>
                <a:ea typeface="Arial" pitchFamily="34" charset="-122"/>
                <a:cs typeface="Arial" pitchFamily="34" charset="-120"/>
              </a:rPr>
              <a:t>+20% </a:t>
            </a:r>
            <a:pPr algn="l" indent="0" marL="0">
              <a:lnSpc>
                <a:spcPct val="122000"/>
              </a:lnSpc>
              <a:buNone/>
            </a:pPr>
            <a:r>
              <a:rPr lang="en-US" sz="1800" spc="-27" kern="0" dirty="0">
                <a:solidFill>
                  <a:srgbClr val="ECEEF2"/>
                </a:solidFill>
                <a:latin typeface="Arial" pitchFamily="34" charset="0"/>
                <a:ea typeface="Arial" pitchFamily="34" charset="-122"/>
                <a:cs typeface="Arial" pitchFamily="34" charset="-120"/>
              </a:rPr>
              <a:t>; reduce low-ROI channels.</a:t>
            </a:r>
            <a:endParaRPr lang="en-US" sz="1800" dirty="0"/>
          </a:p>
        </p:txBody>
      </p:sp>
      <p:sp>
        <p:nvSpPr>
          <p:cNvPr id="46" name="Text 44"/>
          <p:cNvSpPr/>
          <p:nvPr/>
        </p:nvSpPr>
        <p:spPr>
          <a:xfrm>
            <a:off x="10328523" y="5539680"/>
            <a:ext cx="7020971" cy="228600"/>
          </a:xfrm>
          <a:prstGeom prst="rect">
            <a:avLst/>
          </a:prstGeom>
          <a:noFill/>
          <a:ln/>
        </p:spPr>
        <p:txBody>
          <a:bodyPr wrap="square" lIns="25400" tIns="25400" rIns="25400" bIns="25400" rtlCol="0" anchor="t">
            <a:normAutofit/>
          </a:bodyPr>
          <a:lstStyle/>
          <a:p>
            <a:pPr algn="l" indent="0" marL="0">
              <a:buNone/>
            </a:pPr>
            <a:r>
              <a:rPr lang="en-US" sz="1275" spc="204" kern="0" dirty="0">
                <a:solidFill>
                  <a:srgbClr val="82A6D9"/>
                </a:solidFill>
                <a:latin typeface="Arial" pitchFamily="34" charset="0"/>
                <a:ea typeface="Arial" pitchFamily="34" charset="-122"/>
                <a:cs typeface="Arial" pitchFamily="34" charset="-120"/>
              </a:rPr>
              <a:t>EST. PIPELINE LIFT +15-25%</a:t>
            </a:r>
            <a:endParaRPr lang="en-US" sz="1275" dirty="0"/>
          </a:p>
        </p:txBody>
      </p:sp>
      <p:sp>
        <p:nvSpPr>
          <p:cNvPr id="47" name="Text 45"/>
          <p:cNvSpPr/>
          <p:nvPr/>
        </p:nvSpPr>
        <p:spPr>
          <a:xfrm>
            <a:off x="762000" y="9791700"/>
            <a:ext cx="1445716"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02 / SUMMARY</a:t>
            </a:r>
            <a:endParaRPr lang="en-US" sz="900" dirty="0"/>
          </a:p>
        </p:txBody>
      </p:sp>
      <p:sp>
        <p:nvSpPr>
          <p:cNvPr id="48" name="Text 46"/>
          <p:cNvSpPr/>
          <p:nvPr/>
        </p:nvSpPr>
        <p:spPr>
          <a:xfrm>
            <a:off x="15104418" y="9791700"/>
            <a:ext cx="2497782"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SOURCE: 6 ATTRIBUTION MODELS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622536"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03 / 21 · DATA &amp; METHODOLOGY</a:t>
            </a:r>
            <a:endParaRPr lang="en-US" sz="975" dirty="0"/>
          </a:p>
        </p:txBody>
      </p:sp>
      <p:sp>
        <p:nvSpPr>
          <p:cNvPr id="11" name="Text 9"/>
          <p:cNvSpPr/>
          <p:nvPr/>
        </p:nvSpPr>
        <p:spPr>
          <a:xfrm>
            <a:off x="16706106" y="361950"/>
            <a:ext cx="89609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03</a:t>
            </a:r>
            <a:endParaRPr lang="en-US" sz="1125" dirty="0"/>
          </a:p>
        </p:txBody>
      </p:sp>
      <p:sp>
        <p:nvSpPr>
          <p:cNvPr id="13" name="Text 11"/>
          <p:cNvSpPr/>
          <p:nvPr/>
        </p:nvSpPr>
        <p:spPr>
          <a:xfrm>
            <a:off x="1275308" y="800100"/>
            <a:ext cx="729109"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DATA</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Eight datasets, joined by company domain.</a:t>
            </a:r>
            <a:endParaRPr lang="en-US" sz="5700" dirty="0"/>
          </a:p>
        </p:txBody>
      </p:sp>
      <p:sp>
        <p:nvSpPr>
          <p:cNvPr id="15" name="Text 13"/>
          <p:cNvSpPr/>
          <p:nvPr/>
        </p:nvSpPr>
        <p:spPr>
          <a:xfrm>
            <a:off x="914400" y="2095798"/>
            <a:ext cx="14716125" cy="742057"/>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Touchpoint mapping → attribution models → insights. The opportunity log alone deduplicated from 16,421 rows to 3,288 unique deals.</a:t>
            </a:r>
            <a:endParaRPr lang="en-US" sz="2100" dirty="0"/>
          </a:p>
        </p:txBody>
      </p:sp>
      <p:sp>
        <p:nvSpPr>
          <p:cNvPr id="16" name="Shape 14"/>
          <p:cNvSpPr/>
          <p:nvPr/>
        </p:nvSpPr>
        <p:spPr>
          <a:xfrm>
            <a:off x="914400" y="3480792"/>
            <a:ext cx="3948708" cy="9525"/>
          </a:xfrm>
          <a:prstGeom prst="rect">
            <a:avLst/>
          </a:prstGeom>
          <a:solidFill>
            <a:srgbClr val="2A3450"/>
          </a:solidFill>
          <a:ln/>
        </p:spPr>
      </p:sp>
      <p:sp>
        <p:nvSpPr>
          <p:cNvPr id="17" name="Text 15"/>
          <p:cNvSpPr/>
          <p:nvPr/>
        </p:nvSpPr>
        <p:spPr>
          <a:xfrm>
            <a:off x="1028700" y="3237905"/>
            <a:ext cx="3838569" cy="166688"/>
          </a:xfrm>
          <a:prstGeom prst="rect">
            <a:avLst/>
          </a:prstGeom>
          <a:noFill/>
          <a:ln/>
        </p:spPr>
        <p:txBody>
          <a:bodyPr wrap="square" lIns="25400" tIns="25400" rIns="25400" bIns="25400" rtlCol="0" anchor="ctr">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DATASET</a:t>
            </a:r>
            <a:endParaRPr lang="en-US" sz="825" dirty="0"/>
          </a:p>
        </p:txBody>
      </p:sp>
      <p:sp>
        <p:nvSpPr>
          <p:cNvPr id="18" name="Shape 16"/>
          <p:cNvSpPr/>
          <p:nvPr/>
        </p:nvSpPr>
        <p:spPr>
          <a:xfrm>
            <a:off x="4863108" y="3480792"/>
            <a:ext cx="2448520" cy="9525"/>
          </a:xfrm>
          <a:prstGeom prst="rect">
            <a:avLst/>
          </a:prstGeom>
          <a:solidFill>
            <a:srgbClr val="2A3450"/>
          </a:solidFill>
          <a:ln/>
        </p:spPr>
      </p:sp>
      <p:sp>
        <p:nvSpPr>
          <p:cNvPr id="19" name="Text 17"/>
          <p:cNvSpPr/>
          <p:nvPr/>
        </p:nvSpPr>
        <p:spPr>
          <a:xfrm>
            <a:off x="4901208" y="3237905"/>
            <a:ext cx="2296120"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ROWS</a:t>
            </a:r>
            <a:endParaRPr lang="en-US" sz="825" dirty="0"/>
          </a:p>
        </p:txBody>
      </p:sp>
      <p:sp>
        <p:nvSpPr>
          <p:cNvPr id="20" name="Shape 18"/>
          <p:cNvSpPr/>
          <p:nvPr/>
        </p:nvSpPr>
        <p:spPr>
          <a:xfrm>
            <a:off x="7311628" y="3480792"/>
            <a:ext cx="2510730" cy="9525"/>
          </a:xfrm>
          <a:prstGeom prst="rect">
            <a:avLst/>
          </a:prstGeom>
          <a:solidFill>
            <a:srgbClr val="2A3450"/>
          </a:solidFill>
          <a:ln/>
        </p:spPr>
      </p:sp>
      <p:sp>
        <p:nvSpPr>
          <p:cNvPr id="21" name="Text 19"/>
          <p:cNvSpPr/>
          <p:nvPr/>
        </p:nvSpPr>
        <p:spPr>
          <a:xfrm>
            <a:off x="7349728" y="3237905"/>
            <a:ext cx="2358330"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JOINS ON</a:t>
            </a:r>
            <a:endParaRPr lang="en-US" sz="825" dirty="0"/>
          </a:p>
        </p:txBody>
      </p:sp>
      <p:sp>
        <p:nvSpPr>
          <p:cNvPr id="22" name="Shape 20"/>
          <p:cNvSpPr/>
          <p:nvPr/>
        </p:nvSpPr>
        <p:spPr>
          <a:xfrm>
            <a:off x="9822359" y="3480792"/>
            <a:ext cx="7551241" cy="9525"/>
          </a:xfrm>
          <a:prstGeom prst="rect">
            <a:avLst/>
          </a:prstGeom>
          <a:solidFill>
            <a:srgbClr val="2A3450"/>
          </a:solidFill>
          <a:ln/>
        </p:spPr>
      </p:sp>
      <p:sp>
        <p:nvSpPr>
          <p:cNvPr id="23" name="Text 21"/>
          <p:cNvSpPr/>
          <p:nvPr/>
        </p:nvSpPr>
        <p:spPr>
          <a:xfrm>
            <a:off x="9936659" y="3237905"/>
            <a:ext cx="7549179" cy="166688"/>
          </a:xfrm>
          <a:prstGeom prst="rect">
            <a:avLst/>
          </a:prstGeom>
          <a:noFill/>
          <a:ln/>
        </p:spPr>
        <p:txBody>
          <a:bodyPr wrap="square" lIns="25400" tIns="25400" rIns="25400" bIns="25400" rtlCol="0" anchor="ctr">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WHAT IT ANSWERS</a:t>
            </a:r>
            <a:endParaRPr lang="en-US" sz="825" dirty="0"/>
          </a:p>
        </p:txBody>
      </p:sp>
      <p:sp>
        <p:nvSpPr>
          <p:cNvPr id="24" name="Shape 22"/>
          <p:cNvSpPr/>
          <p:nvPr/>
        </p:nvSpPr>
        <p:spPr>
          <a:xfrm>
            <a:off x="914400" y="3928467"/>
            <a:ext cx="3948708" cy="9525"/>
          </a:xfrm>
          <a:prstGeom prst="rect">
            <a:avLst/>
          </a:prstGeom>
          <a:solidFill>
            <a:srgbClr val="2A3450"/>
          </a:solidFill>
          <a:ln/>
        </p:spPr>
      </p:sp>
      <p:sp>
        <p:nvSpPr>
          <p:cNvPr id="25" name="Text 23"/>
          <p:cNvSpPr/>
          <p:nvPr/>
        </p:nvSpPr>
        <p:spPr>
          <a:xfrm>
            <a:off x="1028700" y="3623667"/>
            <a:ext cx="383856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6sense Campaign Accounts</a:t>
            </a:r>
            <a:endParaRPr lang="en-US" sz="1200" dirty="0"/>
          </a:p>
        </p:txBody>
      </p:sp>
      <p:sp>
        <p:nvSpPr>
          <p:cNvPr id="26" name="Shape 24"/>
          <p:cNvSpPr/>
          <p:nvPr/>
        </p:nvSpPr>
        <p:spPr>
          <a:xfrm>
            <a:off x="4863108" y="3928467"/>
            <a:ext cx="2448520" cy="9525"/>
          </a:xfrm>
          <a:prstGeom prst="rect">
            <a:avLst/>
          </a:prstGeom>
          <a:solidFill>
            <a:srgbClr val="2A3450"/>
          </a:solidFill>
          <a:ln/>
        </p:spPr>
      </p:sp>
      <p:sp>
        <p:nvSpPr>
          <p:cNvPr id="27" name="Text 25"/>
          <p:cNvSpPr/>
          <p:nvPr/>
        </p:nvSpPr>
        <p:spPr>
          <a:xfrm>
            <a:off x="4901208" y="3623667"/>
            <a:ext cx="229612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63,096</a:t>
            </a:r>
            <a:endParaRPr lang="en-US" sz="1200" dirty="0"/>
          </a:p>
        </p:txBody>
      </p:sp>
      <p:sp>
        <p:nvSpPr>
          <p:cNvPr id="28" name="Shape 26"/>
          <p:cNvSpPr/>
          <p:nvPr/>
        </p:nvSpPr>
        <p:spPr>
          <a:xfrm>
            <a:off x="7311628" y="3928467"/>
            <a:ext cx="2510730" cy="9525"/>
          </a:xfrm>
          <a:prstGeom prst="rect">
            <a:avLst/>
          </a:prstGeom>
          <a:solidFill>
            <a:srgbClr val="2A3450"/>
          </a:solidFill>
          <a:ln/>
        </p:spPr>
      </p:sp>
      <p:sp>
        <p:nvSpPr>
          <p:cNvPr id="29" name="Text 27"/>
          <p:cNvSpPr/>
          <p:nvPr/>
        </p:nvSpPr>
        <p:spPr>
          <a:xfrm>
            <a:off x="7349728" y="3623667"/>
            <a:ext cx="235833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domain</a:t>
            </a:r>
            <a:endParaRPr lang="en-US" sz="1200" dirty="0"/>
          </a:p>
        </p:txBody>
      </p:sp>
      <p:sp>
        <p:nvSpPr>
          <p:cNvPr id="30" name="Shape 28"/>
          <p:cNvSpPr/>
          <p:nvPr/>
        </p:nvSpPr>
        <p:spPr>
          <a:xfrm>
            <a:off x="9822359" y="3928467"/>
            <a:ext cx="7551241" cy="9525"/>
          </a:xfrm>
          <a:prstGeom prst="rect">
            <a:avLst/>
          </a:prstGeom>
          <a:solidFill>
            <a:srgbClr val="2A3450"/>
          </a:solidFill>
          <a:ln/>
        </p:spPr>
      </p:sp>
      <p:sp>
        <p:nvSpPr>
          <p:cNvPr id="31" name="Text 29"/>
          <p:cNvSpPr/>
          <p:nvPr/>
        </p:nvSpPr>
        <p:spPr>
          <a:xfrm>
            <a:off x="9936659" y="3623667"/>
            <a:ext cx="754917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Paid display spend, clicks, form fills per account</a:t>
            </a:r>
            <a:endParaRPr lang="en-US" sz="1200" dirty="0"/>
          </a:p>
        </p:txBody>
      </p:sp>
      <p:sp>
        <p:nvSpPr>
          <p:cNvPr id="32" name="Shape 30"/>
          <p:cNvSpPr/>
          <p:nvPr/>
        </p:nvSpPr>
        <p:spPr>
          <a:xfrm>
            <a:off x="914400" y="4376142"/>
            <a:ext cx="3948708" cy="9525"/>
          </a:xfrm>
          <a:prstGeom prst="rect">
            <a:avLst/>
          </a:prstGeom>
          <a:solidFill>
            <a:srgbClr val="2A3450"/>
          </a:solidFill>
          <a:ln/>
        </p:spPr>
      </p:sp>
      <p:sp>
        <p:nvSpPr>
          <p:cNvPr id="33" name="Text 31"/>
          <p:cNvSpPr/>
          <p:nvPr/>
        </p:nvSpPr>
        <p:spPr>
          <a:xfrm>
            <a:off x="1028700" y="4071342"/>
            <a:ext cx="383856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Web Engagements</a:t>
            </a:r>
            <a:endParaRPr lang="en-US" sz="1200" dirty="0"/>
          </a:p>
        </p:txBody>
      </p:sp>
      <p:sp>
        <p:nvSpPr>
          <p:cNvPr id="34" name="Shape 32"/>
          <p:cNvSpPr/>
          <p:nvPr/>
        </p:nvSpPr>
        <p:spPr>
          <a:xfrm>
            <a:off x="4863108" y="4376142"/>
            <a:ext cx="2448520" cy="9525"/>
          </a:xfrm>
          <a:prstGeom prst="rect">
            <a:avLst/>
          </a:prstGeom>
          <a:solidFill>
            <a:srgbClr val="2A3450"/>
          </a:solidFill>
          <a:ln/>
        </p:spPr>
      </p:sp>
      <p:sp>
        <p:nvSpPr>
          <p:cNvPr id="35" name="Text 33"/>
          <p:cNvSpPr/>
          <p:nvPr/>
        </p:nvSpPr>
        <p:spPr>
          <a:xfrm>
            <a:off x="4901208" y="4071342"/>
            <a:ext cx="229612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36,931</a:t>
            </a:r>
            <a:endParaRPr lang="en-US" sz="1200" dirty="0"/>
          </a:p>
        </p:txBody>
      </p:sp>
      <p:sp>
        <p:nvSpPr>
          <p:cNvPr id="36" name="Shape 34"/>
          <p:cNvSpPr/>
          <p:nvPr/>
        </p:nvSpPr>
        <p:spPr>
          <a:xfrm>
            <a:off x="7311628" y="4376142"/>
            <a:ext cx="2510730" cy="9525"/>
          </a:xfrm>
          <a:prstGeom prst="rect">
            <a:avLst/>
          </a:prstGeom>
          <a:solidFill>
            <a:srgbClr val="2A3450"/>
          </a:solidFill>
          <a:ln/>
        </p:spPr>
      </p:sp>
      <p:sp>
        <p:nvSpPr>
          <p:cNvPr id="37" name="Text 35"/>
          <p:cNvSpPr/>
          <p:nvPr/>
        </p:nvSpPr>
        <p:spPr>
          <a:xfrm>
            <a:off x="7349728" y="4071342"/>
            <a:ext cx="235833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domain · UTM</a:t>
            </a:r>
            <a:endParaRPr lang="en-US" sz="1200" dirty="0"/>
          </a:p>
        </p:txBody>
      </p:sp>
      <p:sp>
        <p:nvSpPr>
          <p:cNvPr id="38" name="Shape 36"/>
          <p:cNvSpPr/>
          <p:nvPr/>
        </p:nvSpPr>
        <p:spPr>
          <a:xfrm>
            <a:off x="9822359" y="4376142"/>
            <a:ext cx="7551241" cy="9525"/>
          </a:xfrm>
          <a:prstGeom prst="rect">
            <a:avLst/>
          </a:prstGeom>
          <a:solidFill>
            <a:srgbClr val="2A3450"/>
          </a:solidFill>
          <a:ln/>
        </p:spPr>
      </p:sp>
      <p:sp>
        <p:nvSpPr>
          <p:cNvPr id="39" name="Text 37"/>
          <p:cNvSpPr/>
          <p:nvPr/>
        </p:nvSpPr>
        <p:spPr>
          <a:xfrm>
            <a:off x="9936659" y="4071342"/>
            <a:ext cx="754917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Sessions, sources, goal completions, target flags</a:t>
            </a:r>
            <a:endParaRPr lang="en-US" sz="1200" dirty="0"/>
          </a:p>
        </p:txBody>
      </p:sp>
      <p:sp>
        <p:nvSpPr>
          <p:cNvPr id="40" name="Shape 38"/>
          <p:cNvSpPr/>
          <p:nvPr/>
        </p:nvSpPr>
        <p:spPr>
          <a:xfrm>
            <a:off x="914400" y="4823817"/>
            <a:ext cx="3948708" cy="9525"/>
          </a:xfrm>
          <a:prstGeom prst="rect">
            <a:avLst/>
          </a:prstGeom>
          <a:solidFill>
            <a:srgbClr val="2A3450"/>
          </a:solidFill>
          <a:ln/>
        </p:spPr>
      </p:sp>
      <p:sp>
        <p:nvSpPr>
          <p:cNvPr id="41" name="Text 39"/>
          <p:cNvSpPr/>
          <p:nvPr/>
        </p:nvSpPr>
        <p:spPr>
          <a:xfrm>
            <a:off x="1028700" y="4519017"/>
            <a:ext cx="383856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ICP Database</a:t>
            </a:r>
            <a:endParaRPr lang="en-US" sz="1200" dirty="0"/>
          </a:p>
        </p:txBody>
      </p:sp>
      <p:sp>
        <p:nvSpPr>
          <p:cNvPr id="42" name="Shape 40"/>
          <p:cNvSpPr/>
          <p:nvPr/>
        </p:nvSpPr>
        <p:spPr>
          <a:xfrm>
            <a:off x="4863108" y="4823817"/>
            <a:ext cx="2448520" cy="9525"/>
          </a:xfrm>
          <a:prstGeom prst="rect">
            <a:avLst/>
          </a:prstGeom>
          <a:solidFill>
            <a:srgbClr val="2A3450"/>
          </a:solidFill>
          <a:ln/>
        </p:spPr>
      </p:sp>
      <p:sp>
        <p:nvSpPr>
          <p:cNvPr id="43" name="Text 41"/>
          <p:cNvSpPr/>
          <p:nvPr/>
        </p:nvSpPr>
        <p:spPr>
          <a:xfrm>
            <a:off x="4901208" y="4519017"/>
            <a:ext cx="229612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37,207</a:t>
            </a:r>
            <a:endParaRPr lang="en-US" sz="1200" dirty="0"/>
          </a:p>
        </p:txBody>
      </p:sp>
      <p:sp>
        <p:nvSpPr>
          <p:cNvPr id="44" name="Shape 42"/>
          <p:cNvSpPr/>
          <p:nvPr/>
        </p:nvSpPr>
        <p:spPr>
          <a:xfrm>
            <a:off x="7311628" y="4823817"/>
            <a:ext cx="2510730" cy="9525"/>
          </a:xfrm>
          <a:prstGeom prst="rect">
            <a:avLst/>
          </a:prstGeom>
          <a:solidFill>
            <a:srgbClr val="2A3450"/>
          </a:solidFill>
          <a:ln/>
        </p:spPr>
      </p:sp>
      <p:sp>
        <p:nvSpPr>
          <p:cNvPr id="45" name="Text 43"/>
          <p:cNvSpPr/>
          <p:nvPr/>
        </p:nvSpPr>
        <p:spPr>
          <a:xfrm>
            <a:off x="7349728" y="4519017"/>
            <a:ext cx="235833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email · company</a:t>
            </a:r>
            <a:endParaRPr lang="en-US" sz="1200" dirty="0"/>
          </a:p>
        </p:txBody>
      </p:sp>
      <p:sp>
        <p:nvSpPr>
          <p:cNvPr id="46" name="Shape 44"/>
          <p:cNvSpPr/>
          <p:nvPr/>
        </p:nvSpPr>
        <p:spPr>
          <a:xfrm>
            <a:off x="9822359" y="4823817"/>
            <a:ext cx="7551241" cy="9525"/>
          </a:xfrm>
          <a:prstGeom prst="rect">
            <a:avLst/>
          </a:prstGeom>
          <a:solidFill>
            <a:srgbClr val="2A3450"/>
          </a:solidFill>
          <a:ln/>
        </p:spPr>
      </p:sp>
      <p:sp>
        <p:nvSpPr>
          <p:cNvPr id="47" name="Text 45"/>
          <p:cNvSpPr/>
          <p:nvPr/>
        </p:nvSpPr>
        <p:spPr>
          <a:xfrm>
            <a:off x="9936659" y="4519017"/>
            <a:ext cx="754917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Prospects by seniority, lifecycle, company</a:t>
            </a:r>
            <a:endParaRPr lang="en-US" sz="1200" dirty="0"/>
          </a:p>
        </p:txBody>
      </p:sp>
      <p:sp>
        <p:nvSpPr>
          <p:cNvPr id="48" name="Shape 46"/>
          <p:cNvSpPr/>
          <p:nvPr/>
        </p:nvSpPr>
        <p:spPr>
          <a:xfrm>
            <a:off x="914400" y="5271492"/>
            <a:ext cx="3948708" cy="9525"/>
          </a:xfrm>
          <a:prstGeom prst="rect">
            <a:avLst/>
          </a:prstGeom>
          <a:solidFill>
            <a:srgbClr val="2A3450"/>
          </a:solidFill>
          <a:ln/>
        </p:spPr>
      </p:sp>
      <p:sp>
        <p:nvSpPr>
          <p:cNvPr id="49" name="Text 47"/>
          <p:cNvSpPr/>
          <p:nvPr/>
        </p:nvSpPr>
        <p:spPr>
          <a:xfrm>
            <a:off x="1028700" y="4966692"/>
            <a:ext cx="383856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Email Engagements</a:t>
            </a:r>
            <a:endParaRPr lang="en-US" sz="1200" dirty="0"/>
          </a:p>
        </p:txBody>
      </p:sp>
      <p:sp>
        <p:nvSpPr>
          <p:cNvPr id="50" name="Shape 48"/>
          <p:cNvSpPr/>
          <p:nvPr/>
        </p:nvSpPr>
        <p:spPr>
          <a:xfrm>
            <a:off x="4863108" y="5271492"/>
            <a:ext cx="2448520" cy="9525"/>
          </a:xfrm>
          <a:prstGeom prst="rect">
            <a:avLst/>
          </a:prstGeom>
          <a:solidFill>
            <a:srgbClr val="2A3450"/>
          </a:solidFill>
          <a:ln/>
        </p:spPr>
      </p:sp>
      <p:sp>
        <p:nvSpPr>
          <p:cNvPr id="51" name="Text 49"/>
          <p:cNvSpPr/>
          <p:nvPr/>
        </p:nvSpPr>
        <p:spPr>
          <a:xfrm>
            <a:off x="4901208" y="4966692"/>
            <a:ext cx="229612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17,130</a:t>
            </a:r>
            <a:endParaRPr lang="en-US" sz="1200" dirty="0"/>
          </a:p>
        </p:txBody>
      </p:sp>
      <p:sp>
        <p:nvSpPr>
          <p:cNvPr id="52" name="Shape 50"/>
          <p:cNvSpPr/>
          <p:nvPr/>
        </p:nvSpPr>
        <p:spPr>
          <a:xfrm>
            <a:off x="7311628" y="5271492"/>
            <a:ext cx="2510730" cy="9525"/>
          </a:xfrm>
          <a:prstGeom prst="rect">
            <a:avLst/>
          </a:prstGeom>
          <a:solidFill>
            <a:srgbClr val="2A3450"/>
          </a:solidFill>
          <a:ln/>
        </p:spPr>
      </p:sp>
      <p:sp>
        <p:nvSpPr>
          <p:cNvPr id="53" name="Text 51"/>
          <p:cNvSpPr/>
          <p:nvPr/>
        </p:nvSpPr>
        <p:spPr>
          <a:xfrm>
            <a:off x="7349728" y="4966692"/>
            <a:ext cx="235833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email · company</a:t>
            </a:r>
            <a:endParaRPr lang="en-US" sz="1200" dirty="0"/>
          </a:p>
        </p:txBody>
      </p:sp>
      <p:sp>
        <p:nvSpPr>
          <p:cNvPr id="54" name="Shape 52"/>
          <p:cNvSpPr/>
          <p:nvPr/>
        </p:nvSpPr>
        <p:spPr>
          <a:xfrm>
            <a:off x="9822359" y="5271492"/>
            <a:ext cx="7551241" cy="9525"/>
          </a:xfrm>
          <a:prstGeom prst="rect">
            <a:avLst/>
          </a:prstGeom>
          <a:solidFill>
            <a:srgbClr val="2A3450"/>
          </a:solidFill>
          <a:ln/>
        </p:spPr>
      </p:sp>
      <p:sp>
        <p:nvSpPr>
          <p:cNvPr id="55" name="Text 53"/>
          <p:cNvSpPr/>
          <p:nvPr/>
        </p:nvSpPr>
        <p:spPr>
          <a:xfrm>
            <a:off x="9936659" y="4966692"/>
            <a:ext cx="754917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Opens, clicks, registrations by seniority &amp; industry</a:t>
            </a:r>
            <a:endParaRPr lang="en-US" sz="1200" dirty="0"/>
          </a:p>
        </p:txBody>
      </p:sp>
      <p:sp>
        <p:nvSpPr>
          <p:cNvPr id="56" name="Shape 54"/>
          <p:cNvSpPr/>
          <p:nvPr/>
        </p:nvSpPr>
        <p:spPr>
          <a:xfrm>
            <a:off x="914400" y="5719167"/>
            <a:ext cx="3948708" cy="9525"/>
          </a:xfrm>
          <a:prstGeom prst="rect">
            <a:avLst/>
          </a:prstGeom>
          <a:solidFill>
            <a:srgbClr val="2A3450"/>
          </a:solidFill>
          <a:ln/>
        </p:spPr>
      </p:sp>
      <p:sp>
        <p:nvSpPr>
          <p:cNvPr id="57" name="Text 55"/>
          <p:cNvSpPr/>
          <p:nvPr/>
        </p:nvSpPr>
        <p:spPr>
          <a:xfrm>
            <a:off x="1028700" y="5414367"/>
            <a:ext cx="383856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Opportunity Log</a:t>
            </a:r>
            <a:endParaRPr lang="en-US" sz="1200" dirty="0"/>
          </a:p>
        </p:txBody>
      </p:sp>
      <p:sp>
        <p:nvSpPr>
          <p:cNvPr id="58" name="Shape 56"/>
          <p:cNvSpPr/>
          <p:nvPr/>
        </p:nvSpPr>
        <p:spPr>
          <a:xfrm>
            <a:off x="4863108" y="5719167"/>
            <a:ext cx="2448520" cy="9525"/>
          </a:xfrm>
          <a:prstGeom prst="rect">
            <a:avLst/>
          </a:prstGeom>
          <a:solidFill>
            <a:srgbClr val="2A3450"/>
          </a:solidFill>
          <a:ln/>
        </p:spPr>
      </p:sp>
      <p:sp>
        <p:nvSpPr>
          <p:cNvPr id="59" name="Text 57"/>
          <p:cNvSpPr/>
          <p:nvPr/>
        </p:nvSpPr>
        <p:spPr>
          <a:xfrm>
            <a:off x="4901208" y="5414367"/>
            <a:ext cx="229612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7C8493"/>
                </a:solidFill>
                <a:latin typeface="Arial" pitchFamily="34" charset="0"/>
                <a:ea typeface="Arial" pitchFamily="34" charset="-122"/>
                <a:cs typeface="Arial" pitchFamily="34" charset="-120"/>
              </a:rPr>
              <a:t>16,421 → </a:t>
            </a:r>
            <a:pPr algn="r" indent="0" marL="0">
              <a:buNone/>
            </a:pPr>
            <a:r>
              <a:rPr lang="en-US" sz="1200" dirty="0">
                <a:solidFill>
                  <a:srgbClr val="ECEEF2"/>
                </a:solidFill>
                <a:latin typeface="Arial" pitchFamily="34" charset="0"/>
                <a:ea typeface="Arial" pitchFamily="34" charset="-122"/>
                <a:cs typeface="Arial" pitchFamily="34" charset="-120"/>
              </a:rPr>
              <a:t>3,288</a:t>
            </a:r>
            <a:endParaRPr lang="en-US" sz="1200" dirty="0"/>
          </a:p>
        </p:txBody>
      </p:sp>
      <p:sp>
        <p:nvSpPr>
          <p:cNvPr id="60" name="Shape 58"/>
          <p:cNvSpPr/>
          <p:nvPr/>
        </p:nvSpPr>
        <p:spPr>
          <a:xfrm>
            <a:off x="7311628" y="5719167"/>
            <a:ext cx="2510730" cy="9525"/>
          </a:xfrm>
          <a:prstGeom prst="rect">
            <a:avLst/>
          </a:prstGeom>
          <a:solidFill>
            <a:srgbClr val="2A3450"/>
          </a:solidFill>
          <a:ln/>
        </p:spPr>
      </p:sp>
      <p:sp>
        <p:nvSpPr>
          <p:cNvPr id="61" name="Text 59"/>
          <p:cNvSpPr/>
          <p:nvPr/>
        </p:nvSpPr>
        <p:spPr>
          <a:xfrm>
            <a:off x="7349728" y="5414367"/>
            <a:ext cx="235833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account_id</a:t>
            </a:r>
            <a:endParaRPr lang="en-US" sz="1200" dirty="0"/>
          </a:p>
        </p:txBody>
      </p:sp>
      <p:sp>
        <p:nvSpPr>
          <p:cNvPr id="62" name="Shape 60"/>
          <p:cNvSpPr/>
          <p:nvPr/>
        </p:nvSpPr>
        <p:spPr>
          <a:xfrm>
            <a:off x="9822359" y="5719167"/>
            <a:ext cx="7551241" cy="9525"/>
          </a:xfrm>
          <a:prstGeom prst="rect">
            <a:avLst/>
          </a:prstGeom>
          <a:solidFill>
            <a:srgbClr val="2A3450"/>
          </a:solidFill>
          <a:ln/>
        </p:spPr>
      </p:sp>
      <p:sp>
        <p:nvSpPr>
          <p:cNvPr id="63" name="Text 61"/>
          <p:cNvSpPr/>
          <p:nvPr/>
        </p:nvSpPr>
        <p:spPr>
          <a:xfrm>
            <a:off x="9936659" y="5414367"/>
            <a:ext cx="754917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$176.6M pipeline — deduped to latest snapshot per deal</a:t>
            </a:r>
            <a:endParaRPr lang="en-US" sz="1200" dirty="0"/>
          </a:p>
        </p:txBody>
      </p:sp>
      <p:sp>
        <p:nvSpPr>
          <p:cNvPr id="64" name="Shape 62"/>
          <p:cNvSpPr/>
          <p:nvPr/>
        </p:nvSpPr>
        <p:spPr>
          <a:xfrm>
            <a:off x="914400" y="6166842"/>
            <a:ext cx="3948708" cy="9525"/>
          </a:xfrm>
          <a:prstGeom prst="rect">
            <a:avLst/>
          </a:prstGeom>
          <a:solidFill>
            <a:srgbClr val="2A3450"/>
          </a:solidFill>
          <a:ln/>
        </p:spPr>
      </p:sp>
      <p:sp>
        <p:nvSpPr>
          <p:cNvPr id="65" name="Text 63"/>
          <p:cNvSpPr/>
          <p:nvPr/>
        </p:nvSpPr>
        <p:spPr>
          <a:xfrm>
            <a:off x="1028700" y="5862042"/>
            <a:ext cx="383856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6sense Segments</a:t>
            </a:r>
            <a:endParaRPr lang="en-US" sz="1200" dirty="0"/>
          </a:p>
        </p:txBody>
      </p:sp>
      <p:sp>
        <p:nvSpPr>
          <p:cNvPr id="66" name="Shape 64"/>
          <p:cNvSpPr/>
          <p:nvPr/>
        </p:nvSpPr>
        <p:spPr>
          <a:xfrm>
            <a:off x="4863108" y="6166842"/>
            <a:ext cx="2448520" cy="9525"/>
          </a:xfrm>
          <a:prstGeom prst="rect">
            <a:avLst/>
          </a:prstGeom>
          <a:solidFill>
            <a:srgbClr val="2A3450"/>
          </a:solidFill>
          <a:ln/>
        </p:spPr>
      </p:sp>
      <p:sp>
        <p:nvSpPr>
          <p:cNvPr id="67" name="Text 65"/>
          <p:cNvSpPr/>
          <p:nvPr/>
        </p:nvSpPr>
        <p:spPr>
          <a:xfrm>
            <a:off x="4901208" y="5862042"/>
            <a:ext cx="229612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7,934</a:t>
            </a:r>
            <a:endParaRPr lang="en-US" sz="1200" dirty="0"/>
          </a:p>
        </p:txBody>
      </p:sp>
      <p:sp>
        <p:nvSpPr>
          <p:cNvPr id="68" name="Shape 66"/>
          <p:cNvSpPr/>
          <p:nvPr/>
        </p:nvSpPr>
        <p:spPr>
          <a:xfrm>
            <a:off x="7311628" y="6166842"/>
            <a:ext cx="2510730" cy="9525"/>
          </a:xfrm>
          <a:prstGeom prst="rect">
            <a:avLst/>
          </a:prstGeom>
          <a:solidFill>
            <a:srgbClr val="2A3450"/>
          </a:solidFill>
          <a:ln/>
        </p:spPr>
      </p:sp>
      <p:sp>
        <p:nvSpPr>
          <p:cNvPr id="69" name="Text 67"/>
          <p:cNvSpPr/>
          <p:nvPr/>
        </p:nvSpPr>
        <p:spPr>
          <a:xfrm>
            <a:off x="7349728" y="5862042"/>
            <a:ext cx="235833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account_id</a:t>
            </a:r>
            <a:endParaRPr lang="en-US" sz="1200" dirty="0"/>
          </a:p>
        </p:txBody>
      </p:sp>
      <p:sp>
        <p:nvSpPr>
          <p:cNvPr id="70" name="Shape 68"/>
          <p:cNvSpPr/>
          <p:nvPr/>
        </p:nvSpPr>
        <p:spPr>
          <a:xfrm>
            <a:off x="9822359" y="6166842"/>
            <a:ext cx="7551241" cy="9525"/>
          </a:xfrm>
          <a:prstGeom prst="rect">
            <a:avLst/>
          </a:prstGeom>
          <a:solidFill>
            <a:srgbClr val="2A3450"/>
          </a:solidFill>
          <a:ln/>
        </p:spPr>
      </p:sp>
      <p:sp>
        <p:nvSpPr>
          <p:cNvPr id="71" name="Text 69"/>
          <p:cNvSpPr/>
          <p:nvPr/>
        </p:nvSpPr>
        <p:spPr>
          <a:xfrm>
            <a:off x="9936659" y="5862042"/>
            <a:ext cx="754917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Account segmentation, buying-stage classification</a:t>
            </a:r>
            <a:endParaRPr lang="en-US" sz="1200" dirty="0"/>
          </a:p>
        </p:txBody>
      </p:sp>
      <p:sp>
        <p:nvSpPr>
          <p:cNvPr id="72" name="Shape 70"/>
          <p:cNvSpPr/>
          <p:nvPr/>
        </p:nvSpPr>
        <p:spPr>
          <a:xfrm>
            <a:off x="914400" y="6614517"/>
            <a:ext cx="3948708" cy="9525"/>
          </a:xfrm>
          <a:prstGeom prst="rect">
            <a:avLst/>
          </a:prstGeom>
          <a:solidFill>
            <a:srgbClr val="2A3450"/>
          </a:solidFill>
          <a:ln/>
        </p:spPr>
      </p:sp>
      <p:sp>
        <p:nvSpPr>
          <p:cNvPr id="73" name="Text 71"/>
          <p:cNvSpPr/>
          <p:nvPr/>
        </p:nvSpPr>
        <p:spPr>
          <a:xfrm>
            <a:off x="1028700" y="6309717"/>
            <a:ext cx="383856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Account Log</a:t>
            </a:r>
            <a:endParaRPr lang="en-US" sz="1200" dirty="0"/>
          </a:p>
        </p:txBody>
      </p:sp>
      <p:sp>
        <p:nvSpPr>
          <p:cNvPr id="74" name="Shape 72"/>
          <p:cNvSpPr/>
          <p:nvPr/>
        </p:nvSpPr>
        <p:spPr>
          <a:xfrm>
            <a:off x="4863108" y="6614517"/>
            <a:ext cx="2448520" cy="9525"/>
          </a:xfrm>
          <a:prstGeom prst="rect">
            <a:avLst/>
          </a:prstGeom>
          <a:solidFill>
            <a:srgbClr val="2A3450"/>
          </a:solidFill>
          <a:ln/>
        </p:spPr>
      </p:sp>
      <p:sp>
        <p:nvSpPr>
          <p:cNvPr id="75" name="Text 73"/>
          <p:cNvSpPr/>
          <p:nvPr/>
        </p:nvSpPr>
        <p:spPr>
          <a:xfrm>
            <a:off x="4901208" y="6309717"/>
            <a:ext cx="229612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5,264</a:t>
            </a:r>
            <a:endParaRPr lang="en-US" sz="1200" dirty="0"/>
          </a:p>
        </p:txBody>
      </p:sp>
      <p:sp>
        <p:nvSpPr>
          <p:cNvPr id="76" name="Shape 74"/>
          <p:cNvSpPr/>
          <p:nvPr/>
        </p:nvSpPr>
        <p:spPr>
          <a:xfrm>
            <a:off x="7311628" y="6614517"/>
            <a:ext cx="2510730" cy="9525"/>
          </a:xfrm>
          <a:prstGeom prst="rect">
            <a:avLst/>
          </a:prstGeom>
          <a:solidFill>
            <a:srgbClr val="2A3450"/>
          </a:solidFill>
          <a:ln/>
        </p:spPr>
      </p:sp>
      <p:sp>
        <p:nvSpPr>
          <p:cNvPr id="77" name="Text 75"/>
          <p:cNvSpPr/>
          <p:nvPr/>
        </p:nvSpPr>
        <p:spPr>
          <a:xfrm>
            <a:off x="7349728" y="6309717"/>
            <a:ext cx="235833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account_id</a:t>
            </a:r>
            <a:endParaRPr lang="en-US" sz="1200" dirty="0"/>
          </a:p>
        </p:txBody>
      </p:sp>
      <p:sp>
        <p:nvSpPr>
          <p:cNvPr id="78" name="Shape 76"/>
          <p:cNvSpPr/>
          <p:nvPr/>
        </p:nvSpPr>
        <p:spPr>
          <a:xfrm>
            <a:off x="9822359" y="6614517"/>
            <a:ext cx="7551241" cy="9525"/>
          </a:xfrm>
          <a:prstGeom prst="rect">
            <a:avLst/>
          </a:prstGeom>
          <a:solidFill>
            <a:srgbClr val="2A3450"/>
          </a:solidFill>
          <a:ln/>
        </p:spPr>
      </p:sp>
      <p:sp>
        <p:nvSpPr>
          <p:cNvPr id="79" name="Text 77"/>
          <p:cNvSpPr/>
          <p:nvPr/>
        </p:nvSpPr>
        <p:spPr>
          <a:xfrm>
            <a:off x="9936659" y="6309717"/>
            <a:ext cx="754917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Industry, tier, profile fit, annual revenue</a:t>
            </a:r>
            <a:endParaRPr lang="en-US" sz="1200" dirty="0"/>
          </a:p>
        </p:txBody>
      </p:sp>
      <p:sp>
        <p:nvSpPr>
          <p:cNvPr id="80" name="Shape 78"/>
          <p:cNvSpPr/>
          <p:nvPr/>
        </p:nvSpPr>
        <p:spPr>
          <a:xfrm>
            <a:off x="914400" y="7062192"/>
            <a:ext cx="3948708" cy="9525"/>
          </a:xfrm>
          <a:prstGeom prst="rect">
            <a:avLst/>
          </a:prstGeom>
          <a:solidFill>
            <a:srgbClr val="2A3450"/>
          </a:solidFill>
          <a:ln/>
        </p:spPr>
      </p:sp>
      <p:sp>
        <p:nvSpPr>
          <p:cNvPr id="81" name="Text 79"/>
          <p:cNvSpPr/>
          <p:nvPr/>
        </p:nvSpPr>
        <p:spPr>
          <a:xfrm>
            <a:off x="1028700" y="6757392"/>
            <a:ext cx="383856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Ad Metrics</a:t>
            </a:r>
            <a:endParaRPr lang="en-US" sz="1200" dirty="0"/>
          </a:p>
        </p:txBody>
      </p:sp>
      <p:sp>
        <p:nvSpPr>
          <p:cNvPr id="82" name="Shape 80"/>
          <p:cNvSpPr/>
          <p:nvPr/>
        </p:nvSpPr>
        <p:spPr>
          <a:xfrm>
            <a:off x="4863108" y="7062192"/>
            <a:ext cx="2448520" cy="9525"/>
          </a:xfrm>
          <a:prstGeom prst="rect">
            <a:avLst/>
          </a:prstGeom>
          <a:solidFill>
            <a:srgbClr val="2A3450"/>
          </a:solidFill>
          <a:ln/>
        </p:spPr>
      </p:sp>
      <p:sp>
        <p:nvSpPr>
          <p:cNvPr id="83" name="Text 81"/>
          <p:cNvSpPr/>
          <p:nvPr/>
        </p:nvSpPr>
        <p:spPr>
          <a:xfrm>
            <a:off x="4901208" y="6757392"/>
            <a:ext cx="229612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4,626</a:t>
            </a:r>
            <a:endParaRPr lang="en-US" sz="1200" dirty="0"/>
          </a:p>
        </p:txBody>
      </p:sp>
      <p:sp>
        <p:nvSpPr>
          <p:cNvPr id="84" name="Shape 82"/>
          <p:cNvSpPr/>
          <p:nvPr/>
        </p:nvSpPr>
        <p:spPr>
          <a:xfrm>
            <a:off x="7311628" y="7062192"/>
            <a:ext cx="2510730" cy="9525"/>
          </a:xfrm>
          <a:prstGeom prst="rect">
            <a:avLst/>
          </a:prstGeom>
          <a:solidFill>
            <a:srgbClr val="2A3450"/>
          </a:solidFill>
          <a:ln/>
        </p:spPr>
      </p:sp>
      <p:sp>
        <p:nvSpPr>
          <p:cNvPr id="85" name="Text 83"/>
          <p:cNvSpPr/>
          <p:nvPr/>
        </p:nvSpPr>
        <p:spPr>
          <a:xfrm>
            <a:off x="7349728" y="6757392"/>
            <a:ext cx="2358330"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creative_id</a:t>
            </a:r>
            <a:endParaRPr lang="en-US" sz="1200" dirty="0"/>
          </a:p>
        </p:txBody>
      </p:sp>
      <p:sp>
        <p:nvSpPr>
          <p:cNvPr id="86" name="Shape 84"/>
          <p:cNvSpPr/>
          <p:nvPr/>
        </p:nvSpPr>
        <p:spPr>
          <a:xfrm>
            <a:off x="9822359" y="7062192"/>
            <a:ext cx="7551241" cy="9525"/>
          </a:xfrm>
          <a:prstGeom prst="rect">
            <a:avLst/>
          </a:prstGeom>
          <a:solidFill>
            <a:srgbClr val="2A3450"/>
          </a:solidFill>
          <a:ln/>
        </p:spPr>
      </p:sp>
      <p:sp>
        <p:nvSpPr>
          <p:cNvPr id="87" name="Text 85"/>
          <p:cNvSpPr/>
          <p:nvPr/>
        </p:nvSpPr>
        <p:spPr>
          <a:xfrm>
            <a:off x="9936659" y="6757392"/>
            <a:ext cx="7549179"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CTR, spend, impressions — 6sense + LinkedIn</a:t>
            </a:r>
            <a:endParaRPr lang="en-US" sz="1200" dirty="0"/>
          </a:p>
        </p:txBody>
      </p:sp>
      <p:sp>
        <p:nvSpPr>
          <p:cNvPr id="88" name="Shape 86"/>
          <p:cNvSpPr/>
          <p:nvPr/>
        </p:nvSpPr>
        <p:spPr>
          <a:xfrm>
            <a:off x="914400" y="7286030"/>
            <a:ext cx="16459200" cy="9525"/>
          </a:xfrm>
          <a:prstGeom prst="rect">
            <a:avLst/>
          </a:prstGeom>
          <a:solidFill>
            <a:srgbClr val="2A3450"/>
          </a:solidFill>
          <a:ln/>
        </p:spPr>
      </p:sp>
      <p:sp>
        <p:nvSpPr>
          <p:cNvPr id="89" name="Text 87"/>
          <p:cNvSpPr/>
          <p:nvPr/>
        </p:nvSpPr>
        <p:spPr>
          <a:xfrm>
            <a:off x="914400" y="7505105"/>
            <a:ext cx="2171700" cy="341858"/>
          </a:xfrm>
          <a:prstGeom prst="rect">
            <a:avLst/>
          </a:prstGeom>
          <a:noFill/>
          <a:ln/>
        </p:spPr>
        <p:txBody>
          <a:bodyPr wrap="square" lIns="25400" tIns="25400" rIns="25400" bIns="25400" rtlCol="0" anchor="t">
            <a:normAutofit/>
          </a:bodyPr>
          <a:lstStyle/>
          <a:p>
            <a:pPr algn="l" indent="0" marL="0">
              <a:buNone/>
            </a:pPr>
            <a:r>
              <a:rPr lang="en-US" sz="900" spc="198" kern="0" dirty="0">
                <a:solidFill>
                  <a:srgbClr val="82A6D9"/>
                </a:solidFill>
                <a:latin typeface="Arial" pitchFamily="34" charset="0"/>
                <a:ea typeface="Arial" pitchFamily="34" charset="-122"/>
                <a:cs typeface="Arial" pitchFamily="34" charset="-120"/>
              </a:rPr>
              <a:t>DATA QUALITY NOTE</a:t>
            </a:r>
            <a:endParaRPr lang="en-US" sz="900" dirty="0"/>
          </a:p>
        </p:txBody>
      </p:sp>
      <p:sp>
        <p:nvSpPr>
          <p:cNvPr id="90" name="Text 88"/>
          <p:cNvSpPr/>
          <p:nvPr/>
        </p:nvSpPr>
        <p:spPr>
          <a:xfrm>
            <a:off x="3352800" y="7505105"/>
            <a:ext cx="14441424"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Of 36,931 web sessions, only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330 (0.9%)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have a matched company domain. The 99.7% anonymous traffic gap is addressed in the 90-day plan.</a:t>
            </a:r>
            <a:endParaRPr lang="en-US" sz="1650" dirty="0"/>
          </a:p>
        </p:txBody>
      </p:sp>
      <p:sp>
        <p:nvSpPr>
          <p:cNvPr id="91" name="Text 89"/>
          <p:cNvSpPr/>
          <p:nvPr/>
        </p:nvSpPr>
        <p:spPr>
          <a:xfrm>
            <a:off x="762000" y="9791700"/>
            <a:ext cx="1096566"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03 / DATA</a:t>
            </a:r>
            <a:endParaRPr lang="en-US" sz="900" dirty="0"/>
          </a:p>
        </p:txBody>
      </p:sp>
      <p:sp>
        <p:nvSpPr>
          <p:cNvPr id="92" name="Text 90"/>
          <p:cNvSpPr/>
          <p:nvPr/>
        </p:nvSpPr>
        <p:spPr>
          <a:xfrm>
            <a:off x="15465326" y="9791700"/>
            <a:ext cx="2136874"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JOIN KEY: COMPANY.DOMAIN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3136527"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04 / 21 · ATTRIBUTION METHODOLOGY</a:t>
            </a:r>
            <a:endParaRPr lang="en-US" sz="975" dirty="0"/>
          </a:p>
        </p:txBody>
      </p:sp>
      <p:sp>
        <p:nvSpPr>
          <p:cNvPr id="11" name="Text 9"/>
          <p:cNvSpPr/>
          <p:nvPr/>
        </p:nvSpPr>
        <p:spPr>
          <a:xfrm>
            <a:off x="16706106" y="361950"/>
            <a:ext cx="89609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04</a:t>
            </a:r>
            <a:endParaRPr lang="en-US" sz="1125" dirty="0"/>
          </a:p>
        </p:txBody>
      </p:sp>
      <p:sp>
        <p:nvSpPr>
          <p:cNvPr id="13" name="Text 11"/>
          <p:cNvSpPr/>
          <p:nvPr/>
        </p:nvSpPr>
        <p:spPr>
          <a:xfrm>
            <a:off x="1275308" y="800100"/>
            <a:ext cx="1056977"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METHOD</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Six models. Each answers a different question.</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There is no single correct attribution model. The right model depends on what budget decision you're trying to make.</a:t>
            </a:r>
            <a:endParaRPr lang="en-US" sz="2100" dirty="0"/>
          </a:p>
        </p:txBody>
      </p:sp>
      <p:sp>
        <p:nvSpPr>
          <p:cNvPr id="16" name="Shape 14"/>
          <p:cNvSpPr/>
          <p:nvPr/>
        </p:nvSpPr>
        <p:spPr>
          <a:xfrm>
            <a:off x="914400" y="2790676"/>
            <a:ext cx="16459200" cy="6772424"/>
          </a:xfrm>
          <a:prstGeom prst="rect">
            <a:avLst/>
          </a:prstGeom>
          <a:ln w="9525">
            <a:solidFill>
              <a:srgbClr val="2A3450"/>
            </a:solidFill>
            <a:prstDash val="solid"/>
          </a:ln>
        </p:spPr>
      </p:sp>
      <p:sp>
        <p:nvSpPr>
          <p:cNvPr id="17" name="Shape 15"/>
          <p:cNvSpPr/>
          <p:nvPr/>
        </p:nvSpPr>
        <p:spPr>
          <a:xfrm>
            <a:off x="923925" y="2800201"/>
            <a:ext cx="5480000" cy="3362325"/>
          </a:xfrm>
          <a:prstGeom prst="rect">
            <a:avLst/>
          </a:prstGeom>
          <a:solidFill>
            <a:srgbClr val="0A0E1C"/>
          </a:solidFill>
          <a:ln/>
        </p:spPr>
      </p:sp>
      <p:sp>
        <p:nvSpPr>
          <p:cNvPr id="18" name="Shape 16"/>
          <p:cNvSpPr/>
          <p:nvPr/>
        </p:nvSpPr>
        <p:spPr>
          <a:xfrm>
            <a:off x="923925" y="6153001"/>
            <a:ext cx="5480000" cy="9525"/>
          </a:xfrm>
          <a:prstGeom prst="rect">
            <a:avLst/>
          </a:prstGeom>
          <a:solidFill>
            <a:srgbClr val="2A3450"/>
          </a:solidFill>
          <a:ln/>
        </p:spPr>
      </p:sp>
      <p:sp>
        <p:nvSpPr>
          <p:cNvPr id="19" name="Shape 17"/>
          <p:cNvSpPr/>
          <p:nvPr/>
        </p:nvSpPr>
        <p:spPr>
          <a:xfrm>
            <a:off x="6394400" y="2800201"/>
            <a:ext cx="9525" cy="3362325"/>
          </a:xfrm>
          <a:prstGeom prst="rect">
            <a:avLst/>
          </a:prstGeom>
          <a:solidFill>
            <a:srgbClr val="2A3450"/>
          </a:solidFill>
          <a:ln/>
        </p:spPr>
      </p:sp>
      <p:sp>
        <p:nvSpPr>
          <p:cNvPr id="20" name="Text 18"/>
          <p:cNvSpPr/>
          <p:nvPr/>
        </p:nvSpPr>
        <p:spPr>
          <a:xfrm>
            <a:off x="1190625" y="3066901"/>
            <a:ext cx="5085188"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555C6B"/>
                </a:solidFill>
                <a:latin typeface="Arial" pitchFamily="34" charset="0"/>
                <a:ea typeface="Arial" pitchFamily="34" charset="-122"/>
                <a:cs typeface="Arial" pitchFamily="34" charset="-120"/>
              </a:rPr>
              <a:t>M01</a:t>
            </a:r>
            <a:endParaRPr lang="en-US" sz="900" dirty="0"/>
          </a:p>
        </p:txBody>
      </p:sp>
      <p:sp>
        <p:nvSpPr>
          <p:cNvPr id="21" name="Text 19"/>
          <p:cNvSpPr/>
          <p:nvPr/>
        </p:nvSpPr>
        <p:spPr>
          <a:xfrm>
            <a:off x="1190625" y="3333601"/>
            <a:ext cx="5085188" cy="373261"/>
          </a:xfrm>
          <a:prstGeom prst="rect">
            <a:avLst/>
          </a:prstGeom>
          <a:noFill/>
          <a:ln/>
        </p:spPr>
        <p:txBody>
          <a:bodyPr wrap="square" lIns="25400" tIns="25400" rIns="25400" bIns="25400" rtlCol="0" anchor="t">
            <a:normAutofit/>
          </a:bodyPr>
          <a:lstStyle/>
          <a:p>
            <a:pPr algn="l" indent="0" marL="0">
              <a:lnSpc>
                <a:spcPct val="110000"/>
              </a:lnSpc>
              <a:buNone/>
            </a:pPr>
            <a:r>
              <a:rPr lang="en-US" sz="2400" spc="-24" kern="0" dirty="0">
                <a:solidFill>
                  <a:srgbClr val="ECEEF2"/>
                </a:solidFill>
                <a:latin typeface="Arial" pitchFamily="34" charset="0"/>
                <a:ea typeface="Arial" pitchFamily="34" charset="-122"/>
                <a:cs typeface="Arial" pitchFamily="34" charset="-120"/>
              </a:rPr>
              <a:t>Marketing Sourced</a:t>
            </a:r>
            <a:endParaRPr lang="en-US" sz="2400" dirty="0"/>
          </a:p>
        </p:txBody>
      </p:sp>
      <p:sp>
        <p:nvSpPr>
          <p:cNvPr id="22" name="Text 20"/>
          <p:cNvSpPr/>
          <p:nvPr/>
        </p:nvSpPr>
        <p:spPr>
          <a:xfrm>
            <a:off x="1190625" y="3802112"/>
            <a:ext cx="5085188" cy="27280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BCC8"/>
                </a:solidFill>
                <a:latin typeface="Arial" pitchFamily="34" charset="0"/>
                <a:ea typeface="Arial" pitchFamily="34" charset="-122"/>
                <a:cs typeface="Arial" pitchFamily="34" charset="-120"/>
              </a:rPr>
              <a:t>Opportunities where the CRM lead source is a marketing channel.</a:t>
            </a:r>
            <a:endParaRPr lang="en-US" sz="1275" dirty="0"/>
          </a:p>
        </p:txBody>
      </p:sp>
      <p:sp>
        <p:nvSpPr>
          <p:cNvPr id="23" name="Shape 21"/>
          <p:cNvSpPr/>
          <p:nvPr/>
        </p:nvSpPr>
        <p:spPr>
          <a:xfrm>
            <a:off x="1190625" y="4170164"/>
            <a:ext cx="4937075" cy="9525"/>
          </a:xfrm>
          <a:prstGeom prst="rect">
            <a:avLst/>
          </a:prstGeom>
          <a:solidFill>
            <a:srgbClr val="2A3450"/>
          </a:solidFill>
          <a:ln/>
        </p:spPr>
      </p:sp>
      <p:sp>
        <p:nvSpPr>
          <p:cNvPr id="24" name="Text 22"/>
          <p:cNvSpPr/>
          <p:nvPr/>
        </p:nvSpPr>
        <p:spPr>
          <a:xfrm>
            <a:off x="1190625" y="4313039"/>
            <a:ext cx="5085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36" kern="0" dirty="0">
                <a:solidFill>
                  <a:srgbClr val="ECEEF2"/>
                </a:solidFill>
                <a:latin typeface="Arial" pitchFamily="34" charset="0"/>
                <a:ea typeface="Arial" pitchFamily="34" charset="-122"/>
                <a:cs typeface="Arial" pitchFamily="34" charset="-120"/>
              </a:rPr>
              <a:t>Use: </a:t>
            </a:r>
            <a:pPr algn="l" indent="0" marL="0">
              <a:lnSpc>
                <a:spcPct val="150000"/>
              </a:lnSpc>
              <a:buNone/>
            </a:pPr>
            <a:r>
              <a:rPr lang="en-US" sz="900" spc="36" kern="0" dirty="0">
                <a:solidFill>
                  <a:srgbClr val="7C8493"/>
                </a:solidFill>
                <a:latin typeface="Arial" pitchFamily="34" charset="0"/>
                <a:ea typeface="Arial" pitchFamily="34" charset="-122"/>
                <a:cs typeface="Arial" pitchFamily="34" charset="-120"/>
              </a:rPr>
              <a:t>Board reporting, team accountability.</a:t>
            </a:r>
            <a:endParaRPr lang="en-US" sz="900" dirty="0"/>
          </a:p>
        </p:txBody>
      </p:sp>
      <p:sp>
        <p:nvSpPr>
          <p:cNvPr id="25" name="Shape 23"/>
          <p:cNvSpPr/>
          <p:nvPr/>
        </p:nvSpPr>
        <p:spPr>
          <a:xfrm>
            <a:off x="6403925" y="2800201"/>
            <a:ext cx="5480000" cy="3362325"/>
          </a:xfrm>
          <a:prstGeom prst="rect">
            <a:avLst/>
          </a:prstGeom>
          <a:solidFill>
            <a:srgbClr val="0A0E1C"/>
          </a:solidFill>
          <a:ln/>
        </p:spPr>
      </p:sp>
      <p:sp>
        <p:nvSpPr>
          <p:cNvPr id="26" name="Shape 24"/>
          <p:cNvSpPr/>
          <p:nvPr/>
        </p:nvSpPr>
        <p:spPr>
          <a:xfrm>
            <a:off x="6403925" y="6153001"/>
            <a:ext cx="5480000" cy="9525"/>
          </a:xfrm>
          <a:prstGeom prst="rect">
            <a:avLst/>
          </a:prstGeom>
          <a:solidFill>
            <a:srgbClr val="2A3450"/>
          </a:solidFill>
          <a:ln/>
        </p:spPr>
      </p:sp>
      <p:sp>
        <p:nvSpPr>
          <p:cNvPr id="27" name="Shape 25"/>
          <p:cNvSpPr/>
          <p:nvPr/>
        </p:nvSpPr>
        <p:spPr>
          <a:xfrm>
            <a:off x="11874401" y="2800201"/>
            <a:ext cx="9525" cy="3362325"/>
          </a:xfrm>
          <a:prstGeom prst="rect">
            <a:avLst/>
          </a:prstGeom>
          <a:solidFill>
            <a:srgbClr val="2A3450"/>
          </a:solidFill>
          <a:ln/>
        </p:spPr>
      </p:sp>
      <p:sp>
        <p:nvSpPr>
          <p:cNvPr id="28" name="Text 26"/>
          <p:cNvSpPr/>
          <p:nvPr/>
        </p:nvSpPr>
        <p:spPr>
          <a:xfrm>
            <a:off x="6670625" y="3066901"/>
            <a:ext cx="5085188"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555C6B"/>
                </a:solidFill>
                <a:latin typeface="Arial" pitchFamily="34" charset="0"/>
                <a:ea typeface="Arial" pitchFamily="34" charset="-122"/>
                <a:cs typeface="Arial" pitchFamily="34" charset="-120"/>
              </a:rPr>
              <a:t>M02</a:t>
            </a:r>
            <a:endParaRPr lang="en-US" sz="900" dirty="0"/>
          </a:p>
        </p:txBody>
      </p:sp>
      <p:sp>
        <p:nvSpPr>
          <p:cNvPr id="29" name="Text 27"/>
          <p:cNvSpPr/>
          <p:nvPr/>
        </p:nvSpPr>
        <p:spPr>
          <a:xfrm>
            <a:off x="6670625" y="3333601"/>
            <a:ext cx="5085188" cy="373261"/>
          </a:xfrm>
          <a:prstGeom prst="rect">
            <a:avLst/>
          </a:prstGeom>
          <a:noFill/>
          <a:ln/>
        </p:spPr>
        <p:txBody>
          <a:bodyPr wrap="square" lIns="25400" tIns="25400" rIns="25400" bIns="25400" rtlCol="0" anchor="t">
            <a:normAutofit/>
          </a:bodyPr>
          <a:lstStyle/>
          <a:p>
            <a:pPr algn="l" indent="0" marL="0">
              <a:lnSpc>
                <a:spcPct val="110000"/>
              </a:lnSpc>
              <a:buNone/>
            </a:pPr>
            <a:r>
              <a:rPr lang="en-US" sz="2400" spc="-24" kern="0" dirty="0">
                <a:solidFill>
                  <a:srgbClr val="ECEEF2"/>
                </a:solidFill>
                <a:latin typeface="Arial" pitchFamily="34" charset="0"/>
                <a:ea typeface="Arial" pitchFamily="34" charset="-122"/>
                <a:cs typeface="Arial" pitchFamily="34" charset="-120"/>
              </a:rPr>
              <a:t>Marketing Influenced</a:t>
            </a:r>
            <a:endParaRPr lang="en-US" sz="2400" dirty="0"/>
          </a:p>
        </p:txBody>
      </p:sp>
      <p:sp>
        <p:nvSpPr>
          <p:cNvPr id="30" name="Text 28"/>
          <p:cNvSpPr/>
          <p:nvPr/>
        </p:nvSpPr>
        <p:spPr>
          <a:xfrm>
            <a:off x="6670625" y="3802112"/>
            <a:ext cx="5085188" cy="507504"/>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BCC8"/>
                </a:solidFill>
                <a:latin typeface="Arial" pitchFamily="34" charset="0"/>
                <a:ea typeface="Arial" pitchFamily="34" charset="-122"/>
                <a:cs typeface="Arial" pitchFamily="34" charset="-120"/>
              </a:rPr>
              <a:t>Accounts with any marketing touchpoint in the 365 days before deal creation.</a:t>
            </a:r>
            <a:endParaRPr lang="en-US" sz="1275" dirty="0"/>
          </a:p>
        </p:txBody>
      </p:sp>
      <p:sp>
        <p:nvSpPr>
          <p:cNvPr id="31" name="Shape 29"/>
          <p:cNvSpPr/>
          <p:nvPr/>
        </p:nvSpPr>
        <p:spPr>
          <a:xfrm>
            <a:off x="6670625" y="4404866"/>
            <a:ext cx="4937075" cy="9525"/>
          </a:xfrm>
          <a:prstGeom prst="rect">
            <a:avLst/>
          </a:prstGeom>
          <a:solidFill>
            <a:srgbClr val="2A3450"/>
          </a:solidFill>
          <a:ln/>
        </p:spPr>
      </p:sp>
      <p:sp>
        <p:nvSpPr>
          <p:cNvPr id="32" name="Text 30"/>
          <p:cNvSpPr/>
          <p:nvPr/>
        </p:nvSpPr>
        <p:spPr>
          <a:xfrm>
            <a:off x="6670625" y="4547741"/>
            <a:ext cx="5085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36" kern="0" dirty="0">
                <a:solidFill>
                  <a:srgbClr val="ECEEF2"/>
                </a:solidFill>
                <a:latin typeface="Arial" pitchFamily="34" charset="0"/>
                <a:ea typeface="Arial" pitchFamily="34" charset="-122"/>
                <a:cs typeface="Arial" pitchFamily="34" charset="-120"/>
              </a:rPr>
              <a:t>Use: </a:t>
            </a:r>
            <a:pPr algn="l" indent="0" marL="0">
              <a:lnSpc>
                <a:spcPct val="150000"/>
              </a:lnSpc>
              <a:buNone/>
            </a:pPr>
            <a:r>
              <a:rPr lang="en-US" sz="900" spc="36" kern="0" dirty="0">
                <a:solidFill>
                  <a:srgbClr val="7C8493"/>
                </a:solidFill>
                <a:latin typeface="Arial" pitchFamily="34" charset="0"/>
                <a:ea typeface="Arial" pitchFamily="34" charset="-122"/>
                <a:cs typeface="Arial" pitchFamily="34" charset="-120"/>
              </a:rPr>
              <a:t>Proving broader contribution.</a:t>
            </a:r>
            <a:endParaRPr lang="en-US" sz="900" dirty="0"/>
          </a:p>
        </p:txBody>
      </p:sp>
      <p:sp>
        <p:nvSpPr>
          <p:cNvPr id="33" name="Shape 31"/>
          <p:cNvSpPr/>
          <p:nvPr/>
        </p:nvSpPr>
        <p:spPr>
          <a:xfrm>
            <a:off x="11883926" y="2800201"/>
            <a:ext cx="5480000" cy="3362325"/>
          </a:xfrm>
          <a:prstGeom prst="rect">
            <a:avLst/>
          </a:prstGeom>
          <a:solidFill>
            <a:srgbClr val="0A0E1C"/>
          </a:solidFill>
          <a:ln/>
        </p:spPr>
      </p:sp>
      <p:sp>
        <p:nvSpPr>
          <p:cNvPr id="34" name="Shape 32"/>
          <p:cNvSpPr/>
          <p:nvPr/>
        </p:nvSpPr>
        <p:spPr>
          <a:xfrm>
            <a:off x="11883926" y="6153001"/>
            <a:ext cx="5480000" cy="9525"/>
          </a:xfrm>
          <a:prstGeom prst="rect">
            <a:avLst/>
          </a:prstGeom>
          <a:solidFill>
            <a:srgbClr val="2A3450"/>
          </a:solidFill>
          <a:ln/>
        </p:spPr>
      </p:sp>
      <p:sp>
        <p:nvSpPr>
          <p:cNvPr id="35" name="Text 33"/>
          <p:cNvSpPr/>
          <p:nvPr/>
        </p:nvSpPr>
        <p:spPr>
          <a:xfrm>
            <a:off x="12150626" y="3066901"/>
            <a:ext cx="5094998"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555C6B"/>
                </a:solidFill>
                <a:latin typeface="Arial" pitchFamily="34" charset="0"/>
                <a:ea typeface="Arial" pitchFamily="34" charset="-122"/>
                <a:cs typeface="Arial" pitchFamily="34" charset="-120"/>
              </a:rPr>
              <a:t>M03</a:t>
            </a:r>
            <a:endParaRPr lang="en-US" sz="900" dirty="0"/>
          </a:p>
        </p:txBody>
      </p:sp>
      <p:sp>
        <p:nvSpPr>
          <p:cNvPr id="36" name="Text 34"/>
          <p:cNvSpPr/>
          <p:nvPr/>
        </p:nvSpPr>
        <p:spPr>
          <a:xfrm>
            <a:off x="12150626" y="3333601"/>
            <a:ext cx="5094998" cy="373261"/>
          </a:xfrm>
          <a:prstGeom prst="rect">
            <a:avLst/>
          </a:prstGeom>
          <a:noFill/>
          <a:ln/>
        </p:spPr>
        <p:txBody>
          <a:bodyPr wrap="square" lIns="25400" tIns="25400" rIns="25400" bIns="25400" rtlCol="0" anchor="t">
            <a:normAutofit/>
          </a:bodyPr>
          <a:lstStyle/>
          <a:p>
            <a:pPr algn="l" indent="0" marL="0">
              <a:lnSpc>
                <a:spcPct val="110000"/>
              </a:lnSpc>
              <a:buNone/>
            </a:pPr>
            <a:r>
              <a:rPr lang="en-US" sz="2400" spc="-24" kern="0" dirty="0">
                <a:solidFill>
                  <a:srgbClr val="ECEEF2"/>
                </a:solidFill>
                <a:latin typeface="Arial" pitchFamily="34" charset="0"/>
                <a:ea typeface="Arial" pitchFamily="34" charset="-122"/>
                <a:cs typeface="Arial" pitchFamily="34" charset="-120"/>
              </a:rPr>
              <a:t>First-Touch</a:t>
            </a:r>
            <a:endParaRPr lang="en-US" sz="2400" dirty="0"/>
          </a:p>
        </p:txBody>
      </p:sp>
      <p:sp>
        <p:nvSpPr>
          <p:cNvPr id="37" name="Text 35"/>
          <p:cNvSpPr/>
          <p:nvPr/>
        </p:nvSpPr>
        <p:spPr>
          <a:xfrm>
            <a:off x="12150626" y="3802112"/>
            <a:ext cx="5094998" cy="27280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BCC8"/>
                </a:solidFill>
                <a:latin typeface="Arial" pitchFamily="34" charset="0"/>
                <a:ea typeface="Arial" pitchFamily="34" charset="-122"/>
                <a:cs typeface="Arial" pitchFamily="34" charset="-120"/>
              </a:rPr>
              <a:t>100% credit to the earliest touchpoint in the journey.</a:t>
            </a:r>
            <a:endParaRPr lang="en-US" sz="1275" dirty="0"/>
          </a:p>
        </p:txBody>
      </p:sp>
      <p:sp>
        <p:nvSpPr>
          <p:cNvPr id="38" name="Shape 36"/>
          <p:cNvSpPr/>
          <p:nvPr/>
        </p:nvSpPr>
        <p:spPr>
          <a:xfrm>
            <a:off x="12150626" y="4170164"/>
            <a:ext cx="4946600" cy="9525"/>
          </a:xfrm>
          <a:prstGeom prst="rect">
            <a:avLst/>
          </a:prstGeom>
          <a:solidFill>
            <a:srgbClr val="2A3450"/>
          </a:solidFill>
          <a:ln/>
        </p:spPr>
      </p:sp>
      <p:sp>
        <p:nvSpPr>
          <p:cNvPr id="39" name="Text 37"/>
          <p:cNvSpPr/>
          <p:nvPr/>
        </p:nvSpPr>
        <p:spPr>
          <a:xfrm>
            <a:off x="12150626" y="4313039"/>
            <a:ext cx="509499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36" kern="0" dirty="0">
                <a:solidFill>
                  <a:srgbClr val="ECEEF2"/>
                </a:solidFill>
                <a:latin typeface="Arial" pitchFamily="34" charset="0"/>
                <a:ea typeface="Arial" pitchFamily="34" charset="-122"/>
                <a:cs typeface="Arial" pitchFamily="34" charset="-120"/>
              </a:rPr>
              <a:t>Use: </a:t>
            </a:r>
            <a:pPr algn="l" indent="0" marL="0">
              <a:lnSpc>
                <a:spcPct val="150000"/>
              </a:lnSpc>
              <a:buNone/>
            </a:pPr>
            <a:r>
              <a:rPr lang="en-US" sz="900" spc="36" kern="0" dirty="0">
                <a:solidFill>
                  <a:srgbClr val="7C8493"/>
                </a:solidFill>
                <a:latin typeface="Arial" pitchFamily="34" charset="0"/>
                <a:ea typeface="Arial" pitchFamily="34" charset="-122"/>
                <a:cs typeface="Arial" pitchFamily="34" charset="-120"/>
              </a:rPr>
              <a:t>Top-of-funnel awareness investment.</a:t>
            </a:r>
            <a:endParaRPr lang="en-US" sz="900" dirty="0"/>
          </a:p>
        </p:txBody>
      </p:sp>
      <p:sp>
        <p:nvSpPr>
          <p:cNvPr id="40" name="Shape 38"/>
          <p:cNvSpPr/>
          <p:nvPr/>
        </p:nvSpPr>
        <p:spPr>
          <a:xfrm>
            <a:off x="923925" y="6162526"/>
            <a:ext cx="5480000" cy="3391049"/>
          </a:xfrm>
          <a:prstGeom prst="rect">
            <a:avLst/>
          </a:prstGeom>
          <a:solidFill>
            <a:srgbClr val="0A0E1C"/>
          </a:solidFill>
          <a:ln/>
        </p:spPr>
      </p:sp>
      <p:sp>
        <p:nvSpPr>
          <p:cNvPr id="41" name="Shape 39"/>
          <p:cNvSpPr/>
          <p:nvPr/>
        </p:nvSpPr>
        <p:spPr>
          <a:xfrm>
            <a:off x="6394400" y="6162526"/>
            <a:ext cx="9525" cy="3391049"/>
          </a:xfrm>
          <a:prstGeom prst="rect">
            <a:avLst/>
          </a:prstGeom>
          <a:solidFill>
            <a:srgbClr val="2A3450"/>
          </a:solidFill>
          <a:ln/>
        </p:spPr>
      </p:sp>
      <p:sp>
        <p:nvSpPr>
          <p:cNvPr id="42" name="Text 40"/>
          <p:cNvSpPr/>
          <p:nvPr/>
        </p:nvSpPr>
        <p:spPr>
          <a:xfrm>
            <a:off x="1190625" y="6429226"/>
            <a:ext cx="5085188"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555C6B"/>
                </a:solidFill>
                <a:latin typeface="Arial" pitchFamily="34" charset="0"/>
                <a:ea typeface="Arial" pitchFamily="34" charset="-122"/>
                <a:cs typeface="Arial" pitchFamily="34" charset="-120"/>
              </a:rPr>
              <a:t>M04</a:t>
            </a:r>
            <a:endParaRPr lang="en-US" sz="900" dirty="0"/>
          </a:p>
        </p:txBody>
      </p:sp>
      <p:sp>
        <p:nvSpPr>
          <p:cNvPr id="43" name="Text 41"/>
          <p:cNvSpPr/>
          <p:nvPr/>
        </p:nvSpPr>
        <p:spPr>
          <a:xfrm>
            <a:off x="1190625" y="6695926"/>
            <a:ext cx="5085188" cy="373261"/>
          </a:xfrm>
          <a:prstGeom prst="rect">
            <a:avLst/>
          </a:prstGeom>
          <a:noFill/>
          <a:ln/>
        </p:spPr>
        <p:txBody>
          <a:bodyPr wrap="square" lIns="25400" tIns="25400" rIns="25400" bIns="25400" rtlCol="0" anchor="t">
            <a:normAutofit/>
          </a:bodyPr>
          <a:lstStyle/>
          <a:p>
            <a:pPr algn="l" indent="0" marL="0">
              <a:lnSpc>
                <a:spcPct val="110000"/>
              </a:lnSpc>
              <a:buNone/>
            </a:pPr>
            <a:r>
              <a:rPr lang="en-US" sz="2400" spc="-24" kern="0" dirty="0">
                <a:solidFill>
                  <a:srgbClr val="ECEEF2"/>
                </a:solidFill>
                <a:latin typeface="Arial" pitchFamily="34" charset="0"/>
                <a:ea typeface="Arial" pitchFamily="34" charset="-122"/>
                <a:cs typeface="Arial" pitchFamily="34" charset="-120"/>
              </a:rPr>
              <a:t>Last-Touch</a:t>
            </a:r>
            <a:endParaRPr lang="en-US" sz="2400" dirty="0"/>
          </a:p>
        </p:txBody>
      </p:sp>
      <p:sp>
        <p:nvSpPr>
          <p:cNvPr id="44" name="Text 42"/>
          <p:cNvSpPr/>
          <p:nvPr/>
        </p:nvSpPr>
        <p:spPr>
          <a:xfrm>
            <a:off x="1190625" y="7164437"/>
            <a:ext cx="5085188" cy="27280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BCC8"/>
                </a:solidFill>
                <a:latin typeface="Arial" pitchFamily="34" charset="0"/>
                <a:ea typeface="Arial" pitchFamily="34" charset="-122"/>
                <a:cs typeface="Arial" pitchFamily="34" charset="-120"/>
              </a:rPr>
              <a:t>100% credit to the most recent touchpoint before deal creation.</a:t>
            </a:r>
            <a:endParaRPr lang="en-US" sz="1275" dirty="0"/>
          </a:p>
        </p:txBody>
      </p:sp>
      <p:sp>
        <p:nvSpPr>
          <p:cNvPr id="45" name="Shape 43"/>
          <p:cNvSpPr/>
          <p:nvPr/>
        </p:nvSpPr>
        <p:spPr>
          <a:xfrm>
            <a:off x="1190625" y="7532489"/>
            <a:ext cx="4937075" cy="9525"/>
          </a:xfrm>
          <a:prstGeom prst="rect">
            <a:avLst/>
          </a:prstGeom>
          <a:solidFill>
            <a:srgbClr val="2A3450"/>
          </a:solidFill>
          <a:ln/>
        </p:spPr>
      </p:sp>
      <p:sp>
        <p:nvSpPr>
          <p:cNvPr id="46" name="Text 44"/>
          <p:cNvSpPr/>
          <p:nvPr/>
        </p:nvSpPr>
        <p:spPr>
          <a:xfrm>
            <a:off x="1190625" y="7675364"/>
            <a:ext cx="5085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36" kern="0" dirty="0">
                <a:solidFill>
                  <a:srgbClr val="ECEEF2"/>
                </a:solidFill>
                <a:latin typeface="Arial" pitchFamily="34" charset="0"/>
                <a:ea typeface="Arial" pitchFamily="34" charset="-122"/>
                <a:cs typeface="Arial" pitchFamily="34" charset="-120"/>
              </a:rPr>
              <a:t>Use: </a:t>
            </a:r>
            <a:pPr algn="l" indent="0" marL="0">
              <a:lnSpc>
                <a:spcPct val="150000"/>
              </a:lnSpc>
              <a:buNone/>
            </a:pPr>
            <a:r>
              <a:rPr lang="en-US" sz="900" spc="36" kern="0" dirty="0">
                <a:solidFill>
                  <a:srgbClr val="7C8493"/>
                </a:solidFill>
                <a:latin typeface="Arial" pitchFamily="34" charset="0"/>
                <a:ea typeface="Arial" pitchFamily="34" charset="-122"/>
                <a:cs typeface="Arial" pitchFamily="34" charset="-120"/>
              </a:rPr>
              <a:t>Understanding what closes deals.</a:t>
            </a:r>
            <a:endParaRPr lang="en-US" sz="900" dirty="0"/>
          </a:p>
        </p:txBody>
      </p:sp>
      <p:sp>
        <p:nvSpPr>
          <p:cNvPr id="47" name="Shape 45"/>
          <p:cNvSpPr/>
          <p:nvPr/>
        </p:nvSpPr>
        <p:spPr>
          <a:xfrm>
            <a:off x="6403925" y="6162526"/>
            <a:ext cx="5480000" cy="3391049"/>
          </a:xfrm>
          <a:prstGeom prst="rect">
            <a:avLst/>
          </a:prstGeom>
          <a:solidFill>
            <a:srgbClr val="0A0E1C"/>
          </a:solidFill>
          <a:ln/>
        </p:spPr>
      </p:sp>
      <p:sp>
        <p:nvSpPr>
          <p:cNvPr id="48" name="Shape 46"/>
          <p:cNvSpPr/>
          <p:nvPr/>
        </p:nvSpPr>
        <p:spPr>
          <a:xfrm>
            <a:off x="11874401" y="6162526"/>
            <a:ext cx="9525" cy="3391049"/>
          </a:xfrm>
          <a:prstGeom prst="rect">
            <a:avLst/>
          </a:prstGeom>
          <a:solidFill>
            <a:srgbClr val="2A3450"/>
          </a:solidFill>
          <a:ln/>
        </p:spPr>
      </p:sp>
      <p:sp>
        <p:nvSpPr>
          <p:cNvPr id="49" name="Text 47"/>
          <p:cNvSpPr/>
          <p:nvPr/>
        </p:nvSpPr>
        <p:spPr>
          <a:xfrm>
            <a:off x="6670625" y="6429226"/>
            <a:ext cx="5085188"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555C6B"/>
                </a:solidFill>
                <a:latin typeface="Arial" pitchFamily="34" charset="0"/>
                <a:ea typeface="Arial" pitchFamily="34" charset="-122"/>
                <a:cs typeface="Arial" pitchFamily="34" charset="-120"/>
              </a:rPr>
              <a:t>M05</a:t>
            </a:r>
            <a:endParaRPr lang="en-US" sz="900" dirty="0"/>
          </a:p>
        </p:txBody>
      </p:sp>
      <p:sp>
        <p:nvSpPr>
          <p:cNvPr id="50" name="Text 48"/>
          <p:cNvSpPr/>
          <p:nvPr/>
        </p:nvSpPr>
        <p:spPr>
          <a:xfrm>
            <a:off x="6670625" y="6695926"/>
            <a:ext cx="5085188" cy="373261"/>
          </a:xfrm>
          <a:prstGeom prst="rect">
            <a:avLst/>
          </a:prstGeom>
          <a:noFill/>
          <a:ln/>
        </p:spPr>
        <p:txBody>
          <a:bodyPr wrap="square" lIns="25400" tIns="25400" rIns="25400" bIns="25400" rtlCol="0" anchor="t">
            <a:normAutofit/>
          </a:bodyPr>
          <a:lstStyle/>
          <a:p>
            <a:pPr algn="l" indent="0" marL="0">
              <a:lnSpc>
                <a:spcPct val="110000"/>
              </a:lnSpc>
              <a:buNone/>
            </a:pPr>
            <a:r>
              <a:rPr lang="en-US" sz="2400" spc="-24" kern="0" dirty="0">
                <a:solidFill>
                  <a:srgbClr val="ECEEF2"/>
                </a:solidFill>
                <a:latin typeface="Arial" pitchFamily="34" charset="0"/>
                <a:ea typeface="Arial" pitchFamily="34" charset="-122"/>
                <a:cs typeface="Arial" pitchFamily="34" charset="-120"/>
              </a:rPr>
              <a:t>Linear</a:t>
            </a:r>
            <a:endParaRPr lang="en-US" sz="2400" dirty="0"/>
          </a:p>
        </p:txBody>
      </p:sp>
      <p:sp>
        <p:nvSpPr>
          <p:cNvPr id="51" name="Text 49"/>
          <p:cNvSpPr/>
          <p:nvPr/>
        </p:nvSpPr>
        <p:spPr>
          <a:xfrm>
            <a:off x="6670625" y="7164437"/>
            <a:ext cx="5085188" cy="272802"/>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BCC8"/>
                </a:solidFill>
                <a:latin typeface="Arial" pitchFamily="34" charset="0"/>
                <a:ea typeface="Arial" pitchFamily="34" charset="-122"/>
                <a:cs typeface="Arial" pitchFamily="34" charset="-120"/>
              </a:rPr>
              <a:t>Equal credit across all unique channels touched in the journey.</a:t>
            </a:r>
            <a:endParaRPr lang="en-US" sz="1275" dirty="0"/>
          </a:p>
        </p:txBody>
      </p:sp>
      <p:sp>
        <p:nvSpPr>
          <p:cNvPr id="52" name="Shape 50"/>
          <p:cNvSpPr/>
          <p:nvPr/>
        </p:nvSpPr>
        <p:spPr>
          <a:xfrm>
            <a:off x="6670625" y="7532489"/>
            <a:ext cx="4937075" cy="9525"/>
          </a:xfrm>
          <a:prstGeom prst="rect">
            <a:avLst/>
          </a:prstGeom>
          <a:solidFill>
            <a:srgbClr val="2A3450"/>
          </a:solidFill>
          <a:ln/>
        </p:spPr>
      </p:sp>
      <p:sp>
        <p:nvSpPr>
          <p:cNvPr id="53" name="Text 51"/>
          <p:cNvSpPr/>
          <p:nvPr/>
        </p:nvSpPr>
        <p:spPr>
          <a:xfrm>
            <a:off x="6670625" y="7675364"/>
            <a:ext cx="5085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36" kern="0" dirty="0">
                <a:solidFill>
                  <a:srgbClr val="ECEEF2"/>
                </a:solidFill>
                <a:latin typeface="Arial" pitchFamily="34" charset="0"/>
                <a:ea typeface="Arial" pitchFamily="34" charset="-122"/>
                <a:cs typeface="Arial" pitchFamily="34" charset="-120"/>
              </a:rPr>
              <a:t>Use: </a:t>
            </a:r>
            <a:pPr algn="l" indent="0" marL="0">
              <a:lnSpc>
                <a:spcPct val="150000"/>
              </a:lnSpc>
              <a:buNone/>
            </a:pPr>
            <a:r>
              <a:rPr lang="en-US" sz="900" spc="36" kern="0" dirty="0">
                <a:solidFill>
                  <a:srgbClr val="7C8493"/>
                </a:solidFill>
                <a:latin typeface="Arial" pitchFamily="34" charset="0"/>
                <a:ea typeface="Arial" pitchFamily="34" charset="-122"/>
                <a:cs typeface="Arial" pitchFamily="34" charset="-120"/>
              </a:rPr>
              <a:t>Fair multi-channel budget allocation.</a:t>
            </a:r>
            <a:endParaRPr lang="en-US" sz="900" dirty="0"/>
          </a:p>
        </p:txBody>
      </p:sp>
      <p:sp>
        <p:nvSpPr>
          <p:cNvPr id="54" name="Shape 52"/>
          <p:cNvSpPr/>
          <p:nvPr/>
        </p:nvSpPr>
        <p:spPr>
          <a:xfrm>
            <a:off x="11883926" y="6162526"/>
            <a:ext cx="5480000" cy="3391049"/>
          </a:xfrm>
          <a:prstGeom prst="rect">
            <a:avLst/>
          </a:prstGeom>
          <a:solidFill>
            <a:srgbClr val="0A0E1C"/>
          </a:solidFill>
          <a:ln/>
        </p:spPr>
      </p:sp>
      <p:sp>
        <p:nvSpPr>
          <p:cNvPr id="55" name="Shape 53"/>
          <p:cNvSpPr/>
          <p:nvPr/>
        </p:nvSpPr>
        <p:spPr>
          <a:xfrm>
            <a:off x="12150626" y="6438751"/>
            <a:ext cx="1169343" cy="180975"/>
          </a:xfrm>
          <a:prstGeom prst="rect">
            <a:avLst/>
          </a:prstGeom>
          <a:ln w="9525">
            <a:solidFill>
              <a:srgbClr val="82A6D9"/>
            </a:solidFill>
            <a:prstDash val="solid"/>
          </a:ln>
        </p:spPr>
      </p:sp>
      <p:sp>
        <p:nvSpPr>
          <p:cNvPr id="56" name="Text 54"/>
          <p:cNvSpPr/>
          <p:nvPr/>
        </p:nvSpPr>
        <p:spPr>
          <a:xfrm>
            <a:off x="12236351" y="6476851"/>
            <a:ext cx="1074093" cy="142875"/>
          </a:xfrm>
          <a:prstGeom prst="rect">
            <a:avLst/>
          </a:prstGeom>
          <a:noFill/>
          <a:ln/>
        </p:spPr>
        <p:txBody>
          <a:bodyPr wrap="square" lIns="25400" tIns="25400" rIns="25400" bIns="25400" rtlCol="0" anchor="t">
            <a:normAutofit/>
          </a:bodyPr>
          <a:lstStyle/>
          <a:p>
            <a:pPr algn="l" indent="0" marL="0">
              <a:buNone/>
            </a:pPr>
            <a:r>
              <a:rPr lang="en-US" sz="750" spc="165" kern="0" dirty="0">
                <a:solidFill>
                  <a:srgbClr val="82A6D9"/>
                </a:solidFill>
                <a:latin typeface="Arial" pitchFamily="34" charset="0"/>
                <a:ea typeface="Arial" pitchFamily="34" charset="-122"/>
                <a:cs typeface="Arial" pitchFamily="34" charset="-120"/>
              </a:rPr>
              <a:t>RECOMMENDED</a:t>
            </a:r>
            <a:endParaRPr lang="en-US" sz="750" dirty="0"/>
          </a:p>
        </p:txBody>
      </p:sp>
      <p:sp>
        <p:nvSpPr>
          <p:cNvPr id="57" name="Text 55"/>
          <p:cNvSpPr/>
          <p:nvPr/>
        </p:nvSpPr>
        <p:spPr>
          <a:xfrm>
            <a:off x="12150626" y="6734026"/>
            <a:ext cx="5094998" cy="373261"/>
          </a:xfrm>
          <a:prstGeom prst="rect">
            <a:avLst/>
          </a:prstGeom>
          <a:noFill/>
          <a:ln/>
        </p:spPr>
        <p:txBody>
          <a:bodyPr wrap="square" lIns="25400" tIns="25400" rIns="25400" bIns="25400" rtlCol="0" anchor="t">
            <a:normAutofit/>
          </a:bodyPr>
          <a:lstStyle/>
          <a:p>
            <a:pPr algn="l" indent="0" marL="0">
              <a:lnSpc>
                <a:spcPct val="110000"/>
              </a:lnSpc>
              <a:buNone/>
            </a:pPr>
            <a:r>
              <a:rPr lang="en-US" sz="2400" spc="-24" kern="0" dirty="0">
                <a:solidFill>
                  <a:srgbClr val="82A6D9"/>
                </a:solidFill>
                <a:latin typeface="Arial" pitchFamily="34" charset="0"/>
                <a:ea typeface="Arial" pitchFamily="34" charset="-122"/>
                <a:cs typeface="Arial" pitchFamily="34" charset="-120"/>
              </a:rPr>
              <a:t>Time-Decay</a:t>
            </a:r>
            <a:endParaRPr lang="en-US" sz="2400" dirty="0"/>
          </a:p>
        </p:txBody>
      </p:sp>
      <p:sp>
        <p:nvSpPr>
          <p:cNvPr id="58" name="Text 56"/>
          <p:cNvSpPr/>
          <p:nvPr/>
        </p:nvSpPr>
        <p:spPr>
          <a:xfrm>
            <a:off x="12150626" y="7202537"/>
            <a:ext cx="5094998" cy="507504"/>
          </a:xfrm>
          <a:prstGeom prst="rect">
            <a:avLst/>
          </a:prstGeom>
          <a:noFill/>
          <a:ln/>
        </p:spPr>
        <p:txBody>
          <a:bodyPr wrap="square" lIns="25400" tIns="25400" rIns="25400" bIns="25400" rtlCol="0" anchor="t">
            <a:normAutofit/>
          </a:bodyPr>
          <a:lstStyle/>
          <a:p>
            <a:pPr algn="l" indent="0" marL="0">
              <a:lnSpc>
                <a:spcPct val="145000"/>
              </a:lnSpc>
              <a:buNone/>
            </a:pPr>
            <a:r>
              <a:rPr lang="en-US" sz="1275" dirty="0">
                <a:solidFill>
                  <a:srgbClr val="B7BCC8"/>
                </a:solidFill>
                <a:latin typeface="Arial" pitchFamily="34" charset="0"/>
                <a:ea typeface="Arial" pitchFamily="34" charset="-122"/>
                <a:cs typeface="Arial" pitchFamily="34" charset="-120"/>
              </a:rPr>
              <a:t>Exponential weighting (30-day half-life) — recent touches get more credit.</a:t>
            </a:r>
            <a:endParaRPr lang="en-US" sz="1275" dirty="0"/>
          </a:p>
        </p:txBody>
      </p:sp>
      <p:sp>
        <p:nvSpPr>
          <p:cNvPr id="59" name="Shape 57"/>
          <p:cNvSpPr/>
          <p:nvPr/>
        </p:nvSpPr>
        <p:spPr>
          <a:xfrm>
            <a:off x="12150626" y="7805291"/>
            <a:ext cx="4946600" cy="9525"/>
          </a:xfrm>
          <a:prstGeom prst="rect">
            <a:avLst/>
          </a:prstGeom>
          <a:solidFill>
            <a:srgbClr val="2A3450"/>
          </a:solidFill>
          <a:ln/>
        </p:spPr>
      </p:sp>
      <p:sp>
        <p:nvSpPr>
          <p:cNvPr id="60" name="Text 58"/>
          <p:cNvSpPr/>
          <p:nvPr/>
        </p:nvSpPr>
        <p:spPr>
          <a:xfrm>
            <a:off x="12150626" y="7948166"/>
            <a:ext cx="509499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spc="36" kern="0" dirty="0">
                <a:solidFill>
                  <a:srgbClr val="ECEEF2"/>
                </a:solidFill>
                <a:latin typeface="Arial" pitchFamily="34" charset="0"/>
                <a:ea typeface="Arial" pitchFamily="34" charset="-122"/>
                <a:cs typeface="Arial" pitchFamily="34" charset="-120"/>
              </a:rPr>
              <a:t>Use: </a:t>
            </a:r>
            <a:pPr algn="l" indent="0" marL="0">
              <a:lnSpc>
                <a:spcPct val="150000"/>
              </a:lnSpc>
              <a:buNone/>
            </a:pPr>
            <a:r>
              <a:rPr lang="en-US" sz="900" spc="36" kern="0" dirty="0">
                <a:solidFill>
                  <a:srgbClr val="7C8493"/>
                </a:solidFill>
                <a:latin typeface="Arial" pitchFamily="34" charset="0"/>
                <a:ea typeface="Arial" pitchFamily="34" charset="-122"/>
                <a:cs typeface="Arial" pitchFamily="34" charset="-120"/>
              </a:rPr>
              <a:t>Budget optimization decisions.</a:t>
            </a:r>
            <a:endParaRPr lang="en-US" sz="900" dirty="0"/>
          </a:p>
        </p:txBody>
      </p:sp>
      <p:sp>
        <p:nvSpPr>
          <p:cNvPr id="61" name="Text 59"/>
          <p:cNvSpPr/>
          <p:nvPr/>
        </p:nvSpPr>
        <p:spPr>
          <a:xfrm>
            <a:off x="762000" y="9791700"/>
            <a:ext cx="1340495"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04 / METHOD</a:t>
            </a:r>
            <a:endParaRPr lang="en-US" sz="900" dirty="0"/>
          </a:p>
        </p:txBody>
      </p:sp>
      <p:sp>
        <p:nvSpPr>
          <p:cNvPr id="62" name="Text 60"/>
          <p:cNvSpPr/>
          <p:nvPr/>
        </p:nvSpPr>
        <p:spPr>
          <a:xfrm>
            <a:off x="15702260" y="9791700"/>
            <a:ext cx="1899940"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WINDOW: 365D PRE-DEAL</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61717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05 / 21 · ATTRIBUTION RESULTS</a:t>
            </a:r>
            <a:endParaRPr lang="en-US" sz="975" dirty="0"/>
          </a:p>
        </p:txBody>
      </p:sp>
      <p:sp>
        <p:nvSpPr>
          <p:cNvPr id="11" name="Text 9"/>
          <p:cNvSpPr/>
          <p:nvPr/>
        </p:nvSpPr>
        <p:spPr>
          <a:xfrm>
            <a:off x="16649402" y="361950"/>
            <a:ext cx="952798"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05</a:t>
            </a:r>
            <a:endParaRPr lang="en-US" sz="1125" dirty="0"/>
          </a:p>
        </p:txBody>
      </p:sp>
      <p:sp>
        <p:nvSpPr>
          <p:cNvPr id="13" name="Text 11"/>
          <p:cNvSpPr/>
          <p:nvPr/>
        </p:nvSpPr>
        <p:spPr>
          <a:xfrm>
            <a:off x="1275308" y="800100"/>
            <a:ext cx="1120527"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RESULTS</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Email starts conversations; 6sense closes them.</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Pipeline credit by channel under each of six models — 17,702 touchpoints across 3,166 deals.</a:t>
            </a:r>
            <a:endParaRPr lang="en-US" sz="2100" dirty="0"/>
          </a:p>
        </p:txBody>
      </p:sp>
      <p:sp>
        <p:nvSpPr>
          <p:cNvPr id="16" name="Text 14"/>
          <p:cNvSpPr/>
          <p:nvPr/>
        </p:nvSpPr>
        <p:spPr>
          <a:xfrm>
            <a:off x="914400" y="2733526"/>
            <a:ext cx="3462888"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$M PIPELINE CREDIT BY ATTRIBUTION MODEL</a:t>
            </a:r>
            <a:endParaRPr lang="en-US" sz="900" dirty="0"/>
          </a:p>
        </p:txBody>
      </p:sp>
      <p:sp>
        <p:nvSpPr>
          <p:cNvPr id="17" name="Text 15"/>
          <p:cNvSpPr/>
          <p:nvPr/>
        </p:nvSpPr>
        <p:spPr>
          <a:xfrm>
            <a:off x="16159460" y="2733526"/>
            <a:ext cx="1290340"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N = 3,166 DEALS</a:t>
            </a:r>
            <a:endParaRPr lang="en-US" sz="900" dirty="0"/>
          </a:p>
        </p:txBody>
      </p:sp>
      <p:pic>
        <p:nvPicPr>
          <p:cNvPr id="18" name="Image 0" descr="preencoded.png">    </p:cNvPr>
          <p:cNvPicPr>
            <a:picLocks noChangeAspect="1"/>
          </p:cNvPicPr>
          <p:nvPr/>
        </p:nvPicPr>
        <p:blipFill>
          <a:blip r:embed="rId1"/>
          <a:stretch>
            <a:fillRect/>
          </a:stretch>
        </p:blipFill>
        <p:spPr>
          <a:xfrm>
            <a:off x="914400" y="3000226"/>
            <a:ext cx="16459200" cy="5279082"/>
          </a:xfrm>
          <a:prstGeom prst="rect">
            <a:avLst/>
          </a:prstGeom>
        </p:spPr>
      </p:pic>
      <p:sp>
        <p:nvSpPr>
          <p:cNvPr id="19" name="Text 16"/>
          <p:cNvSpPr/>
          <p:nvPr/>
        </p:nvSpPr>
        <p:spPr>
          <a:xfrm>
            <a:off x="914400" y="8393609"/>
            <a:ext cx="913507" cy="17145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B7BCC8"/>
                </a:solidFill>
                <a:latin typeface="Arial" pitchFamily="34" charset="0"/>
                <a:ea typeface="Arial" pitchFamily="34" charset="-122"/>
                <a:cs typeface="Arial" pitchFamily="34" charset="-120"/>
              </a:rPr>
              <a:t>First-Touch</a:t>
            </a:r>
            <a:endParaRPr lang="en-US" sz="900" dirty="0"/>
          </a:p>
        </p:txBody>
      </p:sp>
      <p:sp>
        <p:nvSpPr>
          <p:cNvPr id="20" name="Text 17"/>
          <p:cNvSpPr/>
          <p:nvPr/>
        </p:nvSpPr>
        <p:spPr>
          <a:xfrm>
            <a:off x="1961257" y="8393609"/>
            <a:ext cx="898327" cy="17145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B7BCC8"/>
                </a:solidFill>
                <a:latin typeface="Arial" pitchFamily="34" charset="0"/>
                <a:ea typeface="Arial" pitchFamily="34" charset="-122"/>
                <a:cs typeface="Arial" pitchFamily="34" charset="-120"/>
              </a:rPr>
              <a:t>Last-Touch</a:t>
            </a:r>
            <a:endParaRPr lang="en-US" sz="900" dirty="0"/>
          </a:p>
        </p:txBody>
      </p:sp>
      <p:sp>
        <p:nvSpPr>
          <p:cNvPr id="21" name="Text 18"/>
          <p:cNvSpPr/>
          <p:nvPr/>
        </p:nvSpPr>
        <p:spPr>
          <a:xfrm>
            <a:off x="2992934" y="8393609"/>
            <a:ext cx="620316" cy="17145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B7BCC8"/>
                </a:solidFill>
                <a:latin typeface="Arial" pitchFamily="34" charset="0"/>
                <a:ea typeface="Arial" pitchFamily="34" charset="-122"/>
                <a:cs typeface="Arial" pitchFamily="34" charset="-120"/>
              </a:rPr>
              <a:t>Linear</a:t>
            </a:r>
            <a:endParaRPr lang="en-US" sz="900" dirty="0"/>
          </a:p>
        </p:txBody>
      </p:sp>
      <p:sp>
        <p:nvSpPr>
          <p:cNvPr id="22" name="Text 19"/>
          <p:cNvSpPr/>
          <p:nvPr/>
        </p:nvSpPr>
        <p:spPr>
          <a:xfrm>
            <a:off x="3746599" y="8393609"/>
            <a:ext cx="951012" cy="17145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B7BCC8"/>
                </a:solidFill>
                <a:latin typeface="Arial" pitchFamily="34" charset="0"/>
                <a:ea typeface="Arial" pitchFamily="34" charset="-122"/>
                <a:cs typeface="Arial" pitchFamily="34" charset="-120"/>
              </a:rPr>
              <a:t>Time-Decay</a:t>
            </a:r>
            <a:endParaRPr lang="en-US" sz="900" dirty="0"/>
          </a:p>
        </p:txBody>
      </p:sp>
      <p:sp>
        <p:nvSpPr>
          <p:cNvPr id="23" name="Text 20"/>
          <p:cNvSpPr/>
          <p:nvPr/>
        </p:nvSpPr>
        <p:spPr>
          <a:xfrm>
            <a:off x="4830961" y="8393609"/>
            <a:ext cx="737443" cy="17145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B7BCC8"/>
                </a:solidFill>
                <a:latin typeface="Arial" pitchFamily="34" charset="0"/>
                <a:ea typeface="Arial" pitchFamily="34" charset="-122"/>
                <a:cs typeface="Arial" pitchFamily="34" charset="-120"/>
              </a:rPr>
              <a:t>Sourced</a:t>
            </a:r>
            <a:endParaRPr lang="en-US" sz="900" dirty="0"/>
          </a:p>
        </p:txBody>
      </p:sp>
      <p:sp>
        <p:nvSpPr>
          <p:cNvPr id="24" name="Shape 21"/>
          <p:cNvSpPr/>
          <p:nvPr/>
        </p:nvSpPr>
        <p:spPr>
          <a:xfrm>
            <a:off x="914400" y="8736509"/>
            <a:ext cx="16459200" cy="9525"/>
          </a:xfrm>
          <a:prstGeom prst="rect">
            <a:avLst/>
          </a:prstGeom>
          <a:solidFill>
            <a:srgbClr val="2A3450"/>
          </a:solidFill>
          <a:ln/>
        </p:spPr>
      </p:sp>
      <p:sp>
        <p:nvSpPr>
          <p:cNvPr id="25" name="Text 22"/>
          <p:cNvSpPr/>
          <p:nvPr/>
        </p:nvSpPr>
        <p:spPr>
          <a:xfrm>
            <a:off x="914400" y="8955584"/>
            <a:ext cx="2171700" cy="645616"/>
          </a:xfrm>
          <a:prstGeom prst="rect">
            <a:avLst/>
          </a:prstGeom>
          <a:noFill/>
          <a:ln/>
        </p:spPr>
        <p:txBody>
          <a:bodyPr wrap="square" lIns="25400" tIns="25400" rIns="25400" bIns="25400" rtlCol="0" anchor="t">
            <a:normAutofit/>
          </a:bodyPr>
          <a:lstStyle/>
          <a:p>
            <a:pPr algn="l" indent="0" marL="0">
              <a:buNone/>
            </a:pPr>
            <a:r>
              <a:rPr lang="en-US" sz="900" spc="198" kern="0" dirty="0">
                <a:solidFill>
                  <a:srgbClr val="82A6D9"/>
                </a:solidFill>
                <a:latin typeface="Arial" pitchFamily="34" charset="0"/>
                <a:ea typeface="Arial" pitchFamily="34" charset="-122"/>
                <a:cs typeface="Arial" pitchFamily="34" charset="-120"/>
              </a:rPr>
              <a:t>READ</a:t>
            </a:r>
            <a:endParaRPr lang="en-US" sz="900" dirty="0"/>
          </a:p>
        </p:txBody>
      </p:sp>
      <p:sp>
        <p:nvSpPr>
          <p:cNvPr id="26" name="Text 23"/>
          <p:cNvSpPr/>
          <p:nvPr/>
        </p:nvSpPr>
        <p:spPr>
          <a:xfrm>
            <a:off x="3352800" y="8955584"/>
            <a:ext cx="1444142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Email's bar is tallest in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First-Touch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($4.0M) — it creates awareness. 6sense's bar is tallest in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Last-Touch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($3.3M) and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Time-Decay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($3.5M) — it converts. Budget mix should fund both roles.</a:t>
            </a:r>
            <a:endParaRPr lang="en-US" sz="1650" dirty="0"/>
          </a:p>
        </p:txBody>
      </p:sp>
      <p:sp>
        <p:nvSpPr>
          <p:cNvPr id="27" name="Text 24"/>
          <p:cNvSpPr/>
          <p:nvPr/>
        </p:nvSpPr>
        <p:spPr>
          <a:xfrm>
            <a:off x="762000" y="9791700"/>
            <a:ext cx="1683841"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05 / ATTRIBUTION</a:t>
            </a:r>
            <a:endParaRPr lang="en-US" sz="900" dirty="0"/>
          </a:p>
        </p:txBody>
      </p:sp>
      <p:sp>
        <p:nvSpPr>
          <p:cNvPr id="28" name="Text 25"/>
          <p:cNvSpPr/>
          <p:nvPr/>
        </p:nvSpPr>
        <p:spPr>
          <a:xfrm>
            <a:off x="16934259" y="9791700"/>
            <a:ext cx="667941"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$M, USD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908887"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06 / 21 · SOURCED VS INFLUENCED</a:t>
            </a:r>
            <a:endParaRPr lang="en-US" sz="975" dirty="0"/>
          </a:p>
        </p:txBody>
      </p:sp>
      <p:sp>
        <p:nvSpPr>
          <p:cNvPr id="11" name="Text 9"/>
          <p:cNvSpPr/>
          <p:nvPr/>
        </p:nvSpPr>
        <p:spPr>
          <a:xfrm>
            <a:off x="16649402" y="361950"/>
            <a:ext cx="952798"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06</a:t>
            </a:r>
            <a:endParaRPr lang="en-US" sz="1125" dirty="0"/>
          </a:p>
        </p:txBody>
      </p:sp>
      <p:sp>
        <p:nvSpPr>
          <p:cNvPr id="13" name="Text 11"/>
          <p:cNvSpPr/>
          <p:nvPr/>
        </p:nvSpPr>
        <p:spPr>
          <a:xfrm>
            <a:off x="1275308" y="800100"/>
            <a:ext cx="1731020"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CONTRIBUTION</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Marketing-Sourced vs. Marketing-Influenced pipeline.</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Two definitions of "marketing contributed to this deal." The gap between them is marketing's shadow credit.</a:t>
            </a:r>
            <a:endParaRPr lang="en-US" sz="2100" dirty="0"/>
          </a:p>
        </p:txBody>
      </p:sp>
      <p:sp>
        <p:nvSpPr>
          <p:cNvPr id="16" name="Text 14"/>
          <p:cNvSpPr/>
          <p:nvPr/>
        </p:nvSpPr>
        <p:spPr>
          <a:xfrm>
            <a:off x="836676" y="2924026"/>
            <a:ext cx="5337048" cy="171450"/>
          </a:xfrm>
          <a:prstGeom prst="rect">
            <a:avLst/>
          </a:prstGeom>
          <a:noFill/>
          <a:ln/>
        </p:spPr>
        <p:txBody>
          <a:bodyPr wrap="square" lIns="25400" tIns="25400" rIns="25400" bIns="25400" rtlCol="0" anchor="t">
            <a:normAutofit/>
          </a:bodyPr>
          <a:lstStyle/>
          <a:p>
            <a:pPr algn="ctr" indent="0" marL="0">
              <a:buNone/>
            </a:pPr>
            <a:r>
              <a:rPr lang="en-US" sz="900" spc="180" kern="0" dirty="0">
                <a:solidFill>
                  <a:srgbClr val="82A6D9"/>
                </a:solidFill>
                <a:latin typeface="Arial" pitchFamily="34" charset="0"/>
                <a:ea typeface="Arial" pitchFamily="34" charset="-122"/>
                <a:cs typeface="Arial" pitchFamily="34" charset="-120"/>
              </a:rPr>
              <a:t>HARD CREDIT · CRM</a:t>
            </a:r>
            <a:endParaRPr lang="en-US" sz="900" dirty="0"/>
          </a:p>
        </p:txBody>
      </p:sp>
      <p:pic>
        <p:nvPicPr>
          <p:cNvPr id="17" name="Image 0" descr="preencoded.png">    </p:cNvPr>
          <p:cNvPicPr>
            <a:picLocks noChangeAspect="1"/>
          </p:cNvPicPr>
          <p:nvPr/>
        </p:nvPicPr>
        <p:blipFill>
          <a:blip r:embed="rId1"/>
          <a:stretch>
            <a:fillRect/>
          </a:stretch>
        </p:blipFill>
        <p:spPr>
          <a:xfrm>
            <a:off x="914400" y="3285976"/>
            <a:ext cx="3238500" cy="3238500"/>
          </a:xfrm>
          <a:prstGeom prst="rect">
            <a:avLst/>
          </a:prstGeom>
        </p:spPr>
      </p:pic>
      <p:sp>
        <p:nvSpPr>
          <p:cNvPr id="18" name="Text 15"/>
          <p:cNvSpPr/>
          <p:nvPr/>
        </p:nvSpPr>
        <p:spPr>
          <a:xfrm>
            <a:off x="836676" y="6695926"/>
            <a:ext cx="5337048" cy="304800"/>
          </a:xfrm>
          <a:prstGeom prst="rect">
            <a:avLst/>
          </a:prstGeom>
          <a:noFill/>
          <a:ln/>
        </p:spPr>
        <p:txBody>
          <a:bodyPr wrap="square" lIns="25400" tIns="25400" rIns="25400" bIns="25400" rtlCol="0" anchor="t">
            <a:normAutofit/>
          </a:bodyPr>
          <a:lstStyle/>
          <a:p>
            <a:pPr algn="ctr" indent="0" marL="0">
              <a:buNone/>
            </a:pPr>
            <a:r>
              <a:rPr lang="en-US" sz="2100" dirty="0">
                <a:solidFill>
                  <a:srgbClr val="ECEEF2"/>
                </a:solidFill>
                <a:latin typeface="Arial" pitchFamily="34" charset="0"/>
                <a:ea typeface="Arial" pitchFamily="34" charset="-122"/>
                <a:cs typeface="Arial" pitchFamily="34" charset="-120"/>
              </a:rPr>
              <a:t>Marketing-Sourced</a:t>
            </a:r>
            <a:endParaRPr lang="en-US" sz="2100" dirty="0"/>
          </a:p>
        </p:txBody>
      </p:sp>
      <p:sp>
        <p:nvSpPr>
          <p:cNvPr id="19" name="Text 16"/>
          <p:cNvSpPr/>
          <p:nvPr/>
        </p:nvSpPr>
        <p:spPr>
          <a:xfrm>
            <a:off x="836676" y="7038826"/>
            <a:ext cx="5337048" cy="228600"/>
          </a:xfrm>
          <a:prstGeom prst="rect">
            <a:avLst/>
          </a:prstGeom>
          <a:noFill/>
          <a:ln/>
        </p:spPr>
        <p:txBody>
          <a:bodyPr wrap="square" lIns="25400" tIns="25400" rIns="25400" bIns="25400" rtlCol="0" anchor="t">
            <a:normAutofit/>
          </a:bodyPr>
          <a:lstStyle/>
          <a:p>
            <a:pPr algn="ctr" indent="0" marL="0">
              <a:buNone/>
            </a:pPr>
            <a:r>
              <a:rPr lang="en-US" sz="1275" spc="230" kern="0" dirty="0">
                <a:solidFill>
                  <a:srgbClr val="7C8493"/>
                </a:solidFill>
                <a:latin typeface="Arial" pitchFamily="34" charset="0"/>
                <a:ea typeface="Arial" pitchFamily="34" charset="-122"/>
                <a:cs typeface="Arial" pitchFamily="34" charset="-120"/>
              </a:rPr>
              <a:t>16.8% OF PIPELINE</a:t>
            </a:r>
            <a:endParaRPr lang="en-US" sz="1275" dirty="0"/>
          </a:p>
        </p:txBody>
      </p:sp>
      <p:sp>
        <p:nvSpPr>
          <p:cNvPr id="20" name="Text 17"/>
          <p:cNvSpPr/>
          <p:nvPr/>
        </p:nvSpPr>
        <p:spPr>
          <a:xfrm>
            <a:off x="7977634" y="3617416"/>
            <a:ext cx="2332583" cy="1371600"/>
          </a:xfrm>
          <a:prstGeom prst="rect">
            <a:avLst/>
          </a:prstGeom>
          <a:noFill/>
          <a:ln/>
        </p:spPr>
        <p:txBody>
          <a:bodyPr wrap="square" lIns="25400" tIns="25400" rIns="25400" bIns="25400" rtlCol="0" anchor="t">
            <a:normAutofit/>
          </a:bodyPr>
          <a:lstStyle/>
          <a:p>
            <a:pPr algn="ctr" indent="0" marL="0">
              <a:lnSpc>
                <a:spcPct val="100000"/>
              </a:lnSpc>
              <a:buNone/>
            </a:pPr>
            <a:r>
              <a:rPr lang="en-US" sz="10500" i="1" spc="-420" kern="0" dirty="0">
                <a:solidFill>
                  <a:srgbClr val="82A6D9"/>
                </a:solidFill>
                <a:latin typeface="Arial" pitchFamily="34" charset="0"/>
                <a:ea typeface="Arial" pitchFamily="34" charset="-122"/>
                <a:cs typeface="Arial" pitchFamily="34" charset="-120"/>
              </a:rPr>
              <a:t>1.5×</a:t>
            </a:r>
            <a:endParaRPr lang="en-US" sz="10500" dirty="0"/>
          </a:p>
        </p:txBody>
      </p:sp>
      <p:sp>
        <p:nvSpPr>
          <p:cNvPr id="21" name="Text 18"/>
          <p:cNvSpPr/>
          <p:nvPr/>
        </p:nvSpPr>
        <p:spPr>
          <a:xfrm>
            <a:off x="7735084" y="5065216"/>
            <a:ext cx="2817831" cy="228600"/>
          </a:xfrm>
          <a:prstGeom prst="rect">
            <a:avLst/>
          </a:prstGeom>
          <a:noFill/>
          <a:ln/>
        </p:spPr>
        <p:txBody>
          <a:bodyPr wrap="square" lIns="25400" tIns="25400" rIns="25400" bIns="25400" rtlCol="0" anchor="t">
            <a:normAutofit/>
          </a:bodyPr>
          <a:lstStyle/>
          <a:p>
            <a:pPr algn="ctr" indent="0" marL="0">
              <a:buNone/>
            </a:pPr>
            <a:r>
              <a:rPr lang="en-US" sz="1275" spc="281" kern="0" dirty="0">
                <a:solidFill>
                  <a:srgbClr val="7C8493"/>
                </a:solidFill>
                <a:latin typeface="Arial" pitchFamily="34" charset="0"/>
                <a:ea typeface="Arial" pitchFamily="34" charset="-122"/>
                <a:cs typeface="Arial" pitchFamily="34" charset="-120"/>
              </a:rPr>
              <a:t>INFLUENCED ÷ SOURCED</a:t>
            </a:r>
            <a:endParaRPr lang="en-US" sz="1275" dirty="0"/>
          </a:p>
        </p:txBody>
      </p:sp>
      <p:sp>
        <p:nvSpPr>
          <p:cNvPr id="22" name="Text 19"/>
          <p:cNvSpPr/>
          <p:nvPr/>
        </p:nvSpPr>
        <p:spPr>
          <a:xfrm>
            <a:off x="7279958" y="5541466"/>
            <a:ext cx="3728085" cy="1032421"/>
          </a:xfrm>
          <a:prstGeom prst="rect">
            <a:avLst/>
          </a:prstGeom>
          <a:noFill/>
          <a:ln/>
        </p:spPr>
        <p:txBody>
          <a:bodyPr wrap="square" lIns="25400" tIns="25400" rIns="25400" bIns="25400" rtlCol="0" anchor="t">
            <a:normAutofit/>
          </a:bodyPr>
          <a:lstStyle/>
          <a:p>
            <a:pPr algn="ctr" indent="0" marL="0">
              <a:lnSpc>
                <a:spcPct val="145000"/>
              </a:lnSpc>
              <a:buNone/>
            </a:pPr>
            <a:r>
              <a:rPr lang="en-US" sz="1800" dirty="0">
                <a:solidFill>
                  <a:srgbClr val="B7BCC8"/>
                </a:solidFill>
                <a:latin typeface="Arial" pitchFamily="34" charset="0"/>
                <a:ea typeface="Arial" pitchFamily="34" charset="-122"/>
                <a:cs typeface="Arial" pitchFamily="34" charset="-120"/>
              </a:rPr>
              <a:t>The $2.3M gap is marketing's shadow credit — real contribution that never appears in CRM reports.</a:t>
            </a:r>
            <a:endParaRPr lang="en-US" sz="1800" dirty="0"/>
          </a:p>
        </p:txBody>
      </p:sp>
      <p:sp>
        <p:nvSpPr>
          <p:cNvPr id="23" name="Text 20"/>
          <p:cNvSpPr/>
          <p:nvPr/>
        </p:nvSpPr>
        <p:spPr>
          <a:xfrm>
            <a:off x="12114276" y="2924026"/>
            <a:ext cx="5337048" cy="171450"/>
          </a:xfrm>
          <a:prstGeom prst="rect">
            <a:avLst/>
          </a:prstGeom>
          <a:noFill/>
          <a:ln/>
        </p:spPr>
        <p:txBody>
          <a:bodyPr wrap="square" lIns="25400" tIns="25400" rIns="25400" bIns="25400" rtlCol="0" anchor="t">
            <a:normAutofit/>
          </a:bodyPr>
          <a:lstStyle/>
          <a:p>
            <a:pPr algn="ctr" indent="0" marL="0">
              <a:buNone/>
            </a:pPr>
            <a:r>
              <a:rPr lang="en-US" sz="900" spc="180" kern="0" dirty="0">
                <a:solidFill>
                  <a:srgbClr val="82A6D9"/>
                </a:solidFill>
                <a:latin typeface="Arial" pitchFamily="34" charset="0"/>
                <a:ea typeface="Arial" pitchFamily="34" charset="-122"/>
                <a:cs typeface="Arial" pitchFamily="34" charset="-120"/>
              </a:rPr>
              <a:t>TOUCHPOINT · 365D</a:t>
            </a:r>
            <a:endParaRPr lang="en-US" sz="900" dirty="0"/>
          </a:p>
        </p:txBody>
      </p:sp>
      <p:pic>
        <p:nvPicPr>
          <p:cNvPr id="24" name="Image 1" descr="preencoded.png">    </p:cNvPr>
          <p:cNvPicPr>
            <a:picLocks noChangeAspect="1"/>
          </p:cNvPicPr>
          <p:nvPr/>
        </p:nvPicPr>
        <p:blipFill>
          <a:blip r:embed="rId2"/>
          <a:stretch>
            <a:fillRect/>
          </a:stretch>
        </p:blipFill>
        <p:spPr>
          <a:xfrm>
            <a:off x="12192000" y="3285976"/>
            <a:ext cx="3238500" cy="3238500"/>
          </a:xfrm>
          <a:prstGeom prst="rect">
            <a:avLst/>
          </a:prstGeom>
        </p:spPr>
      </p:pic>
      <p:sp>
        <p:nvSpPr>
          <p:cNvPr id="25" name="Text 21"/>
          <p:cNvSpPr/>
          <p:nvPr/>
        </p:nvSpPr>
        <p:spPr>
          <a:xfrm>
            <a:off x="12114276" y="6695926"/>
            <a:ext cx="5337048" cy="304800"/>
          </a:xfrm>
          <a:prstGeom prst="rect">
            <a:avLst/>
          </a:prstGeom>
          <a:noFill/>
          <a:ln/>
        </p:spPr>
        <p:txBody>
          <a:bodyPr wrap="square" lIns="25400" tIns="25400" rIns="25400" bIns="25400" rtlCol="0" anchor="t">
            <a:normAutofit/>
          </a:bodyPr>
          <a:lstStyle/>
          <a:p>
            <a:pPr algn="ctr" indent="0" marL="0">
              <a:buNone/>
            </a:pPr>
            <a:r>
              <a:rPr lang="en-US" sz="2100" dirty="0">
                <a:solidFill>
                  <a:srgbClr val="ECEEF2"/>
                </a:solidFill>
                <a:latin typeface="Arial" pitchFamily="34" charset="0"/>
                <a:ea typeface="Arial" pitchFamily="34" charset="-122"/>
                <a:cs typeface="Arial" pitchFamily="34" charset="-120"/>
              </a:rPr>
              <a:t>Marketing-Influenced</a:t>
            </a:r>
            <a:endParaRPr lang="en-US" sz="2100" dirty="0"/>
          </a:p>
        </p:txBody>
      </p:sp>
      <p:sp>
        <p:nvSpPr>
          <p:cNvPr id="26" name="Text 22"/>
          <p:cNvSpPr/>
          <p:nvPr/>
        </p:nvSpPr>
        <p:spPr>
          <a:xfrm>
            <a:off x="12114276" y="7038826"/>
            <a:ext cx="5337048" cy="228600"/>
          </a:xfrm>
          <a:prstGeom prst="rect">
            <a:avLst/>
          </a:prstGeom>
          <a:noFill/>
          <a:ln/>
        </p:spPr>
        <p:txBody>
          <a:bodyPr wrap="square" lIns="25400" tIns="25400" rIns="25400" bIns="25400" rtlCol="0" anchor="t">
            <a:normAutofit/>
          </a:bodyPr>
          <a:lstStyle/>
          <a:p>
            <a:pPr algn="ctr" indent="0" marL="0">
              <a:buNone/>
            </a:pPr>
            <a:r>
              <a:rPr lang="en-US" sz="1275" spc="230" kern="0" dirty="0">
                <a:solidFill>
                  <a:srgbClr val="7C8493"/>
                </a:solidFill>
                <a:latin typeface="Arial" pitchFamily="34" charset="0"/>
                <a:ea typeface="Arial" pitchFamily="34" charset="-122"/>
                <a:cs typeface="Arial" pitchFamily="34" charset="-120"/>
              </a:rPr>
              <a:t>26.0% OF PIPELINE</a:t>
            </a:r>
            <a:endParaRPr lang="en-US" sz="1275" dirty="0"/>
          </a:p>
        </p:txBody>
      </p:sp>
      <p:sp>
        <p:nvSpPr>
          <p:cNvPr id="27" name="Text 23"/>
          <p:cNvSpPr/>
          <p:nvPr/>
        </p:nvSpPr>
        <p:spPr>
          <a:xfrm>
            <a:off x="762000" y="9791700"/>
            <a:ext cx="1824930"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06 / CONTRIBUTION</a:t>
            </a:r>
            <a:endParaRPr lang="en-US" sz="900" dirty="0"/>
          </a:p>
        </p:txBody>
      </p:sp>
      <p:sp>
        <p:nvSpPr>
          <p:cNvPr id="28" name="Text 24"/>
          <p:cNvSpPr/>
          <p:nvPr/>
        </p:nvSpPr>
        <p:spPr>
          <a:xfrm>
            <a:off x="15845879" y="9791700"/>
            <a:ext cx="1756321"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BASE: $25.0M PIPELINE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861520"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07 / 21 · FULL MARKETING FUNNEL</a:t>
            </a:r>
            <a:endParaRPr lang="en-US" sz="975" dirty="0"/>
          </a:p>
        </p:txBody>
      </p:sp>
      <p:sp>
        <p:nvSpPr>
          <p:cNvPr id="11" name="Text 9"/>
          <p:cNvSpPr/>
          <p:nvPr/>
        </p:nvSpPr>
        <p:spPr>
          <a:xfrm>
            <a:off x="16649402" y="361950"/>
            <a:ext cx="952798"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07</a:t>
            </a:r>
            <a:endParaRPr lang="en-US" sz="1125" dirty="0"/>
          </a:p>
        </p:txBody>
      </p:sp>
      <p:sp>
        <p:nvSpPr>
          <p:cNvPr id="13" name="Text 11"/>
          <p:cNvSpPr/>
          <p:nvPr/>
        </p:nvSpPr>
        <p:spPr>
          <a:xfrm>
            <a:off x="1275308" y="800100"/>
            <a:ext cx="1009501"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FUNNEL</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From first impression to closed-won.</a:t>
            </a:r>
            <a:endParaRPr lang="en-US" sz="5700" dirty="0"/>
          </a:p>
        </p:txBody>
      </p:sp>
      <p:sp>
        <p:nvSpPr>
          <p:cNvPr id="15" name="Shape 13"/>
          <p:cNvSpPr/>
          <p:nvPr/>
        </p:nvSpPr>
        <p:spPr>
          <a:xfrm>
            <a:off x="914400" y="2381548"/>
            <a:ext cx="16459200" cy="9525"/>
          </a:xfrm>
          <a:prstGeom prst="rect">
            <a:avLst/>
          </a:prstGeom>
          <a:solidFill>
            <a:srgbClr val="2A3450"/>
          </a:solidFill>
          <a:ln/>
        </p:spPr>
      </p:sp>
      <p:sp>
        <p:nvSpPr>
          <p:cNvPr id="16" name="Text 14"/>
          <p:cNvSpPr/>
          <p:nvPr/>
        </p:nvSpPr>
        <p:spPr>
          <a:xfrm>
            <a:off x="914400" y="2586335"/>
            <a:ext cx="991046" cy="228600"/>
          </a:xfrm>
          <a:prstGeom prst="rect">
            <a:avLst/>
          </a:prstGeom>
          <a:noFill/>
          <a:ln/>
        </p:spPr>
        <p:txBody>
          <a:bodyPr wrap="square" lIns="0" tIns="0" rIns="0" bIns="0" rtlCol="0" anchor="t">
            <a:normAutofit/>
          </a:bodyPr>
          <a:lstStyle/>
          <a:p>
            <a:pPr algn="l" indent="0" marL="0">
              <a:buNone/>
            </a:pPr>
            <a:r>
              <a:rPr lang="en-US" sz="1350" spc="-7" kern="0" dirty="0">
                <a:solidFill>
                  <a:srgbClr val="ECEEF2"/>
                </a:solidFill>
                <a:latin typeface="Arial" pitchFamily="34" charset="0"/>
                <a:ea typeface="Arial" pitchFamily="34" charset="-122"/>
                <a:cs typeface="Arial" pitchFamily="34" charset="-120"/>
              </a:rPr>
              <a:t>Impressions</a:t>
            </a:r>
            <a:endParaRPr lang="en-US" sz="1350" dirty="0"/>
          </a:p>
        </p:txBody>
      </p:sp>
      <p:sp>
        <p:nvSpPr>
          <p:cNvPr id="17" name="Text 15"/>
          <p:cNvSpPr/>
          <p:nvPr/>
        </p:nvSpPr>
        <p:spPr>
          <a:xfrm>
            <a:off x="914400" y="2824460"/>
            <a:ext cx="2171700"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C8493"/>
                </a:solidFill>
                <a:latin typeface="Arial" pitchFamily="34" charset="0"/>
                <a:ea typeface="Arial" pitchFamily="34" charset="-122"/>
                <a:cs typeface="Arial" pitchFamily="34" charset="-120"/>
              </a:rPr>
              <a:t>ALL PAID CHANNELS</a:t>
            </a:r>
            <a:endParaRPr lang="en-US" sz="825" dirty="0"/>
          </a:p>
        </p:txBody>
      </p:sp>
      <p:sp>
        <p:nvSpPr>
          <p:cNvPr id="18" name="Shape 16"/>
          <p:cNvSpPr/>
          <p:nvPr/>
        </p:nvSpPr>
        <p:spPr>
          <a:xfrm>
            <a:off x="3238500" y="2657773"/>
            <a:ext cx="11811000" cy="209550"/>
          </a:xfrm>
          <a:prstGeom prst="rect">
            <a:avLst/>
          </a:prstGeom>
          <a:solidFill>
            <a:srgbClr val="111729"/>
          </a:solidFill>
          <a:ln/>
        </p:spPr>
      </p:sp>
      <p:sp>
        <p:nvSpPr>
          <p:cNvPr id="19" name="Shape 17"/>
          <p:cNvSpPr/>
          <p:nvPr/>
        </p:nvSpPr>
        <p:spPr>
          <a:xfrm>
            <a:off x="3238500" y="2657773"/>
            <a:ext cx="9525" cy="209550"/>
          </a:xfrm>
          <a:prstGeom prst="rect">
            <a:avLst/>
          </a:prstGeom>
          <a:solidFill>
            <a:srgbClr val="2A3450"/>
          </a:solidFill>
          <a:ln/>
        </p:spPr>
      </p:sp>
      <p:sp>
        <p:nvSpPr>
          <p:cNvPr id="20" name="Shape 18"/>
          <p:cNvSpPr/>
          <p:nvPr/>
        </p:nvSpPr>
        <p:spPr>
          <a:xfrm>
            <a:off x="3248025" y="2657773"/>
            <a:ext cx="11801475" cy="209550"/>
          </a:xfrm>
          <a:prstGeom prst="rect">
            <a:avLst/>
          </a:prstGeom>
          <a:solidFill>
            <a:srgbClr val="82A6D9"/>
          </a:solidFill>
          <a:ln/>
        </p:spPr>
      </p:sp>
      <p:sp>
        <p:nvSpPr>
          <p:cNvPr id="21" name="Text 19"/>
          <p:cNvSpPr/>
          <p:nvPr/>
        </p:nvSpPr>
        <p:spPr>
          <a:xfrm>
            <a:off x="16208276" y="2562523"/>
            <a:ext cx="1241524" cy="276225"/>
          </a:xfrm>
          <a:prstGeom prst="rect">
            <a:avLst/>
          </a:prstGeom>
          <a:noFill/>
          <a:ln/>
        </p:spPr>
        <p:txBody>
          <a:bodyPr wrap="square" lIns="0" tIns="0" rIns="0" bIns="0" rtlCol="0" anchor="t">
            <a:normAutofit/>
          </a:bodyPr>
          <a:lstStyle/>
          <a:p>
            <a:pPr algn="r" indent="0" marL="0">
              <a:buNone/>
            </a:pPr>
            <a:r>
              <a:rPr lang="en-US" sz="1650" dirty="0">
                <a:solidFill>
                  <a:srgbClr val="ECEEF2"/>
                </a:solidFill>
                <a:latin typeface="Arial" pitchFamily="34" charset="0"/>
                <a:ea typeface="Arial" pitchFamily="34" charset="-122"/>
                <a:cs typeface="Arial" pitchFamily="34" charset="-120"/>
              </a:rPr>
              <a:t>135,000,000</a:t>
            </a:r>
            <a:endParaRPr lang="en-US" sz="1650" dirty="0"/>
          </a:p>
        </p:txBody>
      </p:sp>
      <p:sp>
        <p:nvSpPr>
          <p:cNvPr id="22" name="Text 20"/>
          <p:cNvSpPr/>
          <p:nvPr/>
        </p:nvSpPr>
        <p:spPr>
          <a:xfrm>
            <a:off x="15201900" y="2848273"/>
            <a:ext cx="2171700" cy="152400"/>
          </a:xfrm>
          <a:prstGeom prst="rect">
            <a:avLst/>
          </a:prstGeom>
          <a:noFill/>
          <a:ln/>
        </p:spPr>
        <p:txBody>
          <a:bodyPr wrap="square" lIns="25400" tIns="25400" rIns="25400" bIns="25400" rtlCol="0" anchor="t">
            <a:normAutofit/>
          </a:bodyPr>
          <a:lstStyle/>
          <a:p>
            <a:pPr algn="r" indent="0" marL="0">
              <a:buNone/>
            </a:pPr>
            <a:r>
              <a:rPr lang="en-US" sz="825" spc="149" kern="0" dirty="0">
                <a:solidFill>
                  <a:srgbClr val="7C8493"/>
                </a:solidFill>
                <a:latin typeface="Arial" pitchFamily="34" charset="0"/>
                <a:ea typeface="Arial" pitchFamily="34" charset="-122"/>
                <a:cs typeface="Arial" pitchFamily="34" charset="-120"/>
              </a:rPr>
              <a:t>— BASELINE</a:t>
            </a:r>
            <a:endParaRPr lang="en-US" sz="825" dirty="0"/>
          </a:p>
        </p:txBody>
      </p:sp>
      <p:sp>
        <p:nvSpPr>
          <p:cNvPr id="23" name="Shape 21"/>
          <p:cNvSpPr/>
          <p:nvPr/>
        </p:nvSpPr>
        <p:spPr>
          <a:xfrm>
            <a:off x="914400" y="3172123"/>
            <a:ext cx="16459200" cy="9525"/>
          </a:xfrm>
          <a:prstGeom prst="rect">
            <a:avLst/>
          </a:prstGeom>
          <a:solidFill>
            <a:srgbClr val="2A3450"/>
          </a:solidFill>
          <a:ln/>
        </p:spPr>
      </p:sp>
      <p:sp>
        <p:nvSpPr>
          <p:cNvPr id="24" name="Text 22"/>
          <p:cNvSpPr/>
          <p:nvPr/>
        </p:nvSpPr>
        <p:spPr>
          <a:xfrm>
            <a:off x="914400" y="3376910"/>
            <a:ext cx="528340" cy="228600"/>
          </a:xfrm>
          <a:prstGeom prst="rect">
            <a:avLst/>
          </a:prstGeom>
          <a:noFill/>
          <a:ln/>
        </p:spPr>
        <p:txBody>
          <a:bodyPr wrap="square" lIns="0" tIns="0" rIns="0" bIns="0" rtlCol="0" anchor="t">
            <a:normAutofit/>
          </a:bodyPr>
          <a:lstStyle/>
          <a:p>
            <a:pPr algn="l" indent="0" marL="0">
              <a:buNone/>
            </a:pPr>
            <a:r>
              <a:rPr lang="en-US" sz="1350" spc="-7" kern="0" dirty="0">
                <a:solidFill>
                  <a:srgbClr val="ECEEF2"/>
                </a:solidFill>
                <a:latin typeface="Arial" pitchFamily="34" charset="0"/>
                <a:ea typeface="Arial" pitchFamily="34" charset="-122"/>
                <a:cs typeface="Arial" pitchFamily="34" charset="-120"/>
              </a:rPr>
              <a:t>Clicks</a:t>
            </a:r>
            <a:endParaRPr lang="en-US" sz="1350" dirty="0"/>
          </a:p>
        </p:txBody>
      </p:sp>
      <p:sp>
        <p:nvSpPr>
          <p:cNvPr id="25" name="Text 23"/>
          <p:cNvSpPr/>
          <p:nvPr/>
        </p:nvSpPr>
        <p:spPr>
          <a:xfrm>
            <a:off x="914400" y="3615035"/>
            <a:ext cx="2171700"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C8493"/>
                </a:solidFill>
                <a:latin typeface="Arial" pitchFamily="34" charset="0"/>
                <a:ea typeface="Arial" pitchFamily="34" charset="-122"/>
                <a:cs typeface="Arial" pitchFamily="34" charset="-120"/>
              </a:rPr>
              <a:t>CROSS-CHANNEL</a:t>
            </a:r>
            <a:endParaRPr lang="en-US" sz="825" dirty="0"/>
          </a:p>
        </p:txBody>
      </p:sp>
      <p:sp>
        <p:nvSpPr>
          <p:cNvPr id="26" name="Shape 24"/>
          <p:cNvSpPr/>
          <p:nvPr/>
        </p:nvSpPr>
        <p:spPr>
          <a:xfrm>
            <a:off x="3238500" y="3448348"/>
            <a:ext cx="11811000" cy="209550"/>
          </a:xfrm>
          <a:prstGeom prst="rect">
            <a:avLst/>
          </a:prstGeom>
          <a:solidFill>
            <a:srgbClr val="111729"/>
          </a:solidFill>
          <a:ln/>
        </p:spPr>
      </p:sp>
      <p:sp>
        <p:nvSpPr>
          <p:cNvPr id="27" name="Shape 25"/>
          <p:cNvSpPr/>
          <p:nvPr/>
        </p:nvSpPr>
        <p:spPr>
          <a:xfrm>
            <a:off x="3238500" y="3448348"/>
            <a:ext cx="9525" cy="209550"/>
          </a:xfrm>
          <a:prstGeom prst="rect">
            <a:avLst/>
          </a:prstGeom>
          <a:solidFill>
            <a:srgbClr val="2A3450"/>
          </a:solidFill>
          <a:ln/>
        </p:spPr>
      </p:sp>
      <p:sp>
        <p:nvSpPr>
          <p:cNvPr id="28" name="Shape 26"/>
          <p:cNvSpPr/>
          <p:nvPr/>
        </p:nvSpPr>
        <p:spPr>
          <a:xfrm>
            <a:off x="3248025" y="3448348"/>
            <a:ext cx="2832348" cy="209550"/>
          </a:xfrm>
          <a:prstGeom prst="rect">
            <a:avLst/>
          </a:prstGeom>
          <a:solidFill>
            <a:srgbClr val="C99A4F"/>
          </a:solidFill>
          <a:ln/>
        </p:spPr>
      </p:sp>
      <p:sp>
        <p:nvSpPr>
          <p:cNvPr id="29" name="Text 27"/>
          <p:cNvSpPr/>
          <p:nvPr/>
        </p:nvSpPr>
        <p:spPr>
          <a:xfrm>
            <a:off x="16732597" y="3353098"/>
            <a:ext cx="717203" cy="276225"/>
          </a:xfrm>
          <a:prstGeom prst="rect">
            <a:avLst/>
          </a:prstGeom>
          <a:noFill/>
          <a:ln/>
        </p:spPr>
        <p:txBody>
          <a:bodyPr wrap="square" lIns="0" tIns="0" rIns="0" bIns="0" rtlCol="0" anchor="t">
            <a:normAutofit/>
          </a:bodyPr>
          <a:lstStyle/>
          <a:p>
            <a:pPr algn="r" indent="0" marL="0">
              <a:buNone/>
            </a:pPr>
            <a:r>
              <a:rPr lang="en-US" sz="1650" dirty="0">
                <a:solidFill>
                  <a:srgbClr val="ECEEF2"/>
                </a:solidFill>
                <a:latin typeface="Arial" pitchFamily="34" charset="0"/>
                <a:ea typeface="Arial" pitchFamily="34" charset="-122"/>
                <a:cs typeface="Arial" pitchFamily="34" charset="-120"/>
              </a:rPr>
              <a:t>71,000</a:t>
            </a:r>
            <a:endParaRPr lang="en-US" sz="1650" dirty="0"/>
          </a:p>
        </p:txBody>
      </p:sp>
      <p:sp>
        <p:nvSpPr>
          <p:cNvPr id="30" name="Text 28"/>
          <p:cNvSpPr/>
          <p:nvPr/>
        </p:nvSpPr>
        <p:spPr>
          <a:xfrm>
            <a:off x="15201900" y="3638848"/>
            <a:ext cx="2171700" cy="152400"/>
          </a:xfrm>
          <a:prstGeom prst="rect">
            <a:avLst/>
          </a:prstGeom>
          <a:noFill/>
          <a:ln/>
        </p:spPr>
        <p:txBody>
          <a:bodyPr wrap="square" lIns="25400" tIns="25400" rIns="25400" bIns="25400" rtlCol="0" anchor="t">
            <a:normAutofit/>
          </a:bodyPr>
          <a:lstStyle/>
          <a:p>
            <a:pPr algn="r" indent="0" marL="0">
              <a:buNone/>
            </a:pPr>
            <a:r>
              <a:rPr lang="en-US" sz="825" spc="149" kern="0" dirty="0">
                <a:solidFill>
                  <a:srgbClr val="7C8493"/>
                </a:solidFill>
                <a:latin typeface="Arial" pitchFamily="34" charset="0"/>
                <a:ea typeface="Arial" pitchFamily="34" charset="-122"/>
                <a:cs typeface="Arial" pitchFamily="34" charset="-120"/>
              </a:rPr>
              <a:t>0.05% CTR</a:t>
            </a:r>
            <a:endParaRPr lang="en-US" sz="825" dirty="0"/>
          </a:p>
        </p:txBody>
      </p:sp>
      <p:sp>
        <p:nvSpPr>
          <p:cNvPr id="31" name="Shape 29"/>
          <p:cNvSpPr/>
          <p:nvPr/>
        </p:nvSpPr>
        <p:spPr>
          <a:xfrm>
            <a:off x="914400" y="3962698"/>
            <a:ext cx="16459200" cy="9525"/>
          </a:xfrm>
          <a:prstGeom prst="rect">
            <a:avLst/>
          </a:prstGeom>
          <a:solidFill>
            <a:srgbClr val="2A3450"/>
          </a:solidFill>
          <a:ln/>
        </p:spPr>
      </p:sp>
      <p:sp>
        <p:nvSpPr>
          <p:cNvPr id="32" name="Text 30"/>
          <p:cNvSpPr/>
          <p:nvPr/>
        </p:nvSpPr>
        <p:spPr>
          <a:xfrm>
            <a:off x="914400" y="4167485"/>
            <a:ext cx="820043" cy="228600"/>
          </a:xfrm>
          <a:prstGeom prst="rect">
            <a:avLst/>
          </a:prstGeom>
          <a:noFill/>
          <a:ln/>
        </p:spPr>
        <p:txBody>
          <a:bodyPr wrap="square" lIns="0" tIns="0" rIns="0" bIns="0" rtlCol="0" anchor="t">
            <a:normAutofit/>
          </a:bodyPr>
          <a:lstStyle/>
          <a:p>
            <a:pPr algn="l" indent="0" marL="0">
              <a:buNone/>
            </a:pPr>
            <a:r>
              <a:rPr lang="en-US" sz="1350" spc="-7" kern="0" dirty="0">
                <a:solidFill>
                  <a:srgbClr val="ECEEF2"/>
                </a:solidFill>
                <a:latin typeface="Arial" pitchFamily="34" charset="0"/>
                <a:ea typeface="Arial" pitchFamily="34" charset="-122"/>
                <a:cs typeface="Arial" pitchFamily="34" charset="-120"/>
              </a:rPr>
              <a:t>Form Fills</a:t>
            </a:r>
            <a:endParaRPr lang="en-US" sz="1350" dirty="0"/>
          </a:p>
        </p:txBody>
      </p:sp>
      <p:sp>
        <p:nvSpPr>
          <p:cNvPr id="33" name="Text 31"/>
          <p:cNvSpPr/>
          <p:nvPr/>
        </p:nvSpPr>
        <p:spPr>
          <a:xfrm>
            <a:off x="914400" y="4405610"/>
            <a:ext cx="2171700"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C8493"/>
                </a:solidFill>
                <a:latin typeface="Arial" pitchFamily="34" charset="0"/>
                <a:ea typeface="Arial" pitchFamily="34" charset="-122"/>
                <a:cs typeface="Arial" pitchFamily="34" charset="-120"/>
              </a:rPr>
              <a:t>HAND-RAISERS</a:t>
            </a:r>
            <a:endParaRPr lang="en-US" sz="825" dirty="0"/>
          </a:p>
        </p:txBody>
      </p:sp>
      <p:sp>
        <p:nvSpPr>
          <p:cNvPr id="34" name="Shape 32"/>
          <p:cNvSpPr/>
          <p:nvPr/>
        </p:nvSpPr>
        <p:spPr>
          <a:xfrm>
            <a:off x="3238500" y="4238923"/>
            <a:ext cx="11811000" cy="209550"/>
          </a:xfrm>
          <a:prstGeom prst="rect">
            <a:avLst/>
          </a:prstGeom>
          <a:solidFill>
            <a:srgbClr val="111729"/>
          </a:solidFill>
          <a:ln/>
        </p:spPr>
      </p:sp>
      <p:sp>
        <p:nvSpPr>
          <p:cNvPr id="35" name="Shape 33"/>
          <p:cNvSpPr/>
          <p:nvPr/>
        </p:nvSpPr>
        <p:spPr>
          <a:xfrm>
            <a:off x="3238500" y="4238923"/>
            <a:ext cx="9525" cy="209550"/>
          </a:xfrm>
          <a:prstGeom prst="rect">
            <a:avLst/>
          </a:prstGeom>
          <a:solidFill>
            <a:srgbClr val="2A3450"/>
          </a:solidFill>
          <a:ln/>
        </p:spPr>
      </p:sp>
      <p:sp>
        <p:nvSpPr>
          <p:cNvPr id="36" name="Shape 34"/>
          <p:cNvSpPr/>
          <p:nvPr/>
        </p:nvSpPr>
        <p:spPr>
          <a:xfrm>
            <a:off x="3248025" y="4238923"/>
            <a:ext cx="1534120" cy="209550"/>
          </a:xfrm>
          <a:prstGeom prst="rect">
            <a:avLst/>
          </a:prstGeom>
          <a:solidFill>
            <a:srgbClr val="C9A7E6"/>
          </a:solidFill>
          <a:ln/>
        </p:spPr>
      </p:sp>
      <p:sp>
        <p:nvSpPr>
          <p:cNvPr id="37" name="Text 35"/>
          <p:cNvSpPr/>
          <p:nvPr/>
        </p:nvSpPr>
        <p:spPr>
          <a:xfrm>
            <a:off x="16849130" y="4143673"/>
            <a:ext cx="600670" cy="276225"/>
          </a:xfrm>
          <a:prstGeom prst="rect">
            <a:avLst/>
          </a:prstGeom>
          <a:noFill/>
          <a:ln/>
        </p:spPr>
        <p:txBody>
          <a:bodyPr wrap="square" lIns="0" tIns="0" rIns="0" bIns="0" rtlCol="0" anchor="t">
            <a:normAutofit/>
          </a:bodyPr>
          <a:lstStyle/>
          <a:p>
            <a:pPr algn="r" indent="0" marL="0">
              <a:buNone/>
            </a:pPr>
            <a:r>
              <a:rPr lang="en-US" sz="1650" dirty="0">
                <a:solidFill>
                  <a:srgbClr val="ECEEF2"/>
                </a:solidFill>
                <a:latin typeface="Arial" pitchFamily="34" charset="0"/>
                <a:ea typeface="Arial" pitchFamily="34" charset="-122"/>
                <a:cs typeface="Arial" pitchFamily="34" charset="-120"/>
              </a:rPr>
              <a:t>1,286</a:t>
            </a:r>
            <a:endParaRPr lang="en-US" sz="1650" dirty="0"/>
          </a:p>
        </p:txBody>
      </p:sp>
      <p:sp>
        <p:nvSpPr>
          <p:cNvPr id="38" name="Text 36"/>
          <p:cNvSpPr/>
          <p:nvPr/>
        </p:nvSpPr>
        <p:spPr>
          <a:xfrm>
            <a:off x="15201900" y="4429423"/>
            <a:ext cx="2171700" cy="152400"/>
          </a:xfrm>
          <a:prstGeom prst="rect">
            <a:avLst/>
          </a:prstGeom>
          <a:noFill/>
          <a:ln/>
        </p:spPr>
        <p:txBody>
          <a:bodyPr wrap="square" lIns="25400" tIns="25400" rIns="25400" bIns="25400" rtlCol="0" anchor="t">
            <a:normAutofit/>
          </a:bodyPr>
          <a:lstStyle/>
          <a:p>
            <a:pPr algn="r" indent="0" marL="0">
              <a:buNone/>
            </a:pPr>
            <a:r>
              <a:rPr lang="en-US" sz="825" spc="149" kern="0" dirty="0">
                <a:solidFill>
                  <a:srgbClr val="7C8493"/>
                </a:solidFill>
                <a:latin typeface="Arial" pitchFamily="34" charset="0"/>
                <a:ea typeface="Arial" pitchFamily="34" charset="-122"/>
                <a:cs typeface="Arial" pitchFamily="34" charset="-120"/>
              </a:rPr>
              <a:t>1.81% CR</a:t>
            </a:r>
            <a:endParaRPr lang="en-US" sz="825" dirty="0"/>
          </a:p>
        </p:txBody>
      </p:sp>
      <p:sp>
        <p:nvSpPr>
          <p:cNvPr id="39" name="Shape 37"/>
          <p:cNvSpPr/>
          <p:nvPr/>
        </p:nvSpPr>
        <p:spPr>
          <a:xfrm>
            <a:off x="914400" y="4753273"/>
            <a:ext cx="16459200" cy="9525"/>
          </a:xfrm>
          <a:prstGeom prst="rect">
            <a:avLst/>
          </a:prstGeom>
          <a:solidFill>
            <a:srgbClr val="2A3450"/>
          </a:solidFill>
          <a:ln/>
        </p:spPr>
      </p:sp>
      <p:sp>
        <p:nvSpPr>
          <p:cNvPr id="40" name="Text 38"/>
          <p:cNvSpPr/>
          <p:nvPr/>
        </p:nvSpPr>
        <p:spPr>
          <a:xfrm>
            <a:off x="914400" y="4958060"/>
            <a:ext cx="1319659" cy="228600"/>
          </a:xfrm>
          <a:prstGeom prst="rect">
            <a:avLst/>
          </a:prstGeom>
          <a:noFill/>
          <a:ln/>
        </p:spPr>
        <p:txBody>
          <a:bodyPr wrap="square" lIns="0" tIns="0" rIns="0" bIns="0" rtlCol="0" anchor="t">
            <a:normAutofit/>
          </a:bodyPr>
          <a:lstStyle/>
          <a:p>
            <a:pPr algn="l" indent="0" marL="0">
              <a:buNone/>
            </a:pPr>
            <a:r>
              <a:rPr lang="en-US" sz="1350" spc="-7" kern="0" dirty="0">
                <a:solidFill>
                  <a:srgbClr val="ECEEF2"/>
                </a:solidFill>
                <a:latin typeface="Arial" pitchFamily="34" charset="0"/>
                <a:ea typeface="Arial" pitchFamily="34" charset="-122"/>
                <a:cs typeface="Arial" pitchFamily="34" charset="-120"/>
              </a:rPr>
              <a:t>All Opportunities</a:t>
            </a:r>
            <a:endParaRPr lang="en-US" sz="1350" dirty="0"/>
          </a:p>
        </p:txBody>
      </p:sp>
      <p:sp>
        <p:nvSpPr>
          <p:cNvPr id="41" name="Text 39"/>
          <p:cNvSpPr/>
          <p:nvPr/>
        </p:nvSpPr>
        <p:spPr>
          <a:xfrm>
            <a:off x="914400" y="5196185"/>
            <a:ext cx="2171700"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C8493"/>
                </a:solidFill>
                <a:latin typeface="Arial" pitchFamily="34" charset="0"/>
                <a:ea typeface="Arial" pitchFamily="34" charset="-122"/>
                <a:cs typeface="Arial" pitchFamily="34" charset="-120"/>
              </a:rPr>
              <a:t>PIPELINE CREATED</a:t>
            </a:r>
            <a:endParaRPr lang="en-US" sz="825" dirty="0"/>
          </a:p>
        </p:txBody>
      </p:sp>
      <p:sp>
        <p:nvSpPr>
          <p:cNvPr id="42" name="Shape 40"/>
          <p:cNvSpPr/>
          <p:nvPr/>
        </p:nvSpPr>
        <p:spPr>
          <a:xfrm>
            <a:off x="3238500" y="5029498"/>
            <a:ext cx="11811000" cy="209550"/>
          </a:xfrm>
          <a:prstGeom prst="rect">
            <a:avLst/>
          </a:prstGeom>
          <a:solidFill>
            <a:srgbClr val="111729"/>
          </a:solidFill>
          <a:ln/>
        </p:spPr>
      </p:sp>
      <p:sp>
        <p:nvSpPr>
          <p:cNvPr id="43" name="Shape 41"/>
          <p:cNvSpPr/>
          <p:nvPr/>
        </p:nvSpPr>
        <p:spPr>
          <a:xfrm>
            <a:off x="3238500" y="5029498"/>
            <a:ext cx="9525" cy="209550"/>
          </a:xfrm>
          <a:prstGeom prst="rect">
            <a:avLst/>
          </a:prstGeom>
          <a:solidFill>
            <a:srgbClr val="2A3450"/>
          </a:solidFill>
          <a:ln/>
        </p:spPr>
      </p:sp>
      <p:sp>
        <p:nvSpPr>
          <p:cNvPr id="44" name="Shape 42"/>
          <p:cNvSpPr/>
          <p:nvPr/>
        </p:nvSpPr>
        <p:spPr>
          <a:xfrm>
            <a:off x="3248025" y="5029498"/>
            <a:ext cx="1062038" cy="209550"/>
          </a:xfrm>
          <a:prstGeom prst="rect">
            <a:avLst/>
          </a:prstGeom>
          <a:solidFill>
            <a:srgbClr val="9DAFE8"/>
          </a:solidFill>
          <a:ln/>
        </p:spPr>
      </p:sp>
      <p:sp>
        <p:nvSpPr>
          <p:cNvPr id="45" name="Text 43"/>
          <p:cNvSpPr/>
          <p:nvPr/>
        </p:nvSpPr>
        <p:spPr>
          <a:xfrm>
            <a:off x="16849130" y="4934248"/>
            <a:ext cx="600670" cy="276225"/>
          </a:xfrm>
          <a:prstGeom prst="rect">
            <a:avLst/>
          </a:prstGeom>
          <a:noFill/>
          <a:ln/>
        </p:spPr>
        <p:txBody>
          <a:bodyPr wrap="square" lIns="0" tIns="0" rIns="0" bIns="0" rtlCol="0" anchor="t">
            <a:normAutofit/>
          </a:bodyPr>
          <a:lstStyle/>
          <a:p>
            <a:pPr algn="r" indent="0" marL="0">
              <a:buNone/>
            </a:pPr>
            <a:r>
              <a:rPr lang="en-US" sz="1650" dirty="0">
                <a:solidFill>
                  <a:srgbClr val="ECEEF2"/>
                </a:solidFill>
                <a:latin typeface="Arial" pitchFamily="34" charset="0"/>
                <a:ea typeface="Arial" pitchFamily="34" charset="-122"/>
                <a:cs typeface="Arial" pitchFamily="34" charset="-120"/>
              </a:rPr>
              <a:t>3,288</a:t>
            </a:r>
            <a:endParaRPr lang="en-US" sz="1650" dirty="0"/>
          </a:p>
        </p:txBody>
      </p:sp>
      <p:sp>
        <p:nvSpPr>
          <p:cNvPr id="46" name="Text 44"/>
          <p:cNvSpPr/>
          <p:nvPr/>
        </p:nvSpPr>
        <p:spPr>
          <a:xfrm>
            <a:off x="15201900" y="5219998"/>
            <a:ext cx="2171700" cy="152400"/>
          </a:xfrm>
          <a:prstGeom prst="rect">
            <a:avLst/>
          </a:prstGeom>
          <a:noFill/>
          <a:ln/>
        </p:spPr>
        <p:txBody>
          <a:bodyPr wrap="square" lIns="25400" tIns="25400" rIns="25400" bIns="25400" rtlCol="0" anchor="t">
            <a:normAutofit/>
          </a:bodyPr>
          <a:lstStyle/>
          <a:p>
            <a:pPr algn="r" indent="0" marL="0">
              <a:buNone/>
            </a:pPr>
            <a:r>
              <a:rPr lang="en-US" sz="825" spc="149" kern="0" dirty="0">
                <a:solidFill>
                  <a:srgbClr val="7C8493"/>
                </a:solidFill>
                <a:latin typeface="Arial" pitchFamily="34" charset="0"/>
                <a:ea typeface="Arial" pitchFamily="34" charset="-122"/>
                <a:cs typeface="Arial" pitchFamily="34" charset="-120"/>
              </a:rPr>
              <a:t>+ INBOUND &amp; OUTBOUND</a:t>
            </a:r>
            <a:endParaRPr lang="en-US" sz="825" dirty="0"/>
          </a:p>
        </p:txBody>
      </p:sp>
      <p:sp>
        <p:nvSpPr>
          <p:cNvPr id="47" name="Shape 45"/>
          <p:cNvSpPr/>
          <p:nvPr/>
        </p:nvSpPr>
        <p:spPr>
          <a:xfrm>
            <a:off x="914400" y="5543848"/>
            <a:ext cx="16459200" cy="9525"/>
          </a:xfrm>
          <a:prstGeom prst="rect">
            <a:avLst/>
          </a:prstGeom>
          <a:solidFill>
            <a:srgbClr val="2A3450"/>
          </a:solidFill>
          <a:ln/>
        </p:spPr>
      </p:sp>
      <p:sp>
        <p:nvSpPr>
          <p:cNvPr id="48" name="Text 46"/>
          <p:cNvSpPr/>
          <p:nvPr/>
        </p:nvSpPr>
        <p:spPr>
          <a:xfrm>
            <a:off x="914400" y="5748635"/>
            <a:ext cx="1510159" cy="228600"/>
          </a:xfrm>
          <a:prstGeom prst="rect">
            <a:avLst/>
          </a:prstGeom>
          <a:noFill/>
          <a:ln/>
        </p:spPr>
        <p:txBody>
          <a:bodyPr wrap="square" lIns="0" tIns="0" rIns="0" bIns="0" rtlCol="0" anchor="t">
            <a:normAutofit/>
          </a:bodyPr>
          <a:lstStyle/>
          <a:p>
            <a:pPr algn="l" indent="0" marL="0">
              <a:buNone/>
            </a:pPr>
            <a:r>
              <a:rPr lang="en-US" sz="1350" spc="-7" kern="0" dirty="0">
                <a:solidFill>
                  <a:srgbClr val="ECEEF2"/>
                </a:solidFill>
                <a:latin typeface="Arial" pitchFamily="34" charset="0"/>
                <a:ea typeface="Arial" pitchFamily="34" charset="-122"/>
                <a:cs typeface="Arial" pitchFamily="34" charset="-120"/>
              </a:rPr>
              <a:t>Marketing-Sourced</a:t>
            </a:r>
            <a:endParaRPr lang="en-US" sz="1350" dirty="0"/>
          </a:p>
        </p:txBody>
      </p:sp>
      <p:sp>
        <p:nvSpPr>
          <p:cNvPr id="49" name="Text 47"/>
          <p:cNvSpPr/>
          <p:nvPr/>
        </p:nvSpPr>
        <p:spPr>
          <a:xfrm>
            <a:off x="914400" y="5986760"/>
            <a:ext cx="2171700"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C8493"/>
                </a:solidFill>
                <a:latin typeface="Arial" pitchFamily="34" charset="0"/>
                <a:ea typeface="Arial" pitchFamily="34" charset="-122"/>
                <a:cs typeface="Arial" pitchFamily="34" charset="-120"/>
              </a:rPr>
              <a:t>CRM ORIGIN = MARKETING</a:t>
            </a:r>
            <a:endParaRPr lang="en-US" sz="825" dirty="0"/>
          </a:p>
        </p:txBody>
      </p:sp>
      <p:sp>
        <p:nvSpPr>
          <p:cNvPr id="50" name="Shape 48"/>
          <p:cNvSpPr/>
          <p:nvPr/>
        </p:nvSpPr>
        <p:spPr>
          <a:xfrm>
            <a:off x="3238500" y="5820073"/>
            <a:ext cx="11811000" cy="209550"/>
          </a:xfrm>
          <a:prstGeom prst="rect">
            <a:avLst/>
          </a:prstGeom>
          <a:solidFill>
            <a:srgbClr val="111729"/>
          </a:solidFill>
          <a:ln/>
        </p:spPr>
      </p:sp>
      <p:sp>
        <p:nvSpPr>
          <p:cNvPr id="51" name="Shape 49"/>
          <p:cNvSpPr/>
          <p:nvPr/>
        </p:nvSpPr>
        <p:spPr>
          <a:xfrm>
            <a:off x="3238500" y="5820073"/>
            <a:ext cx="9525" cy="209550"/>
          </a:xfrm>
          <a:prstGeom prst="rect">
            <a:avLst/>
          </a:prstGeom>
          <a:solidFill>
            <a:srgbClr val="2A3450"/>
          </a:solidFill>
          <a:ln/>
        </p:spPr>
      </p:sp>
      <p:sp>
        <p:nvSpPr>
          <p:cNvPr id="52" name="Shape 50"/>
          <p:cNvSpPr/>
          <p:nvPr/>
        </p:nvSpPr>
        <p:spPr>
          <a:xfrm>
            <a:off x="3248025" y="5820073"/>
            <a:ext cx="707975" cy="209550"/>
          </a:xfrm>
          <a:prstGeom prst="rect">
            <a:avLst/>
          </a:prstGeom>
          <a:solidFill>
            <a:srgbClr val="B6C2E0"/>
          </a:solidFill>
          <a:ln/>
        </p:spPr>
      </p:sp>
      <p:sp>
        <p:nvSpPr>
          <p:cNvPr id="53" name="Text 51"/>
          <p:cNvSpPr/>
          <p:nvPr/>
        </p:nvSpPr>
        <p:spPr>
          <a:xfrm>
            <a:off x="17023854" y="5724823"/>
            <a:ext cx="425946" cy="276225"/>
          </a:xfrm>
          <a:prstGeom prst="rect">
            <a:avLst/>
          </a:prstGeom>
          <a:noFill/>
          <a:ln/>
        </p:spPr>
        <p:txBody>
          <a:bodyPr wrap="square" lIns="0" tIns="0" rIns="0" bIns="0" rtlCol="0" anchor="t">
            <a:normAutofit/>
          </a:bodyPr>
          <a:lstStyle/>
          <a:p>
            <a:pPr algn="r" indent="0" marL="0">
              <a:buNone/>
            </a:pPr>
            <a:r>
              <a:rPr lang="en-US" sz="1650" dirty="0">
                <a:solidFill>
                  <a:srgbClr val="ECEEF2"/>
                </a:solidFill>
                <a:latin typeface="Arial" pitchFamily="34" charset="0"/>
                <a:ea typeface="Arial" pitchFamily="34" charset="-122"/>
                <a:cs typeface="Arial" pitchFamily="34" charset="-120"/>
              </a:rPr>
              <a:t>511</a:t>
            </a:r>
            <a:endParaRPr lang="en-US" sz="1650" dirty="0"/>
          </a:p>
        </p:txBody>
      </p:sp>
      <p:sp>
        <p:nvSpPr>
          <p:cNvPr id="54" name="Text 52"/>
          <p:cNvSpPr/>
          <p:nvPr/>
        </p:nvSpPr>
        <p:spPr>
          <a:xfrm>
            <a:off x="15201900" y="6010573"/>
            <a:ext cx="2171700" cy="152400"/>
          </a:xfrm>
          <a:prstGeom prst="rect">
            <a:avLst/>
          </a:prstGeom>
          <a:noFill/>
          <a:ln/>
        </p:spPr>
        <p:txBody>
          <a:bodyPr wrap="square" lIns="25400" tIns="25400" rIns="25400" bIns="25400" rtlCol="0" anchor="t">
            <a:normAutofit/>
          </a:bodyPr>
          <a:lstStyle/>
          <a:p>
            <a:pPr algn="r" indent="0" marL="0">
              <a:buNone/>
            </a:pPr>
            <a:r>
              <a:rPr lang="en-US" sz="825" spc="149" kern="0" dirty="0">
                <a:solidFill>
                  <a:srgbClr val="7C8493"/>
                </a:solidFill>
                <a:latin typeface="Arial" pitchFamily="34" charset="0"/>
                <a:ea typeface="Arial" pitchFamily="34" charset="-122"/>
                <a:cs typeface="Arial" pitchFamily="34" charset="-120"/>
              </a:rPr>
              <a:t>15.5% OF DEALS</a:t>
            </a:r>
            <a:endParaRPr lang="en-US" sz="825" dirty="0"/>
          </a:p>
        </p:txBody>
      </p:sp>
      <p:sp>
        <p:nvSpPr>
          <p:cNvPr id="55" name="Shape 53"/>
          <p:cNvSpPr/>
          <p:nvPr/>
        </p:nvSpPr>
        <p:spPr>
          <a:xfrm>
            <a:off x="914400" y="7086898"/>
            <a:ext cx="16459200" cy="9525"/>
          </a:xfrm>
          <a:prstGeom prst="rect">
            <a:avLst/>
          </a:prstGeom>
          <a:solidFill>
            <a:srgbClr val="2A3450"/>
          </a:solidFill>
          <a:ln/>
        </p:spPr>
      </p:sp>
      <p:sp>
        <p:nvSpPr>
          <p:cNvPr id="56" name="Shape 54"/>
          <p:cNvSpPr/>
          <p:nvPr/>
        </p:nvSpPr>
        <p:spPr>
          <a:xfrm>
            <a:off x="914400" y="6334423"/>
            <a:ext cx="16459200" cy="9525"/>
          </a:xfrm>
          <a:prstGeom prst="rect">
            <a:avLst/>
          </a:prstGeom>
          <a:solidFill>
            <a:srgbClr val="2A3450"/>
          </a:solidFill>
          <a:ln/>
        </p:spPr>
      </p:sp>
      <p:sp>
        <p:nvSpPr>
          <p:cNvPr id="57" name="Text 55"/>
          <p:cNvSpPr/>
          <p:nvPr/>
        </p:nvSpPr>
        <p:spPr>
          <a:xfrm>
            <a:off x="914400" y="6539210"/>
            <a:ext cx="1526828" cy="228600"/>
          </a:xfrm>
          <a:prstGeom prst="rect">
            <a:avLst/>
          </a:prstGeom>
          <a:noFill/>
          <a:ln/>
        </p:spPr>
        <p:txBody>
          <a:bodyPr wrap="square" lIns="0" tIns="0" rIns="0" bIns="0" rtlCol="0" anchor="t">
            <a:normAutofit/>
          </a:bodyPr>
          <a:lstStyle/>
          <a:p>
            <a:pPr algn="l" indent="0" marL="0">
              <a:buNone/>
            </a:pPr>
            <a:r>
              <a:rPr lang="en-US" sz="1350" spc="-7" kern="0" dirty="0">
                <a:solidFill>
                  <a:srgbClr val="ECEEF2"/>
                </a:solidFill>
                <a:latin typeface="Arial" pitchFamily="34" charset="0"/>
                <a:ea typeface="Arial" pitchFamily="34" charset="-122"/>
                <a:cs typeface="Arial" pitchFamily="34" charset="-120"/>
              </a:rPr>
              <a:t>Mktg-Sourced Won</a:t>
            </a:r>
            <a:endParaRPr lang="en-US" sz="1350" dirty="0"/>
          </a:p>
        </p:txBody>
      </p:sp>
      <p:sp>
        <p:nvSpPr>
          <p:cNvPr id="58" name="Text 56"/>
          <p:cNvSpPr/>
          <p:nvPr/>
        </p:nvSpPr>
        <p:spPr>
          <a:xfrm>
            <a:off x="914400" y="6777335"/>
            <a:ext cx="2171700"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7C8493"/>
                </a:solidFill>
                <a:latin typeface="Arial" pitchFamily="34" charset="0"/>
                <a:ea typeface="Arial" pitchFamily="34" charset="-122"/>
                <a:cs typeface="Arial" pitchFamily="34" charset="-120"/>
              </a:rPr>
              <a:t>CLOSED REVENUE</a:t>
            </a:r>
            <a:endParaRPr lang="en-US" sz="825" dirty="0"/>
          </a:p>
        </p:txBody>
      </p:sp>
      <p:sp>
        <p:nvSpPr>
          <p:cNvPr id="59" name="Shape 57"/>
          <p:cNvSpPr/>
          <p:nvPr/>
        </p:nvSpPr>
        <p:spPr>
          <a:xfrm>
            <a:off x="3238500" y="6610648"/>
            <a:ext cx="11811000" cy="209550"/>
          </a:xfrm>
          <a:prstGeom prst="rect">
            <a:avLst/>
          </a:prstGeom>
          <a:solidFill>
            <a:srgbClr val="111729"/>
          </a:solidFill>
          <a:ln/>
        </p:spPr>
      </p:sp>
      <p:sp>
        <p:nvSpPr>
          <p:cNvPr id="60" name="Shape 58"/>
          <p:cNvSpPr/>
          <p:nvPr/>
        </p:nvSpPr>
        <p:spPr>
          <a:xfrm>
            <a:off x="3238500" y="6610648"/>
            <a:ext cx="9525" cy="209550"/>
          </a:xfrm>
          <a:prstGeom prst="rect">
            <a:avLst/>
          </a:prstGeom>
          <a:solidFill>
            <a:srgbClr val="2A3450"/>
          </a:solidFill>
          <a:ln/>
        </p:spPr>
      </p:sp>
      <p:sp>
        <p:nvSpPr>
          <p:cNvPr id="61" name="Shape 59"/>
          <p:cNvSpPr/>
          <p:nvPr/>
        </p:nvSpPr>
        <p:spPr>
          <a:xfrm>
            <a:off x="3248025" y="6610648"/>
            <a:ext cx="353913" cy="209550"/>
          </a:xfrm>
          <a:prstGeom prst="rect">
            <a:avLst/>
          </a:prstGeom>
          <a:solidFill>
            <a:srgbClr val="88D1B0"/>
          </a:solidFill>
          <a:ln/>
        </p:spPr>
      </p:sp>
      <p:sp>
        <p:nvSpPr>
          <p:cNvPr id="62" name="Text 60"/>
          <p:cNvSpPr/>
          <p:nvPr/>
        </p:nvSpPr>
        <p:spPr>
          <a:xfrm>
            <a:off x="17140386" y="6515398"/>
            <a:ext cx="309414" cy="276225"/>
          </a:xfrm>
          <a:prstGeom prst="rect">
            <a:avLst/>
          </a:prstGeom>
          <a:noFill/>
          <a:ln/>
        </p:spPr>
        <p:txBody>
          <a:bodyPr wrap="square" lIns="0" tIns="0" rIns="0" bIns="0" rtlCol="0" anchor="t">
            <a:normAutofit/>
          </a:bodyPr>
          <a:lstStyle/>
          <a:p>
            <a:pPr algn="r" indent="0" marL="0">
              <a:buNone/>
            </a:pPr>
            <a:r>
              <a:rPr lang="en-US" sz="1650" dirty="0">
                <a:solidFill>
                  <a:srgbClr val="ECEEF2"/>
                </a:solidFill>
                <a:latin typeface="Arial" pitchFamily="34" charset="0"/>
                <a:ea typeface="Arial" pitchFamily="34" charset="-122"/>
                <a:cs typeface="Arial" pitchFamily="34" charset="-120"/>
              </a:rPr>
              <a:t>52</a:t>
            </a:r>
            <a:endParaRPr lang="en-US" sz="1650" dirty="0"/>
          </a:p>
        </p:txBody>
      </p:sp>
      <p:sp>
        <p:nvSpPr>
          <p:cNvPr id="63" name="Text 61"/>
          <p:cNvSpPr/>
          <p:nvPr/>
        </p:nvSpPr>
        <p:spPr>
          <a:xfrm>
            <a:off x="15201900" y="6801148"/>
            <a:ext cx="2171700" cy="152400"/>
          </a:xfrm>
          <a:prstGeom prst="rect">
            <a:avLst/>
          </a:prstGeom>
          <a:noFill/>
          <a:ln/>
        </p:spPr>
        <p:txBody>
          <a:bodyPr wrap="square" lIns="25400" tIns="25400" rIns="25400" bIns="25400" rtlCol="0" anchor="t">
            <a:normAutofit/>
          </a:bodyPr>
          <a:lstStyle/>
          <a:p>
            <a:pPr algn="r" indent="0" marL="0">
              <a:buNone/>
            </a:pPr>
            <a:r>
              <a:rPr lang="en-US" sz="825" spc="149" kern="0" dirty="0">
                <a:solidFill>
                  <a:srgbClr val="88D1B0"/>
                </a:solidFill>
                <a:latin typeface="Arial" pitchFamily="34" charset="0"/>
                <a:ea typeface="Arial" pitchFamily="34" charset="-122"/>
                <a:cs typeface="Arial" pitchFamily="34" charset="-120"/>
              </a:rPr>
              <a:t>10.2% WIN RATE</a:t>
            </a:r>
            <a:endParaRPr lang="en-US" sz="825" dirty="0"/>
          </a:p>
        </p:txBody>
      </p:sp>
      <p:sp>
        <p:nvSpPr>
          <p:cNvPr id="64" name="Shape 62"/>
          <p:cNvSpPr/>
          <p:nvPr/>
        </p:nvSpPr>
        <p:spPr>
          <a:xfrm>
            <a:off x="914400" y="7305973"/>
            <a:ext cx="16459200" cy="9525"/>
          </a:xfrm>
          <a:prstGeom prst="rect">
            <a:avLst/>
          </a:prstGeom>
          <a:solidFill>
            <a:srgbClr val="2A3450"/>
          </a:solidFill>
          <a:ln/>
        </p:spPr>
      </p:sp>
      <p:sp>
        <p:nvSpPr>
          <p:cNvPr id="65" name="Text 63"/>
          <p:cNvSpPr/>
          <p:nvPr/>
        </p:nvSpPr>
        <p:spPr>
          <a:xfrm>
            <a:off x="914400" y="7525048"/>
            <a:ext cx="2171700" cy="645616"/>
          </a:xfrm>
          <a:prstGeom prst="rect">
            <a:avLst/>
          </a:prstGeom>
          <a:noFill/>
          <a:ln/>
        </p:spPr>
        <p:txBody>
          <a:bodyPr wrap="square" lIns="25400" tIns="25400" rIns="25400" bIns="25400" rtlCol="0" anchor="t">
            <a:normAutofit/>
          </a:bodyPr>
          <a:lstStyle/>
          <a:p>
            <a:pPr algn="l" indent="0" marL="0">
              <a:buNone/>
            </a:pPr>
            <a:r>
              <a:rPr lang="en-US" sz="900" spc="198" kern="0" dirty="0">
                <a:solidFill>
                  <a:srgbClr val="82A6D9"/>
                </a:solidFill>
                <a:latin typeface="Arial" pitchFamily="34" charset="0"/>
                <a:ea typeface="Arial" pitchFamily="34" charset="-122"/>
                <a:cs typeface="Arial" pitchFamily="34" charset="-120"/>
              </a:rPr>
              <a:t>INSIGHT</a:t>
            </a:r>
            <a:endParaRPr lang="en-US" sz="900" dirty="0"/>
          </a:p>
        </p:txBody>
      </p:sp>
      <p:sp>
        <p:nvSpPr>
          <p:cNvPr id="66" name="Text 64"/>
          <p:cNvSpPr/>
          <p:nvPr/>
        </p:nvSpPr>
        <p:spPr>
          <a:xfrm>
            <a:off x="3352800" y="7525048"/>
            <a:ext cx="1444142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Each step is a leverage point. Improving any single conversion rate compounds downstream — the largest opportunity sits in lifting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marketing-sourced win rate from 10%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a:t>
            </a:r>
            <a:endParaRPr lang="en-US" sz="1650" dirty="0"/>
          </a:p>
        </p:txBody>
      </p:sp>
      <p:sp>
        <p:nvSpPr>
          <p:cNvPr id="67" name="Text 65"/>
          <p:cNvSpPr/>
          <p:nvPr/>
        </p:nvSpPr>
        <p:spPr>
          <a:xfrm>
            <a:off x="762000" y="9791700"/>
            <a:ext cx="1302544"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07 / FUNNEL</a:t>
            </a:r>
            <a:endParaRPr lang="en-US" sz="900" dirty="0"/>
          </a:p>
        </p:txBody>
      </p:sp>
      <p:sp>
        <p:nvSpPr>
          <p:cNvPr id="68" name="Text 66"/>
          <p:cNvSpPr/>
          <p:nvPr/>
        </p:nvSpPr>
        <p:spPr>
          <a:xfrm>
            <a:off x="16453247" y="9791700"/>
            <a:ext cx="1148953"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FULL JOURNEY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347883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08 / 21 · CHANNEL REVENUE ATTRIBUTION</a:t>
            </a:r>
            <a:endParaRPr lang="en-US" sz="975" dirty="0"/>
          </a:p>
        </p:txBody>
      </p:sp>
      <p:sp>
        <p:nvSpPr>
          <p:cNvPr id="11" name="Text 9"/>
          <p:cNvSpPr/>
          <p:nvPr/>
        </p:nvSpPr>
        <p:spPr>
          <a:xfrm>
            <a:off x="16649402" y="361950"/>
            <a:ext cx="952798"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08</a:t>
            </a:r>
            <a:endParaRPr lang="en-US" sz="1125" dirty="0"/>
          </a:p>
        </p:txBody>
      </p:sp>
      <p:sp>
        <p:nvSpPr>
          <p:cNvPr id="13" name="Text 11"/>
          <p:cNvSpPr/>
          <p:nvPr/>
        </p:nvSpPr>
        <p:spPr>
          <a:xfrm>
            <a:off x="1275308" y="800100"/>
            <a:ext cx="1284536"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CHANNELS</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Channel economics by CRM lead source.</a:t>
            </a:r>
            <a:endParaRPr lang="en-US" sz="5700" dirty="0"/>
          </a:p>
        </p:txBody>
      </p:sp>
      <p:sp>
        <p:nvSpPr>
          <p:cNvPr id="15" name="Shape 13"/>
          <p:cNvSpPr/>
          <p:nvPr/>
        </p:nvSpPr>
        <p:spPr>
          <a:xfrm>
            <a:off x="914400" y="2738735"/>
            <a:ext cx="3360986" cy="9525"/>
          </a:xfrm>
          <a:prstGeom prst="rect">
            <a:avLst/>
          </a:prstGeom>
          <a:solidFill>
            <a:srgbClr val="2A3450"/>
          </a:solidFill>
          <a:ln/>
        </p:spPr>
      </p:sp>
      <p:sp>
        <p:nvSpPr>
          <p:cNvPr id="16" name="Text 14"/>
          <p:cNvSpPr/>
          <p:nvPr/>
        </p:nvSpPr>
        <p:spPr>
          <a:xfrm>
            <a:off x="1028700" y="2495848"/>
            <a:ext cx="3233215" cy="166688"/>
          </a:xfrm>
          <a:prstGeom prst="rect">
            <a:avLst/>
          </a:prstGeom>
          <a:noFill/>
          <a:ln/>
        </p:spPr>
        <p:txBody>
          <a:bodyPr wrap="square" lIns="25400" tIns="25400" rIns="25400" bIns="25400" rtlCol="0" anchor="ctr">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CHANNEL</a:t>
            </a:r>
            <a:endParaRPr lang="en-US" sz="825" dirty="0"/>
          </a:p>
        </p:txBody>
      </p:sp>
      <p:sp>
        <p:nvSpPr>
          <p:cNvPr id="17" name="Shape 15"/>
          <p:cNvSpPr/>
          <p:nvPr/>
        </p:nvSpPr>
        <p:spPr>
          <a:xfrm>
            <a:off x="4275386" y="2738735"/>
            <a:ext cx="1636663" cy="9525"/>
          </a:xfrm>
          <a:prstGeom prst="rect">
            <a:avLst/>
          </a:prstGeom>
          <a:solidFill>
            <a:srgbClr val="2A3450"/>
          </a:solidFill>
          <a:ln/>
        </p:spPr>
      </p:sp>
      <p:sp>
        <p:nvSpPr>
          <p:cNvPr id="18" name="Text 16"/>
          <p:cNvSpPr/>
          <p:nvPr/>
        </p:nvSpPr>
        <p:spPr>
          <a:xfrm>
            <a:off x="4313486" y="2495848"/>
            <a:ext cx="1484263"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DEALS</a:t>
            </a:r>
            <a:endParaRPr lang="en-US" sz="825" dirty="0"/>
          </a:p>
        </p:txBody>
      </p:sp>
      <p:sp>
        <p:nvSpPr>
          <p:cNvPr id="19" name="Shape 17"/>
          <p:cNvSpPr/>
          <p:nvPr/>
        </p:nvSpPr>
        <p:spPr>
          <a:xfrm>
            <a:off x="5912048" y="2738735"/>
            <a:ext cx="2272159" cy="9525"/>
          </a:xfrm>
          <a:prstGeom prst="rect">
            <a:avLst/>
          </a:prstGeom>
          <a:solidFill>
            <a:srgbClr val="2A3450"/>
          </a:solidFill>
          <a:ln/>
        </p:spPr>
      </p:sp>
      <p:sp>
        <p:nvSpPr>
          <p:cNvPr id="20" name="Text 18"/>
          <p:cNvSpPr/>
          <p:nvPr/>
        </p:nvSpPr>
        <p:spPr>
          <a:xfrm>
            <a:off x="5950148" y="2495848"/>
            <a:ext cx="2119759"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WIN RATE</a:t>
            </a:r>
            <a:endParaRPr lang="en-US" sz="825" dirty="0"/>
          </a:p>
        </p:txBody>
      </p:sp>
      <p:sp>
        <p:nvSpPr>
          <p:cNvPr id="21" name="Shape 19"/>
          <p:cNvSpPr/>
          <p:nvPr/>
        </p:nvSpPr>
        <p:spPr>
          <a:xfrm>
            <a:off x="8184207" y="2738735"/>
            <a:ext cx="2272159" cy="9525"/>
          </a:xfrm>
          <a:prstGeom prst="rect">
            <a:avLst/>
          </a:prstGeom>
          <a:solidFill>
            <a:srgbClr val="2A3450"/>
          </a:solidFill>
          <a:ln/>
        </p:spPr>
      </p:sp>
      <p:sp>
        <p:nvSpPr>
          <p:cNvPr id="22" name="Text 20"/>
          <p:cNvSpPr/>
          <p:nvPr/>
        </p:nvSpPr>
        <p:spPr>
          <a:xfrm>
            <a:off x="8222307" y="2495848"/>
            <a:ext cx="2119759"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AVG DEAL</a:t>
            </a:r>
            <a:endParaRPr lang="en-US" sz="825" dirty="0"/>
          </a:p>
        </p:txBody>
      </p:sp>
      <p:sp>
        <p:nvSpPr>
          <p:cNvPr id="23" name="Shape 21"/>
          <p:cNvSpPr/>
          <p:nvPr/>
        </p:nvSpPr>
        <p:spPr>
          <a:xfrm>
            <a:off x="10456366" y="2738735"/>
            <a:ext cx="6917234" cy="9525"/>
          </a:xfrm>
          <a:prstGeom prst="rect">
            <a:avLst/>
          </a:prstGeom>
          <a:solidFill>
            <a:srgbClr val="2A3450"/>
          </a:solidFill>
          <a:ln/>
        </p:spPr>
      </p:sp>
      <p:sp>
        <p:nvSpPr>
          <p:cNvPr id="24" name="Text 22"/>
          <p:cNvSpPr/>
          <p:nvPr/>
        </p:nvSpPr>
        <p:spPr>
          <a:xfrm>
            <a:off x="10363149" y="2495848"/>
            <a:ext cx="6896151"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PIPELINE SHARE</a:t>
            </a:r>
            <a:endParaRPr lang="en-US" sz="825" dirty="0"/>
          </a:p>
        </p:txBody>
      </p:sp>
      <p:sp>
        <p:nvSpPr>
          <p:cNvPr id="25" name="Shape 23"/>
          <p:cNvSpPr/>
          <p:nvPr/>
        </p:nvSpPr>
        <p:spPr>
          <a:xfrm>
            <a:off x="914400" y="3186410"/>
            <a:ext cx="3360986" cy="9525"/>
          </a:xfrm>
          <a:prstGeom prst="rect">
            <a:avLst/>
          </a:prstGeom>
          <a:solidFill>
            <a:srgbClr val="2A3450"/>
          </a:solidFill>
          <a:ln/>
        </p:spPr>
      </p:sp>
      <p:sp>
        <p:nvSpPr>
          <p:cNvPr id="26" name="Text 24"/>
          <p:cNvSpPr/>
          <p:nvPr/>
        </p:nvSpPr>
        <p:spPr>
          <a:xfrm>
            <a:off x="1028700" y="2881610"/>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Existing Client</a:t>
            </a:r>
            <a:endParaRPr lang="en-US" sz="1200" dirty="0"/>
          </a:p>
        </p:txBody>
      </p:sp>
      <p:sp>
        <p:nvSpPr>
          <p:cNvPr id="27" name="Shape 25"/>
          <p:cNvSpPr/>
          <p:nvPr/>
        </p:nvSpPr>
        <p:spPr>
          <a:xfrm>
            <a:off x="4275386" y="3186410"/>
            <a:ext cx="1636663" cy="9525"/>
          </a:xfrm>
          <a:prstGeom prst="rect">
            <a:avLst/>
          </a:prstGeom>
          <a:solidFill>
            <a:srgbClr val="2A3450"/>
          </a:solidFill>
          <a:ln/>
        </p:spPr>
      </p:sp>
      <p:sp>
        <p:nvSpPr>
          <p:cNvPr id="28" name="Text 26"/>
          <p:cNvSpPr/>
          <p:nvPr/>
        </p:nvSpPr>
        <p:spPr>
          <a:xfrm>
            <a:off x="4313486" y="2881610"/>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1,366</a:t>
            </a:r>
            <a:endParaRPr lang="en-US" sz="1200" dirty="0"/>
          </a:p>
        </p:txBody>
      </p:sp>
      <p:sp>
        <p:nvSpPr>
          <p:cNvPr id="29" name="Shape 27"/>
          <p:cNvSpPr/>
          <p:nvPr/>
        </p:nvSpPr>
        <p:spPr>
          <a:xfrm>
            <a:off x="5912048" y="3186410"/>
            <a:ext cx="2272159" cy="9525"/>
          </a:xfrm>
          <a:prstGeom prst="rect">
            <a:avLst/>
          </a:prstGeom>
          <a:solidFill>
            <a:srgbClr val="2A3450"/>
          </a:solidFill>
          <a:ln/>
        </p:spPr>
      </p:sp>
      <p:sp>
        <p:nvSpPr>
          <p:cNvPr id="30" name="Text 28"/>
          <p:cNvSpPr/>
          <p:nvPr/>
        </p:nvSpPr>
        <p:spPr>
          <a:xfrm>
            <a:off x="5950148" y="288161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88D1B0"/>
                </a:solidFill>
                <a:latin typeface="Arial" pitchFamily="34" charset="0"/>
                <a:ea typeface="Arial" pitchFamily="34" charset="-122"/>
                <a:cs typeface="Arial" pitchFamily="34" charset="-120"/>
              </a:rPr>
              <a:t>54.0%</a:t>
            </a:r>
            <a:endParaRPr lang="en-US" sz="1200" dirty="0"/>
          </a:p>
        </p:txBody>
      </p:sp>
      <p:sp>
        <p:nvSpPr>
          <p:cNvPr id="31" name="Shape 29"/>
          <p:cNvSpPr/>
          <p:nvPr/>
        </p:nvSpPr>
        <p:spPr>
          <a:xfrm>
            <a:off x="8184207" y="3186410"/>
            <a:ext cx="2272159" cy="9525"/>
          </a:xfrm>
          <a:prstGeom prst="rect">
            <a:avLst/>
          </a:prstGeom>
          <a:solidFill>
            <a:srgbClr val="2A3450"/>
          </a:solidFill>
          <a:ln/>
        </p:spPr>
      </p:sp>
      <p:sp>
        <p:nvSpPr>
          <p:cNvPr id="32" name="Text 30"/>
          <p:cNvSpPr/>
          <p:nvPr/>
        </p:nvSpPr>
        <p:spPr>
          <a:xfrm>
            <a:off x="8222307" y="288161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$2K</a:t>
            </a:r>
            <a:endParaRPr lang="en-US" sz="1200" dirty="0"/>
          </a:p>
        </p:txBody>
      </p:sp>
      <p:sp>
        <p:nvSpPr>
          <p:cNvPr id="33" name="Shape 31"/>
          <p:cNvSpPr/>
          <p:nvPr/>
        </p:nvSpPr>
        <p:spPr>
          <a:xfrm>
            <a:off x="10456366" y="3186410"/>
            <a:ext cx="6917234" cy="9525"/>
          </a:xfrm>
          <a:prstGeom prst="rect">
            <a:avLst/>
          </a:prstGeom>
          <a:solidFill>
            <a:srgbClr val="2A3450"/>
          </a:solidFill>
          <a:ln/>
        </p:spPr>
      </p:sp>
      <p:sp>
        <p:nvSpPr>
          <p:cNvPr id="34" name="Shape 32"/>
          <p:cNvSpPr/>
          <p:nvPr/>
        </p:nvSpPr>
        <p:spPr>
          <a:xfrm>
            <a:off x="15597485" y="2933998"/>
            <a:ext cx="1143000" cy="76200"/>
          </a:xfrm>
          <a:prstGeom prst="rect">
            <a:avLst/>
          </a:prstGeom>
          <a:solidFill>
            <a:srgbClr val="88D1B0"/>
          </a:solidFill>
          <a:ln/>
        </p:spPr>
      </p:sp>
      <p:sp>
        <p:nvSpPr>
          <p:cNvPr id="35" name="Text 33"/>
          <p:cNvSpPr/>
          <p:nvPr/>
        </p:nvSpPr>
        <p:spPr>
          <a:xfrm>
            <a:off x="16759535" y="2886373"/>
            <a:ext cx="499765"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$2.7M</a:t>
            </a:r>
            <a:endParaRPr lang="en-US" sz="1200" dirty="0"/>
          </a:p>
        </p:txBody>
      </p:sp>
      <p:sp>
        <p:nvSpPr>
          <p:cNvPr id="36" name="Shape 34"/>
          <p:cNvSpPr/>
          <p:nvPr/>
        </p:nvSpPr>
        <p:spPr>
          <a:xfrm>
            <a:off x="914400" y="3634085"/>
            <a:ext cx="3360986" cy="9525"/>
          </a:xfrm>
          <a:prstGeom prst="rect">
            <a:avLst/>
          </a:prstGeom>
          <a:solidFill>
            <a:srgbClr val="2A3450"/>
          </a:solidFill>
          <a:ln/>
        </p:spPr>
      </p:sp>
      <p:sp>
        <p:nvSpPr>
          <p:cNvPr id="37" name="Text 35"/>
          <p:cNvSpPr/>
          <p:nvPr/>
        </p:nvSpPr>
        <p:spPr>
          <a:xfrm>
            <a:off x="1028700" y="3329285"/>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Other</a:t>
            </a:r>
            <a:endParaRPr lang="en-US" sz="1200" dirty="0"/>
          </a:p>
        </p:txBody>
      </p:sp>
      <p:sp>
        <p:nvSpPr>
          <p:cNvPr id="38" name="Shape 36"/>
          <p:cNvSpPr/>
          <p:nvPr/>
        </p:nvSpPr>
        <p:spPr>
          <a:xfrm>
            <a:off x="4275386" y="3634085"/>
            <a:ext cx="1636663" cy="9525"/>
          </a:xfrm>
          <a:prstGeom prst="rect">
            <a:avLst/>
          </a:prstGeom>
          <a:solidFill>
            <a:srgbClr val="2A3450"/>
          </a:solidFill>
          <a:ln/>
        </p:spPr>
      </p:sp>
      <p:sp>
        <p:nvSpPr>
          <p:cNvPr id="39" name="Text 37"/>
          <p:cNvSpPr/>
          <p:nvPr/>
        </p:nvSpPr>
        <p:spPr>
          <a:xfrm>
            <a:off x="4313486" y="3329285"/>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1,120</a:t>
            </a:r>
            <a:endParaRPr lang="en-US" sz="1200" dirty="0"/>
          </a:p>
        </p:txBody>
      </p:sp>
      <p:sp>
        <p:nvSpPr>
          <p:cNvPr id="40" name="Shape 38"/>
          <p:cNvSpPr/>
          <p:nvPr/>
        </p:nvSpPr>
        <p:spPr>
          <a:xfrm>
            <a:off x="5912048" y="3634085"/>
            <a:ext cx="2272159" cy="9525"/>
          </a:xfrm>
          <a:prstGeom prst="rect">
            <a:avLst/>
          </a:prstGeom>
          <a:solidFill>
            <a:srgbClr val="2A3450"/>
          </a:solidFill>
          <a:ln/>
        </p:spPr>
      </p:sp>
      <p:sp>
        <p:nvSpPr>
          <p:cNvPr id="41" name="Text 39"/>
          <p:cNvSpPr/>
          <p:nvPr/>
        </p:nvSpPr>
        <p:spPr>
          <a:xfrm>
            <a:off x="5950148" y="332928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17.0%</a:t>
            </a:r>
            <a:endParaRPr lang="en-US" sz="1200" dirty="0"/>
          </a:p>
        </p:txBody>
      </p:sp>
      <p:sp>
        <p:nvSpPr>
          <p:cNvPr id="42" name="Shape 40"/>
          <p:cNvSpPr/>
          <p:nvPr/>
        </p:nvSpPr>
        <p:spPr>
          <a:xfrm>
            <a:off x="8184207" y="3634085"/>
            <a:ext cx="2272159" cy="9525"/>
          </a:xfrm>
          <a:prstGeom prst="rect">
            <a:avLst/>
          </a:prstGeom>
          <a:solidFill>
            <a:srgbClr val="2A3450"/>
          </a:solidFill>
          <a:ln/>
        </p:spPr>
      </p:sp>
      <p:sp>
        <p:nvSpPr>
          <p:cNvPr id="43" name="Text 41"/>
          <p:cNvSpPr/>
          <p:nvPr/>
        </p:nvSpPr>
        <p:spPr>
          <a:xfrm>
            <a:off x="8222307" y="332928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$13K</a:t>
            </a:r>
            <a:endParaRPr lang="en-US" sz="1200" dirty="0"/>
          </a:p>
        </p:txBody>
      </p:sp>
      <p:sp>
        <p:nvSpPr>
          <p:cNvPr id="44" name="Shape 42"/>
          <p:cNvSpPr/>
          <p:nvPr/>
        </p:nvSpPr>
        <p:spPr>
          <a:xfrm>
            <a:off x="10456366" y="3634085"/>
            <a:ext cx="6917234" cy="9525"/>
          </a:xfrm>
          <a:prstGeom prst="rect">
            <a:avLst/>
          </a:prstGeom>
          <a:solidFill>
            <a:srgbClr val="2A3450"/>
          </a:solidFill>
          <a:ln/>
        </p:spPr>
      </p:sp>
      <p:sp>
        <p:nvSpPr>
          <p:cNvPr id="45" name="Shape 43"/>
          <p:cNvSpPr/>
          <p:nvPr/>
        </p:nvSpPr>
        <p:spPr>
          <a:xfrm>
            <a:off x="14750653" y="3381673"/>
            <a:ext cx="1905000" cy="76200"/>
          </a:xfrm>
          <a:prstGeom prst="rect">
            <a:avLst/>
          </a:prstGeom>
          <a:solidFill>
            <a:srgbClr val="7C8493"/>
          </a:solidFill>
          <a:ln/>
        </p:spPr>
      </p:sp>
      <p:sp>
        <p:nvSpPr>
          <p:cNvPr id="46" name="Text 44"/>
          <p:cNvSpPr/>
          <p:nvPr/>
        </p:nvSpPr>
        <p:spPr>
          <a:xfrm>
            <a:off x="16674703" y="3334048"/>
            <a:ext cx="584597"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$14.6M</a:t>
            </a:r>
            <a:endParaRPr lang="en-US" sz="1200" dirty="0"/>
          </a:p>
        </p:txBody>
      </p:sp>
      <p:sp>
        <p:nvSpPr>
          <p:cNvPr id="47" name="Shape 45"/>
          <p:cNvSpPr/>
          <p:nvPr/>
        </p:nvSpPr>
        <p:spPr>
          <a:xfrm>
            <a:off x="914400" y="4081760"/>
            <a:ext cx="3360986" cy="9525"/>
          </a:xfrm>
          <a:prstGeom prst="rect">
            <a:avLst/>
          </a:prstGeom>
          <a:solidFill>
            <a:srgbClr val="2A3450"/>
          </a:solidFill>
          <a:ln/>
        </p:spPr>
      </p:sp>
      <p:sp>
        <p:nvSpPr>
          <p:cNvPr id="48" name="Text 46"/>
          <p:cNvSpPr/>
          <p:nvPr/>
        </p:nvSpPr>
        <p:spPr>
          <a:xfrm>
            <a:off x="1028700" y="3776960"/>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Referral</a:t>
            </a:r>
            <a:endParaRPr lang="en-US" sz="1200" dirty="0"/>
          </a:p>
        </p:txBody>
      </p:sp>
      <p:sp>
        <p:nvSpPr>
          <p:cNvPr id="49" name="Shape 47"/>
          <p:cNvSpPr/>
          <p:nvPr/>
        </p:nvSpPr>
        <p:spPr>
          <a:xfrm>
            <a:off x="4275386" y="4081760"/>
            <a:ext cx="1636663" cy="9525"/>
          </a:xfrm>
          <a:prstGeom prst="rect">
            <a:avLst/>
          </a:prstGeom>
          <a:solidFill>
            <a:srgbClr val="2A3450"/>
          </a:solidFill>
          <a:ln/>
        </p:spPr>
      </p:sp>
      <p:sp>
        <p:nvSpPr>
          <p:cNvPr id="50" name="Text 48"/>
          <p:cNvSpPr/>
          <p:nvPr/>
        </p:nvSpPr>
        <p:spPr>
          <a:xfrm>
            <a:off x="4313486" y="3776960"/>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291</a:t>
            </a:r>
            <a:endParaRPr lang="en-US" sz="1200" dirty="0"/>
          </a:p>
        </p:txBody>
      </p:sp>
      <p:sp>
        <p:nvSpPr>
          <p:cNvPr id="51" name="Shape 49"/>
          <p:cNvSpPr/>
          <p:nvPr/>
        </p:nvSpPr>
        <p:spPr>
          <a:xfrm>
            <a:off x="5912048" y="4081760"/>
            <a:ext cx="2272159" cy="9525"/>
          </a:xfrm>
          <a:prstGeom prst="rect">
            <a:avLst/>
          </a:prstGeom>
          <a:solidFill>
            <a:srgbClr val="2A3450"/>
          </a:solidFill>
          <a:ln/>
        </p:spPr>
      </p:sp>
      <p:sp>
        <p:nvSpPr>
          <p:cNvPr id="52" name="Text 50"/>
          <p:cNvSpPr/>
          <p:nvPr/>
        </p:nvSpPr>
        <p:spPr>
          <a:xfrm>
            <a:off x="5950148" y="377696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88D1B0"/>
                </a:solidFill>
                <a:latin typeface="Arial" pitchFamily="34" charset="0"/>
                <a:ea typeface="Arial" pitchFamily="34" charset="-122"/>
                <a:cs typeface="Arial" pitchFamily="34" charset="-120"/>
              </a:rPr>
              <a:t>29.0%</a:t>
            </a:r>
            <a:endParaRPr lang="en-US" sz="1200" dirty="0"/>
          </a:p>
        </p:txBody>
      </p:sp>
      <p:sp>
        <p:nvSpPr>
          <p:cNvPr id="53" name="Shape 51"/>
          <p:cNvSpPr/>
          <p:nvPr/>
        </p:nvSpPr>
        <p:spPr>
          <a:xfrm>
            <a:off x="8184207" y="4081760"/>
            <a:ext cx="2272159" cy="9525"/>
          </a:xfrm>
          <a:prstGeom prst="rect">
            <a:avLst/>
          </a:prstGeom>
          <a:solidFill>
            <a:srgbClr val="2A3450"/>
          </a:solidFill>
          <a:ln/>
        </p:spPr>
      </p:sp>
      <p:sp>
        <p:nvSpPr>
          <p:cNvPr id="54" name="Text 52"/>
          <p:cNvSpPr/>
          <p:nvPr/>
        </p:nvSpPr>
        <p:spPr>
          <a:xfrm>
            <a:off x="8222307" y="377696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$10K</a:t>
            </a:r>
            <a:endParaRPr lang="en-US" sz="1200" dirty="0"/>
          </a:p>
        </p:txBody>
      </p:sp>
      <p:sp>
        <p:nvSpPr>
          <p:cNvPr id="55" name="Shape 53"/>
          <p:cNvSpPr/>
          <p:nvPr/>
        </p:nvSpPr>
        <p:spPr>
          <a:xfrm>
            <a:off x="10456366" y="4081760"/>
            <a:ext cx="6917234" cy="9525"/>
          </a:xfrm>
          <a:prstGeom prst="rect">
            <a:avLst/>
          </a:prstGeom>
          <a:solidFill>
            <a:srgbClr val="2A3450"/>
          </a:solidFill>
          <a:ln/>
        </p:spPr>
      </p:sp>
      <p:sp>
        <p:nvSpPr>
          <p:cNvPr id="56" name="Shape 54"/>
          <p:cNvSpPr/>
          <p:nvPr/>
        </p:nvSpPr>
        <p:spPr>
          <a:xfrm>
            <a:off x="16340435" y="3829348"/>
            <a:ext cx="400050" cy="76200"/>
          </a:xfrm>
          <a:prstGeom prst="rect">
            <a:avLst/>
          </a:prstGeom>
          <a:solidFill>
            <a:srgbClr val="88D1B0"/>
          </a:solidFill>
          <a:ln/>
        </p:spPr>
      </p:sp>
      <p:sp>
        <p:nvSpPr>
          <p:cNvPr id="57" name="Text 55"/>
          <p:cNvSpPr/>
          <p:nvPr/>
        </p:nvSpPr>
        <p:spPr>
          <a:xfrm>
            <a:off x="16759535" y="3781723"/>
            <a:ext cx="499765"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$2.9M</a:t>
            </a:r>
            <a:endParaRPr lang="en-US" sz="1200" dirty="0"/>
          </a:p>
        </p:txBody>
      </p:sp>
      <p:sp>
        <p:nvSpPr>
          <p:cNvPr id="58" name="Shape 56"/>
          <p:cNvSpPr/>
          <p:nvPr/>
        </p:nvSpPr>
        <p:spPr>
          <a:xfrm>
            <a:off x="914400" y="4529435"/>
            <a:ext cx="3360986" cy="9525"/>
          </a:xfrm>
          <a:prstGeom prst="rect">
            <a:avLst/>
          </a:prstGeom>
          <a:solidFill>
            <a:srgbClr val="2A3450"/>
          </a:solidFill>
          <a:ln/>
        </p:spPr>
      </p:sp>
      <p:sp>
        <p:nvSpPr>
          <p:cNvPr id="59" name="Text 57"/>
          <p:cNvSpPr/>
          <p:nvPr/>
        </p:nvSpPr>
        <p:spPr>
          <a:xfrm>
            <a:off x="1028700" y="4224635"/>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Web Inbound</a:t>
            </a:r>
            <a:endParaRPr lang="en-US" sz="1200" dirty="0"/>
          </a:p>
        </p:txBody>
      </p:sp>
      <p:sp>
        <p:nvSpPr>
          <p:cNvPr id="60" name="Shape 58"/>
          <p:cNvSpPr/>
          <p:nvPr/>
        </p:nvSpPr>
        <p:spPr>
          <a:xfrm>
            <a:off x="4275386" y="4529435"/>
            <a:ext cx="1636663" cy="9525"/>
          </a:xfrm>
          <a:prstGeom prst="rect">
            <a:avLst/>
          </a:prstGeom>
          <a:solidFill>
            <a:srgbClr val="2A3450"/>
          </a:solidFill>
          <a:ln/>
        </p:spPr>
      </p:sp>
      <p:sp>
        <p:nvSpPr>
          <p:cNvPr id="61" name="Text 59"/>
          <p:cNvSpPr/>
          <p:nvPr/>
        </p:nvSpPr>
        <p:spPr>
          <a:xfrm>
            <a:off x="4313486" y="4224635"/>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119</a:t>
            </a:r>
            <a:endParaRPr lang="en-US" sz="1200" dirty="0"/>
          </a:p>
        </p:txBody>
      </p:sp>
      <p:sp>
        <p:nvSpPr>
          <p:cNvPr id="62" name="Shape 60"/>
          <p:cNvSpPr/>
          <p:nvPr/>
        </p:nvSpPr>
        <p:spPr>
          <a:xfrm>
            <a:off x="5912048" y="4529435"/>
            <a:ext cx="2272159" cy="9525"/>
          </a:xfrm>
          <a:prstGeom prst="rect">
            <a:avLst/>
          </a:prstGeom>
          <a:solidFill>
            <a:srgbClr val="2A3450"/>
          </a:solidFill>
          <a:ln/>
        </p:spPr>
      </p:sp>
      <p:sp>
        <p:nvSpPr>
          <p:cNvPr id="63" name="Text 61"/>
          <p:cNvSpPr/>
          <p:nvPr/>
        </p:nvSpPr>
        <p:spPr>
          <a:xfrm>
            <a:off x="5950148" y="422463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20.0%</a:t>
            </a:r>
            <a:endParaRPr lang="en-US" sz="1200" dirty="0"/>
          </a:p>
        </p:txBody>
      </p:sp>
      <p:sp>
        <p:nvSpPr>
          <p:cNvPr id="64" name="Shape 62"/>
          <p:cNvSpPr/>
          <p:nvPr/>
        </p:nvSpPr>
        <p:spPr>
          <a:xfrm>
            <a:off x="8184207" y="4529435"/>
            <a:ext cx="2272159" cy="9525"/>
          </a:xfrm>
          <a:prstGeom prst="rect">
            <a:avLst/>
          </a:prstGeom>
          <a:solidFill>
            <a:srgbClr val="2A3450"/>
          </a:solidFill>
          <a:ln/>
        </p:spPr>
      </p:sp>
      <p:sp>
        <p:nvSpPr>
          <p:cNvPr id="65" name="Text 63"/>
          <p:cNvSpPr/>
          <p:nvPr/>
        </p:nvSpPr>
        <p:spPr>
          <a:xfrm>
            <a:off x="8222307" y="422463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$9K</a:t>
            </a:r>
            <a:endParaRPr lang="en-US" sz="1200" dirty="0"/>
          </a:p>
        </p:txBody>
      </p:sp>
      <p:sp>
        <p:nvSpPr>
          <p:cNvPr id="66" name="Shape 64"/>
          <p:cNvSpPr/>
          <p:nvPr/>
        </p:nvSpPr>
        <p:spPr>
          <a:xfrm>
            <a:off x="10456366" y="4529435"/>
            <a:ext cx="6917234" cy="9525"/>
          </a:xfrm>
          <a:prstGeom prst="rect">
            <a:avLst/>
          </a:prstGeom>
          <a:solidFill>
            <a:srgbClr val="2A3450"/>
          </a:solidFill>
          <a:ln/>
        </p:spPr>
      </p:sp>
      <p:sp>
        <p:nvSpPr>
          <p:cNvPr id="67" name="Shape 65"/>
          <p:cNvSpPr/>
          <p:nvPr/>
        </p:nvSpPr>
        <p:spPr>
          <a:xfrm>
            <a:off x="16569035" y="4277023"/>
            <a:ext cx="171450" cy="76200"/>
          </a:xfrm>
          <a:prstGeom prst="rect">
            <a:avLst/>
          </a:prstGeom>
          <a:solidFill>
            <a:srgbClr val="82A6D9"/>
          </a:solidFill>
          <a:ln/>
        </p:spPr>
      </p:sp>
      <p:sp>
        <p:nvSpPr>
          <p:cNvPr id="68" name="Text 66"/>
          <p:cNvSpPr/>
          <p:nvPr/>
        </p:nvSpPr>
        <p:spPr>
          <a:xfrm>
            <a:off x="16759535" y="4229398"/>
            <a:ext cx="499765"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$1.1M</a:t>
            </a:r>
            <a:endParaRPr lang="en-US" sz="1200" dirty="0"/>
          </a:p>
        </p:txBody>
      </p:sp>
      <p:sp>
        <p:nvSpPr>
          <p:cNvPr id="69" name="Shape 67"/>
          <p:cNvSpPr/>
          <p:nvPr/>
        </p:nvSpPr>
        <p:spPr>
          <a:xfrm>
            <a:off x="914400" y="4977110"/>
            <a:ext cx="3360986" cy="9525"/>
          </a:xfrm>
          <a:prstGeom prst="rect">
            <a:avLst/>
          </a:prstGeom>
          <a:solidFill>
            <a:srgbClr val="2A3450"/>
          </a:solidFill>
          <a:ln/>
        </p:spPr>
      </p:sp>
      <p:sp>
        <p:nvSpPr>
          <p:cNvPr id="70" name="Text 68"/>
          <p:cNvSpPr/>
          <p:nvPr/>
        </p:nvSpPr>
        <p:spPr>
          <a:xfrm>
            <a:off x="1028700" y="4672310"/>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6sense Channel</a:t>
            </a:r>
            <a:endParaRPr lang="en-US" sz="1200" dirty="0"/>
          </a:p>
        </p:txBody>
      </p:sp>
      <p:sp>
        <p:nvSpPr>
          <p:cNvPr id="71" name="Shape 69"/>
          <p:cNvSpPr/>
          <p:nvPr/>
        </p:nvSpPr>
        <p:spPr>
          <a:xfrm>
            <a:off x="4275386" y="4977110"/>
            <a:ext cx="1636663" cy="9525"/>
          </a:xfrm>
          <a:prstGeom prst="rect">
            <a:avLst/>
          </a:prstGeom>
          <a:solidFill>
            <a:srgbClr val="2A3450"/>
          </a:solidFill>
          <a:ln/>
        </p:spPr>
      </p:sp>
      <p:sp>
        <p:nvSpPr>
          <p:cNvPr id="72" name="Text 70"/>
          <p:cNvSpPr/>
          <p:nvPr/>
        </p:nvSpPr>
        <p:spPr>
          <a:xfrm>
            <a:off x="4313486" y="4672310"/>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116</a:t>
            </a:r>
            <a:endParaRPr lang="en-US" sz="1200" dirty="0"/>
          </a:p>
        </p:txBody>
      </p:sp>
      <p:sp>
        <p:nvSpPr>
          <p:cNvPr id="73" name="Shape 71"/>
          <p:cNvSpPr/>
          <p:nvPr/>
        </p:nvSpPr>
        <p:spPr>
          <a:xfrm>
            <a:off x="5912048" y="4977110"/>
            <a:ext cx="2272159" cy="9525"/>
          </a:xfrm>
          <a:prstGeom prst="rect">
            <a:avLst/>
          </a:prstGeom>
          <a:solidFill>
            <a:srgbClr val="2A3450"/>
          </a:solidFill>
          <a:ln/>
        </p:spPr>
      </p:sp>
      <p:sp>
        <p:nvSpPr>
          <p:cNvPr id="74" name="Text 72"/>
          <p:cNvSpPr/>
          <p:nvPr/>
        </p:nvSpPr>
        <p:spPr>
          <a:xfrm>
            <a:off x="5950148" y="467231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12.0%</a:t>
            </a:r>
            <a:endParaRPr lang="en-US" sz="1200" dirty="0"/>
          </a:p>
        </p:txBody>
      </p:sp>
      <p:sp>
        <p:nvSpPr>
          <p:cNvPr id="75" name="Shape 73"/>
          <p:cNvSpPr/>
          <p:nvPr/>
        </p:nvSpPr>
        <p:spPr>
          <a:xfrm>
            <a:off x="8184207" y="4977110"/>
            <a:ext cx="2272159" cy="9525"/>
          </a:xfrm>
          <a:prstGeom prst="rect">
            <a:avLst/>
          </a:prstGeom>
          <a:solidFill>
            <a:srgbClr val="2A3450"/>
          </a:solidFill>
          <a:ln/>
        </p:spPr>
      </p:sp>
      <p:sp>
        <p:nvSpPr>
          <p:cNvPr id="76" name="Text 74"/>
          <p:cNvSpPr/>
          <p:nvPr/>
        </p:nvSpPr>
        <p:spPr>
          <a:xfrm>
            <a:off x="8222307" y="467231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$13K</a:t>
            </a:r>
            <a:endParaRPr lang="en-US" sz="1200" dirty="0"/>
          </a:p>
        </p:txBody>
      </p:sp>
      <p:sp>
        <p:nvSpPr>
          <p:cNvPr id="77" name="Shape 75"/>
          <p:cNvSpPr/>
          <p:nvPr/>
        </p:nvSpPr>
        <p:spPr>
          <a:xfrm>
            <a:off x="10456366" y="4977110"/>
            <a:ext cx="6917234" cy="9525"/>
          </a:xfrm>
          <a:prstGeom prst="rect">
            <a:avLst/>
          </a:prstGeom>
          <a:solidFill>
            <a:srgbClr val="2A3450"/>
          </a:solidFill>
          <a:ln/>
        </p:spPr>
      </p:sp>
      <p:sp>
        <p:nvSpPr>
          <p:cNvPr id="78" name="Shape 76"/>
          <p:cNvSpPr/>
          <p:nvPr/>
        </p:nvSpPr>
        <p:spPr>
          <a:xfrm>
            <a:off x="16530935" y="4724698"/>
            <a:ext cx="209550" cy="76200"/>
          </a:xfrm>
          <a:prstGeom prst="rect">
            <a:avLst/>
          </a:prstGeom>
          <a:solidFill>
            <a:srgbClr val="82A6D9"/>
          </a:solidFill>
          <a:ln/>
        </p:spPr>
      </p:sp>
      <p:sp>
        <p:nvSpPr>
          <p:cNvPr id="79" name="Text 77"/>
          <p:cNvSpPr/>
          <p:nvPr/>
        </p:nvSpPr>
        <p:spPr>
          <a:xfrm>
            <a:off x="16759535" y="4677073"/>
            <a:ext cx="499765"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$1.5M</a:t>
            </a:r>
            <a:endParaRPr lang="en-US" sz="1200" dirty="0"/>
          </a:p>
        </p:txBody>
      </p:sp>
      <p:sp>
        <p:nvSpPr>
          <p:cNvPr id="80" name="Shape 78"/>
          <p:cNvSpPr/>
          <p:nvPr/>
        </p:nvSpPr>
        <p:spPr>
          <a:xfrm>
            <a:off x="914400" y="4986635"/>
            <a:ext cx="3360986" cy="447675"/>
          </a:xfrm>
          <a:prstGeom prst="rect">
            <a:avLst/>
          </a:prstGeom>
          <a:solidFill>
            <a:srgbClr val="111729"/>
          </a:solidFill>
          <a:ln/>
        </p:spPr>
      </p:sp>
      <p:sp>
        <p:nvSpPr>
          <p:cNvPr id="81" name="Shape 79"/>
          <p:cNvSpPr/>
          <p:nvPr/>
        </p:nvSpPr>
        <p:spPr>
          <a:xfrm>
            <a:off x="914400" y="5424785"/>
            <a:ext cx="3360986" cy="9525"/>
          </a:xfrm>
          <a:prstGeom prst="rect">
            <a:avLst/>
          </a:prstGeom>
          <a:solidFill>
            <a:srgbClr val="2A3450"/>
          </a:solidFill>
          <a:ln/>
        </p:spPr>
      </p:sp>
      <p:sp>
        <p:nvSpPr>
          <p:cNvPr id="82" name="Text 80"/>
          <p:cNvSpPr/>
          <p:nvPr/>
        </p:nvSpPr>
        <p:spPr>
          <a:xfrm>
            <a:off x="1028700" y="5119985"/>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Email MQA</a:t>
            </a:r>
            <a:endParaRPr lang="en-US" sz="1200" dirty="0"/>
          </a:p>
        </p:txBody>
      </p:sp>
      <p:sp>
        <p:nvSpPr>
          <p:cNvPr id="83" name="Shape 81"/>
          <p:cNvSpPr/>
          <p:nvPr/>
        </p:nvSpPr>
        <p:spPr>
          <a:xfrm>
            <a:off x="4275386" y="4986635"/>
            <a:ext cx="1636663" cy="447675"/>
          </a:xfrm>
          <a:prstGeom prst="rect">
            <a:avLst/>
          </a:prstGeom>
          <a:solidFill>
            <a:srgbClr val="111729"/>
          </a:solidFill>
          <a:ln/>
        </p:spPr>
      </p:sp>
      <p:sp>
        <p:nvSpPr>
          <p:cNvPr id="84" name="Shape 82"/>
          <p:cNvSpPr/>
          <p:nvPr/>
        </p:nvSpPr>
        <p:spPr>
          <a:xfrm>
            <a:off x="4275386" y="5424785"/>
            <a:ext cx="1636663" cy="9525"/>
          </a:xfrm>
          <a:prstGeom prst="rect">
            <a:avLst/>
          </a:prstGeom>
          <a:solidFill>
            <a:srgbClr val="2A3450"/>
          </a:solidFill>
          <a:ln/>
        </p:spPr>
      </p:sp>
      <p:sp>
        <p:nvSpPr>
          <p:cNvPr id="85" name="Text 83"/>
          <p:cNvSpPr/>
          <p:nvPr/>
        </p:nvSpPr>
        <p:spPr>
          <a:xfrm>
            <a:off x="4313486" y="5119985"/>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92</a:t>
            </a:r>
            <a:endParaRPr lang="en-US" sz="1200" dirty="0"/>
          </a:p>
        </p:txBody>
      </p:sp>
      <p:sp>
        <p:nvSpPr>
          <p:cNvPr id="86" name="Shape 84"/>
          <p:cNvSpPr/>
          <p:nvPr/>
        </p:nvSpPr>
        <p:spPr>
          <a:xfrm>
            <a:off x="5912048" y="4986635"/>
            <a:ext cx="2272159" cy="447675"/>
          </a:xfrm>
          <a:prstGeom prst="rect">
            <a:avLst/>
          </a:prstGeom>
          <a:solidFill>
            <a:srgbClr val="111729"/>
          </a:solidFill>
          <a:ln/>
        </p:spPr>
      </p:sp>
      <p:sp>
        <p:nvSpPr>
          <p:cNvPr id="87" name="Shape 85"/>
          <p:cNvSpPr/>
          <p:nvPr/>
        </p:nvSpPr>
        <p:spPr>
          <a:xfrm>
            <a:off x="5912048" y="5424785"/>
            <a:ext cx="2272159" cy="9525"/>
          </a:xfrm>
          <a:prstGeom prst="rect">
            <a:avLst/>
          </a:prstGeom>
          <a:solidFill>
            <a:srgbClr val="2A3450"/>
          </a:solidFill>
          <a:ln/>
        </p:spPr>
      </p:sp>
      <p:sp>
        <p:nvSpPr>
          <p:cNvPr id="88" name="Text 86"/>
          <p:cNvSpPr/>
          <p:nvPr/>
        </p:nvSpPr>
        <p:spPr>
          <a:xfrm>
            <a:off x="5950148" y="511998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68FA8"/>
                </a:solidFill>
                <a:latin typeface="Arial" pitchFamily="34" charset="0"/>
                <a:ea typeface="Arial" pitchFamily="34" charset="-122"/>
                <a:cs typeface="Arial" pitchFamily="34" charset="-120"/>
              </a:rPr>
              <a:t>0.0%</a:t>
            </a:r>
            <a:endParaRPr lang="en-US" sz="1200" dirty="0"/>
          </a:p>
        </p:txBody>
      </p:sp>
      <p:sp>
        <p:nvSpPr>
          <p:cNvPr id="89" name="Shape 87"/>
          <p:cNvSpPr/>
          <p:nvPr/>
        </p:nvSpPr>
        <p:spPr>
          <a:xfrm>
            <a:off x="8184207" y="4986635"/>
            <a:ext cx="2272159" cy="447675"/>
          </a:xfrm>
          <a:prstGeom prst="rect">
            <a:avLst/>
          </a:prstGeom>
          <a:solidFill>
            <a:srgbClr val="111729"/>
          </a:solidFill>
          <a:ln/>
        </p:spPr>
      </p:sp>
      <p:sp>
        <p:nvSpPr>
          <p:cNvPr id="90" name="Shape 88"/>
          <p:cNvSpPr/>
          <p:nvPr/>
        </p:nvSpPr>
        <p:spPr>
          <a:xfrm>
            <a:off x="8184207" y="5424785"/>
            <a:ext cx="2272159" cy="9525"/>
          </a:xfrm>
          <a:prstGeom prst="rect">
            <a:avLst/>
          </a:prstGeom>
          <a:solidFill>
            <a:srgbClr val="2A3450"/>
          </a:solidFill>
          <a:ln/>
        </p:spPr>
      </p:sp>
      <p:sp>
        <p:nvSpPr>
          <p:cNvPr id="91" name="Text 89"/>
          <p:cNvSpPr/>
          <p:nvPr/>
        </p:nvSpPr>
        <p:spPr>
          <a:xfrm>
            <a:off x="8222307" y="511998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$992</a:t>
            </a:r>
            <a:endParaRPr lang="en-US" sz="1200" dirty="0"/>
          </a:p>
        </p:txBody>
      </p:sp>
      <p:sp>
        <p:nvSpPr>
          <p:cNvPr id="92" name="Shape 90"/>
          <p:cNvSpPr/>
          <p:nvPr/>
        </p:nvSpPr>
        <p:spPr>
          <a:xfrm>
            <a:off x="10456366" y="4986635"/>
            <a:ext cx="6917234" cy="447675"/>
          </a:xfrm>
          <a:prstGeom prst="rect">
            <a:avLst/>
          </a:prstGeom>
          <a:solidFill>
            <a:srgbClr val="111729"/>
          </a:solidFill>
          <a:ln/>
        </p:spPr>
      </p:sp>
      <p:sp>
        <p:nvSpPr>
          <p:cNvPr id="93" name="Shape 91"/>
          <p:cNvSpPr/>
          <p:nvPr/>
        </p:nvSpPr>
        <p:spPr>
          <a:xfrm>
            <a:off x="10456366" y="5424785"/>
            <a:ext cx="6917234" cy="9525"/>
          </a:xfrm>
          <a:prstGeom prst="rect">
            <a:avLst/>
          </a:prstGeom>
          <a:solidFill>
            <a:srgbClr val="2A3450"/>
          </a:solidFill>
          <a:ln/>
        </p:spPr>
      </p:sp>
      <p:sp>
        <p:nvSpPr>
          <p:cNvPr id="94" name="Shape 92"/>
          <p:cNvSpPr/>
          <p:nvPr/>
        </p:nvSpPr>
        <p:spPr>
          <a:xfrm>
            <a:off x="16664285" y="5172373"/>
            <a:ext cx="76200" cy="76200"/>
          </a:xfrm>
          <a:prstGeom prst="rect">
            <a:avLst/>
          </a:prstGeom>
          <a:solidFill>
            <a:srgbClr val="E68FA8"/>
          </a:solidFill>
          <a:ln/>
        </p:spPr>
      </p:sp>
      <p:sp>
        <p:nvSpPr>
          <p:cNvPr id="95" name="Text 93"/>
          <p:cNvSpPr/>
          <p:nvPr/>
        </p:nvSpPr>
        <p:spPr>
          <a:xfrm>
            <a:off x="16759535" y="5124748"/>
            <a:ext cx="499765"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$0.1M</a:t>
            </a:r>
            <a:endParaRPr lang="en-US" sz="1200" dirty="0"/>
          </a:p>
        </p:txBody>
      </p:sp>
      <p:sp>
        <p:nvSpPr>
          <p:cNvPr id="96" name="Shape 94"/>
          <p:cNvSpPr/>
          <p:nvPr/>
        </p:nvSpPr>
        <p:spPr>
          <a:xfrm>
            <a:off x="914400" y="5872460"/>
            <a:ext cx="3360986" cy="9525"/>
          </a:xfrm>
          <a:prstGeom prst="rect">
            <a:avLst/>
          </a:prstGeom>
          <a:solidFill>
            <a:srgbClr val="2A3450"/>
          </a:solidFill>
          <a:ln/>
        </p:spPr>
      </p:sp>
      <p:sp>
        <p:nvSpPr>
          <p:cNvPr id="97" name="Text 95"/>
          <p:cNvSpPr/>
          <p:nvPr/>
        </p:nvSpPr>
        <p:spPr>
          <a:xfrm>
            <a:off x="1028700" y="5567660"/>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6sense Display</a:t>
            </a:r>
            <a:endParaRPr lang="en-US" sz="1200" dirty="0"/>
          </a:p>
        </p:txBody>
      </p:sp>
      <p:sp>
        <p:nvSpPr>
          <p:cNvPr id="98" name="Shape 96"/>
          <p:cNvSpPr/>
          <p:nvPr/>
        </p:nvSpPr>
        <p:spPr>
          <a:xfrm>
            <a:off x="4275386" y="5872460"/>
            <a:ext cx="1636663" cy="9525"/>
          </a:xfrm>
          <a:prstGeom prst="rect">
            <a:avLst/>
          </a:prstGeom>
          <a:solidFill>
            <a:srgbClr val="2A3450"/>
          </a:solidFill>
          <a:ln/>
        </p:spPr>
      </p:sp>
      <p:sp>
        <p:nvSpPr>
          <p:cNvPr id="99" name="Text 97"/>
          <p:cNvSpPr/>
          <p:nvPr/>
        </p:nvSpPr>
        <p:spPr>
          <a:xfrm>
            <a:off x="4313486" y="5567660"/>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90</a:t>
            </a:r>
            <a:endParaRPr lang="en-US" sz="1200" dirty="0"/>
          </a:p>
        </p:txBody>
      </p:sp>
      <p:sp>
        <p:nvSpPr>
          <p:cNvPr id="100" name="Shape 98"/>
          <p:cNvSpPr/>
          <p:nvPr/>
        </p:nvSpPr>
        <p:spPr>
          <a:xfrm>
            <a:off x="5912048" y="5872460"/>
            <a:ext cx="2272159" cy="9525"/>
          </a:xfrm>
          <a:prstGeom prst="rect">
            <a:avLst/>
          </a:prstGeom>
          <a:solidFill>
            <a:srgbClr val="2A3450"/>
          </a:solidFill>
          <a:ln/>
        </p:spPr>
      </p:sp>
      <p:sp>
        <p:nvSpPr>
          <p:cNvPr id="101" name="Text 99"/>
          <p:cNvSpPr/>
          <p:nvPr/>
        </p:nvSpPr>
        <p:spPr>
          <a:xfrm>
            <a:off x="5950148" y="556766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68FA8"/>
                </a:solidFill>
                <a:latin typeface="Arial" pitchFamily="34" charset="0"/>
                <a:ea typeface="Arial" pitchFamily="34" charset="-122"/>
                <a:cs typeface="Arial" pitchFamily="34" charset="-120"/>
              </a:rPr>
              <a:t>1.0%</a:t>
            </a:r>
            <a:endParaRPr lang="en-US" sz="1200" dirty="0"/>
          </a:p>
        </p:txBody>
      </p:sp>
      <p:sp>
        <p:nvSpPr>
          <p:cNvPr id="102" name="Shape 100"/>
          <p:cNvSpPr/>
          <p:nvPr/>
        </p:nvSpPr>
        <p:spPr>
          <a:xfrm>
            <a:off x="8184207" y="5872460"/>
            <a:ext cx="2272159" cy="9525"/>
          </a:xfrm>
          <a:prstGeom prst="rect">
            <a:avLst/>
          </a:prstGeom>
          <a:solidFill>
            <a:srgbClr val="2A3450"/>
          </a:solidFill>
          <a:ln/>
        </p:spPr>
      </p:sp>
      <p:sp>
        <p:nvSpPr>
          <p:cNvPr id="103" name="Text 101"/>
          <p:cNvSpPr/>
          <p:nvPr/>
        </p:nvSpPr>
        <p:spPr>
          <a:xfrm>
            <a:off x="8222307" y="556766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$989</a:t>
            </a:r>
            <a:endParaRPr lang="en-US" sz="1200" dirty="0"/>
          </a:p>
        </p:txBody>
      </p:sp>
      <p:sp>
        <p:nvSpPr>
          <p:cNvPr id="104" name="Shape 102"/>
          <p:cNvSpPr/>
          <p:nvPr/>
        </p:nvSpPr>
        <p:spPr>
          <a:xfrm>
            <a:off x="10456366" y="5872460"/>
            <a:ext cx="6917234" cy="9525"/>
          </a:xfrm>
          <a:prstGeom prst="rect">
            <a:avLst/>
          </a:prstGeom>
          <a:solidFill>
            <a:srgbClr val="2A3450"/>
          </a:solidFill>
          <a:ln/>
        </p:spPr>
      </p:sp>
      <p:sp>
        <p:nvSpPr>
          <p:cNvPr id="105" name="Shape 103"/>
          <p:cNvSpPr/>
          <p:nvPr/>
        </p:nvSpPr>
        <p:spPr>
          <a:xfrm>
            <a:off x="16664285" y="5620048"/>
            <a:ext cx="76200" cy="76200"/>
          </a:xfrm>
          <a:prstGeom prst="rect">
            <a:avLst/>
          </a:prstGeom>
          <a:solidFill>
            <a:srgbClr val="E68FA8"/>
          </a:solidFill>
          <a:ln/>
        </p:spPr>
      </p:sp>
      <p:sp>
        <p:nvSpPr>
          <p:cNvPr id="106" name="Text 104"/>
          <p:cNvSpPr/>
          <p:nvPr/>
        </p:nvSpPr>
        <p:spPr>
          <a:xfrm>
            <a:off x="16759535" y="5572423"/>
            <a:ext cx="499765"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$0.1M</a:t>
            </a:r>
            <a:endParaRPr lang="en-US" sz="1200" dirty="0"/>
          </a:p>
        </p:txBody>
      </p:sp>
      <p:sp>
        <p:nvSpPr>
          <p:cNvPr id="107" name="Shape 105"/>
          <p:cNvSpPr/>
          <p:nvPr/>
        </p:nvSpPr>
        <p:spPr>
          <a:xfrm>
            <a:off x="914400" y="6320135"/>
            <a:ext cx="3360986" cy="9525"/>
          </a:xfrm>
          <a:prstGeom prst="rect">
            <a:avLst/>
          </a:prstGeom>
          <a:solidFill>
            <a:srgbClr val="2A3450"/>
          </a:solidFill>
          <a:ln/>
        </p:spPr>
      </p:sp>
      <p:sp>
        <p:nvSpPr>
          <p:cNvPr id="108" name="Text 106"/>
          <p:cNvSpPr/>
          <p:nvPr/>
        </p:nvSpPr>
        <p:spPr>
          <a:xfrm>
            <a:off x="1028700" y="6015335"/>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Event</a:t>
            </a:r>
            <a:endParaRPr lang="en-US" sz="1200" dirty="0"/>
          </a:p>
        </p:txBody>
      </p:sp>
      <p:sp>
        <p:nvSpPr>
          <p:cNvPr id="109" name="Shape 107"/>
          <p:cNvSpPr/>
          <p:nvPr/>
        </p:nvSpPr>
        <p:spPr>
          <a:xfrm>
            <a:off x="4275386" y="6320135"/>
            <a:ext cx="1636663" cy="9525"/>
          </a:xfrm>
          <a:prstGeom prst="rect">
            <a:avLst/>
          </a:prstGeom>
          <a:solidFill>
            <a:srgbClr val="2A3450"/>
          </a:solidFill>
          <a:ln/>
        </p:spPr>
      </p:sp>
      <p:sp>
        <p:nvSpPr>
          <p:cNvPr id="110" name="Text 108"/>
          <p:cNvSpPr/>
          <p:nvPr/>
        </p:nvSpPr>
        <p:spPr>
          <a:xfrm>
            <a:off x="4313486" y="6015335"/>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44</a:t>
            </a:r>
            <a:endParaRPr lang="en-US" sz="1200" dirty="0"/>
          </a:p>
        </p:txBody>
      </p:sp>
      <p:sp>
        <p:nvSpPr>
          <p:cNvPr id="111" name="Shape 109"/>
          <p:cNvSpPr/>
          <p:nvPr/>
        </p:nvSpPr>
        <p:spPr>
          <a:xfrm>
            <a:off x="5912048" y="6320135"/>
            <a:ext cx="2272159" cy="9525"/>
          </a:xfrm>
          <a:prstGeom prst="rect">
            <a:avLst/>
          </a:prstGeom>
          <a:solidFill>
            <a:srgbClr val="2A3450"/>
          </a:solidFill>
          <a:ln/>
        </p:spPr>
      </p:sp>
      <p:sp>
        <p:nvSpPr>
          <p:cNvPr id="112" name="Text 110"/>
          <p:cNvSpPr/>
          <p:nvPr/>
        </p:nvSpPr>
        <p:spPr>
          <a:xfrm>
            <a:off x="5950148" y="601533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11.0%</a:t>
            </a:r>
            <a:endParaRPr lang="en-US" sz="1200" dirty="0"/>
          </a:p>
        </p:txBody>
      </p:sp>
      <p:sp>
        <p:nvSpPr>
          <p:cNvPr id="113" name="Shape 111"/>
          <p:cNvSpPr/>
          <p:nvPr/>
        </p:nvSpPr>
        <p:spPr>
          <a:xfrm>
            <a:off x="8184207" y="6320135"/>
            <a:ext cx="2272159" cy="9525"/>
          </a:xfrm>
          <a:prstGeom prst="rect">
            <a:avLst/>
          </a:prstGeom>
          <a:solidFill>
            <a:srgbClr val="2A3450"/>
          </a:solidFill>
          <a:ln/>
        </p:spPr>
      </p:sp>
      <p:sp>
        <p:nvSpPr>
          <p:cNvPr id="114" name="Text 112"/>
          <p:cNvSpPr/>
          <p:nvPr/>
        </p:nvSpPr>
        <p:spPr>
          <a:xfrm>
            <a:off x="8222307" y="601533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$15K</a:t>
            </a:r>
            <a:endParaRPr lang="en-US" sz="1200" dirty="0"/>
          </a:p>
        </p:txBody>
      </p:sp>
      <p:sp>
        <p:nvSpPr>
          <p:cNvPr id="115" name="Shape 113"/>
          <p:cNvSpPr/>
          <p:nvPr/>
        </p:nvSpPr>
        <p:spPr>
          <a:xfrm>
            <a:off x="10456366" y="6320135"/>
            <a:ext cx="6917234" cy="9525"/>
          </a:xfrm>
          <a:prstGeom prst="rect">
            <a:avLst/>
          </a:prstGeom>
          <a:solidFill>
            <a:srgbClr val="2A3450"/>
          </a:solidFill>
          <a:ln/>
        </p:spPr>
      </p:sp>
      <p:sp>
        <p:nvSpPr>
          <p:cNvPr id="116" name="Shape 114"/>
          <p:cNvSpPr/>
          <p:nvPr/>
        </p:nvSpPr>
        <p:spPr>
          <a:xfrm>
            <a:off x="16645235" y="6067723"/>
            <a:ext cx="95250" cy="76200"/>
          </a:xfrm>
          <a:prstGeom prst="rect">
            <a:avLst/>
          </a:prstGeom>
          <a:solidFill>
            <a:srgbClr val="82A6D9"/>
          </a:solidFill>
          <a:ln/>
        </p:spPr>
      </p:sp>
      <p:sp>
        <p:nvSpPr>
          <p:cNvPr id="117" name="Text 115"/>
          <p:cNvSpPr/>
          <p:nvPr/>
        </p:nvSpPr>
        <p:spPr>
          <a:xfrm>
            <a:off x="16759535" y="6020098"/>
            <a:ext cx="499765"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$0.7M</a:t>
            </a:r>
            <a:endParaRPr lang="en-US" sz="1200" dirty="0"/>
          </a:p>
        </p:txBody>
      </p:sp>
      <p:sp>
        <p:nvSpPr>
          <p:cNvPr id="118" name="Shape 116"/>
          <p:cNvSpPr/>
          <p:nvPr/>
        </p:nvSpPr>
        <p:spPr>
          <a:xfrm>
            <a:off x="914400" y="6767810"/>
            <a:ext cx="3360986" cy="9525"/>
          </a:xfrm>
          <a:prstGeom prst="rect">
            <a:avLst/>
          </a:prstGeom>
          <a:solidFill>
            <a:srgbClr val="2A3450"/>
          </a:solidFill>
          <a:ln/>
        </p:spPr>
      </p:sp>
      <p:sp>
        <p:nvSpPr>
          <p:cNvPr id="119" name="Text 117"/>
          <p:cNvSpPr/>
          <p:nvPr/>
        </p:nvSpPr>
        <p:spPr>
          <a:xfrm>
            <a:off x="1028700" y="6463010"/>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6sense Event</a:t>
            </a:r>
            <a:endParaRPr lang="en-US" sz="1200" dirty="0"/>
          </a:p>
        </p:txBody>
      </p:sp>
      <p:sp>
        <p:nvSpPr>
          <p:cNvPr id="120" name="Shape 118"/>
          <p:cNvSpPr/>
          <p:nvPr/>
        </p:nvSpPr>
        <p:spPr>
          <a:xfrm>
            <a:off x="4275386" y="6767810"/>
            <a:ext cx="1636663" cy="9525"/>
          </a:xfrm>
          <a:prstGeom prst="rect">
            <a:avLst/>
          </a:prstGeom>
          <a:solidFill>
            <a:srgbClr val="2A3450"/>
          </a:solidFill>
          <a:ln/>
        </p:spPr>
      </p:sp>
      <p:sp>
        <p:nvSpPr>
          <p:cNvPr id="121" name="Text 119"/>
          <p:cNvSpPr/>
          <p:nvPr/>
        </p:nvSpPr>
        <p:spPr>
          <a:xfrm>
            <a:off x="4313486" y="6463010"/>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41</a:t>
            </a:r>
            <a:endParaRPr lang="en-US" sz="1200" dirty="0"/>
          </a:p>
        </p:txBody>
      </p:sp>
      <p:sp>
        <p:nvSpPr>
          <p:cNvPr id="122" name="Shape 120"/>
          <p:cNvSpPr/>
          <p:nvPr/>
        </p:nvSpPr>
        <p:spPr>
          <a:xfrm>
            <a:off x="5912048" y="6767810"/>
            <a:ext cx="2272159" cy="9525"/>
          </a:xfrm>
          <a:prstGeom prst="rect">
            <a:avLst/>
          </a:prstGeom>
          <a:solidFill>
            <a:srgbClr val="2A3450"/>
          </a:solidFill>
          <a:ln/>
        </p:spPr>
      </p:sp>
      <p:sp>
        <p:nvSpPr>
          <p:cNvPr id="123" name="Text 121"/>
          <p:cNvSpPr/>
          <p:nvPr/>
        </p:nvSpPr>
        <p:spPr>
          <a:xfrm>
            <a:off x="5950148" y="646301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12.0%</a:t>
            </a:r>
            <a:endParaRPr lang="en-US" sz="1200" dirty="0"/>
          </a:p>
        </p:txBody>
      </p:sp>
      <p:sp>
        <p:nvSpPr>
          <p:cNvPr id="124" name="Shape 122"/>
          <p:cNvSpPr/>
          <p:nvPr/>
        </p:nvSpPr>
        <p:spPr>
          <a:xfrm>
            <a:off x="8184207" y="6767810"/>
            <a:ext cx="2272159" cy="9525"/>
          </a:xfrm>
          <a:prstGeom prst="rect">
            <a:avLst/>
          </a:prstGeom>
          <a:solidFill>
            <a:srgbClr val="2A3450"/>
          </a:solidFill>
          <a:ln/>
        </p:spPr>
      </p:sp>
      <p:sp>
        <p:nvSpPr>
          <p:cNvPr id="125" name="Text 123"/>
          <p:cNvSpPr/>
          <p:nvPr/>
        </p:nvSpPr>
        <p:spPr>
          <a:xfrm>
            <a:off x="8222307" y="6463010"/>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$15K</a:t>
            </a:r>
            <a:endParaRPr lang="en-US" sz="1200" dirty="0"/>
          </a:p>
        </p:txBody>
      </p:sp>
      <p:sp>
        <p:nvSpPr>
          <p:cNvPr id="126" name="Shape 124"/>
          <p:cNvSpPr/>
          <p:nvPr/>
        </p:nvSpPr>
        <p:spPr>
          <a:xfrm>
            <a:off x="10456366" y="6767810"/>
            <a:ext cx="6917234" cy="9525"/>
          </a:xfrm>
          <a:prstGeom prst="rect">
            <a:avLst/>
          </a:prstGeom>
          <a:solidFill>
            <a:srgbClr val="2A3450"/>
          </a:solidFill>
          <a:ln/>
        </p:spPr>
      </p:sp>
      <p:sp>
        <p:nvSpPr>
          <p:cNvPr id="127" name="Shape 125"/>
          <p:cNvSpPr/>
          <p:nvPr/>
        </p:nvSpPr>
        <p:spPr>
          <a:xfrm>
            <a:off x="16654760" y="6515398"/>
            <a:ext cx="85725" cy="76200"/>
          </a:xfrm>
          <a:prstGeom prst="rect">
            <a:avLst/>
          </a:prstGeom>
          <a:solidFill>
            <a:srgbClr val="82A6D9"/>
          </a:solidFill>
          <a:ln/>
        </p:spPr>
      </p:sp>
      <p:sp>
        <p:nvSpPr>
          <p:cNvPr id="128" name="Text 126"/>
          <p:cNvSpPr/>
          <p:nvPr/>
        </p:nvSpPr>
        <p:spPr>
          <a:xfrm>
            <a:off x="16759535" y="6467773"/>
            <a:ext cx="499765"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$0.6M</a:t>
            </a:r>
            <a:endParaRPr lang="en-US" sz="1200" dirty="0"/>
          </a:p>
        </p:txBody>
      </p:sp>
      <p:sp>
        <p:nvSpPr>
          <p:cNvPr id="129" name="Shape 127"/>
          <p:cNvSpPr/>
          <p:nvPr/>
        </p:nvSpPr>
        <p:spPr>
          <a:xfrm>
            <a:off x="914400" y="7215485"/>
            <a:ext cx="3360986" cy="9525"/>
          </a:xfrm>
          <a:prstGeom prst="rect">
            <a:avLst/>
          </a:prstGeom>
          <a:solidFill>
            <a:srgbClr val="2A3450"/>
          </a:solidFill>
          <a:ln/>
        </p:spPr>
      </p:sp>
      <p:sp>
        <p:nvSpPr>
          <p:cNvPr id="130" name="Text 128"/>
          <p:cNvSpPr/>
          <p:nvPr/>
        </p:nvSpPr>
        <p:spPr>
          <a:xfrm>
            <a:off x="1028700" y="6910685"/>
            <a:ext cx="3233215"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Webinar</a:t>
            </a:r>
            <a:endParaRPr lang="en-US" sz="1200" dirty="0"/>
          </a:p>
        </p:txBody>
      </p:sp>
      <p:sp>
        <p:nvSpPr>
          <p:cNvPr id="131" name="Shape 129"/>
          <p:cNvSpPr/>
          <p:nvPr/>
        </p:nvSpPr>
        <p:spPr>
          <a:xfrm>
            <a:off x="4275386" y="7215485"/>
            <a:ext cx="1636663" cy="9525"/>
          </a:xfrm>
          <a:prstGeom prst="rect">
            <a:avLst/>
          </a:prstGeom>
          <a:solidFill>
            <a:srgbClr val="2A3450"/>
          </a:solidFill>
          <a:ln/>
        </p:spPr>
      </p:sp>
      <p:sp>
        <p:nvSpPr>
          <p:cNvPr id="132" name="Text 130"/>
          <p:cNvSpPr/>
          <p:nvPr/>
        </p:nvSpPr>
        <p:spPr>
          <a:xfrm>
            <a:off x="4313486" y="6910685"/>
            <a:ext cx="1484263"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7</a:t>
            </a:r>
            <a:endParaRPr lang="en-US" sz="1200" dirty="0"/>
          </a:p>
        </p:txBody>
      </p:sp>
      <p:sp>
        <p:nvSpPr>
          <p:cNvPr id="133" name="Shape 131"/>
          <p:cNvSpPr/>
          <p:nvPr/>
        </p:nvSpPr>
        <p:spPr>
          <a:xfrm>
            <a:off x="5912048" y="7215485"/>
            <a:ext cx="2272159" cy="9525"/>
          </a:xfrm>
          <a:prstGeom prst="rect">
            <a:avLst/>
          </a:prstGeom>
          <a:solidFill>
            <a:srgbClr val="2A3450"/>
          </a:solidFill>
          <a:ln/>
        </p:spPr>
      </p:sp>
      <p:sp>
        <p:nvSpPr>
          <p:cNvPr id="134" name="Text 132"/>
          <p:cNvSpPr/>
          <p:nvPr/>
        </p:nvSpPr>
        <p:spPr>
          <a:xfrm>
            <a:off x="5950148" y="691068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88D1B0"/>
                </a:solidFill>
                <a:latin typeface="Arial" pitchFamily="34" charset="0"/>
                <a:ea typeface="Arial" pitchFamily="34" charset="-122"/>
                <a:cs typeface="Arial" pitchFamily="34" charset="-120"/>
              </a:rPr>
              <a:t>29.0%</a:t>
            </a:r>
            <a:endParaRPr lang="en-US" sz="1200" dirty="0"/>
          </a:p>
        </p:txBody>
      </p:sp>
      <p:sp>
        <p:nvSpPr>
          <p:cNvPr id="135" name="Shape 133"/>
          <p:cNvSpPr/>
          <p:nvPr/>
        </p:nvSpPr>
        <p:spPr>
          <a:xfrm>
            <a:off x="8184207" y="7215485"/>
            <a:ext cx="2272159" cy="9525"/>
          </a:xfrm>
          <a:prstGeom prst="rect">
            <a:avLst/>
          </a:prstGeom>
          <a:solidFill>
            <a:srgbClr val="2A3450"/>
          </a:solidFill>
          <a:ln/>
        </p:spPr>
      </p:sp>
      <p:sp>
        <p:nvSpPr>
          <p:cNvPr id="136" name="Text 134"/>
          <p:cNvSpPr/>
          <p:nvPr/>
        </p:nvSpPr>
        <p:spPr>
          <a:xfrm>
            <a:off x="8222307" y="6910685"/>
            <a:ext cx="2119759"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$6K</a:t>
            </a:r>
            <a:endParaRPr lang="en-US" sz="1200" dirty="0"/>
          </a:p>
        </p:txBody>
      </p:sp>
      <p:sp>
        <p:nvSpPr>
          <p:cNvPr id="137" name="Shape 135"/>
          <p:cNvSpPr/>
          <p:nvPr/>
        </p:nvSpPr>
        <p:spPr>
          <a:xfrm>
            <a:off x="10456366" y="7215485"/>
            <a:ext cx="6917234" cy="9525"/>
          </a:xfrm>
          <a:prstGeom prst="rect">
            <a:avLst/>
          </a:prstGeom>
          <a:solidFill>
            <a:srgbClr val="2A3450"/>
          </a:solidFill>
          <a:ln/>
        </p:spPr>
      </p:sp>
      <p:sp>
        <p:nvSpPr>
          <p:cNvPr id="138" name="Shape 136"/>
          <p:cNvSpPr/>
          <p:nvPr/>
        </p:nvSpPr>
        <p:spPr>
          <a:xfrm>
            <a:off x="16646128" y="6963073"/>
            <a:ext cx="9525" cy="76200"/>
          </a:xfrm>
          <a:prstGeom prst="rect">
            <a:avLst/>
          </a:prstGeom>
          <a:solidFill>
            <a:srgbClr val="88D1B0"/>
          </a:solidFill>
          <a:ln/>
        </p:spPr>
      </p:sp>
      <p:sp>
        <p:nvSpPr>
          <p:cNvPr id="139" name="Text 137"/>
          <p:cNvSpPr/>
          <p:nvPr/>
        </p:nvSpPr>
        <p:spPr>
          <a:xfrm>
            <a:off x="16674703" y="6915448"/>
            <a:ext cx="584597" cy="209550"/>
          </a:xfrm>
          <a:prstGeom prst="rect">
            <a:avLst/>
          </a:prstGeom>
          <a:noFill/>
          <a:ln/>
        </p:spPr>
        <p:txBody>
          <a:bodyPr wrap="square" lIns="25400" tIns="25400" rIns="25400" bIns="25400" rtlCol="0" anchor="t">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$0.04M</a:t>
            </a:r>
            <a:endParaRPr lang="en-US" sz="1200" dirty="0"/>
          </a:p>
        </p:txBody>
      </p:sp>
      <p:sp>
        <p:nvSpPr>
          <p:cNvPr id="140" name="Shape 138"/>
          <p:cNvSpPr/>
          <p:nvPr/>
        </p:nvSpPr>
        <p:spPr>
          <a:xfrm>
            <a:off x="914400" y="7439323"/>
            <a:ext cx="16459200" cy="9525"/>
          </a:xfrm>
          <a:prstGeom prst="rect">
            <a:avLst/>
          </a:prstGeom>
          <a:solidFill>
            <a:srgbClr val="2A3450"/>
          </a:solidFill>
          <a:ln/>
        </p:spPr>
      </p:sp>
      <p:sp>
        <p:nvSpPr>
          <p:cNvPr id="141" name="Text 139"/>
          <p:cNvSpPr/>
          <p:nvPr/>
        </p:nvSpPr>
        <p:spPr>
          <a:xfrm>
            <a:off x="914400" y="7658398"/>
            <a:ext cx="2171700" cy="645616"/>
          </a:xfrm>
          <a:prstGeom prst="rect">
            <a:avLst/>
          </a:prstGeom>
          <a:noFill/>
          <a:ln/>
        </p:spPr>
        <p:txBody>
          <a:bodyPr wrap="square" lIns="25400" tIns="25400" rIns="25400" bIns="25400" rtlCol="0" anchor="t">
            <a:normAutofit/>
          </a:bodyPr>
          <a:lstStyle/>
          <a:p>
            <a:pPr algn="l" indent="0" marL="0">
              <a:buNone/>
            </a:pPr>
            <a:r>
              <a:rPr lang="en-US" sz="900" spc="198" kern="0" dirty="0">
                <a:solidFill>
                  <a:srgbClr val="82A6D9"/>
                </a:solidFill>
                <a:latin typeface="Arial" pitchFamily="34" charset="0"/>
                <a:ea typeface="Arial" pitchFamily="34" charset="-122"/>
                <a:cs typeface="Arial" pitchFamily="34" charset="-120"/>
              </a:rPr>
              <a:t>NOTE</a:t>
            </a:r>
            <a:endParaRPr lang="en-US" sz="900" dirty="0"/>
          </a:p>
        </p:txBody>
      </p:sp>
      <p:sp>
        <p:nvSpPr>
          <p:cNvPr id="142" name="Text 140"/>
          <p:cNvSpPr/>
          <p:nvPr/>
        </p:nvSpPr>
        <p:spPr>
          <a:xfrm>
            <a:off x="3352800" y="7658398"/>
            <a:ext cx="1444142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Existing-client and referral close 3-5× better than marketing-sourced channels — they come pre-sold. Marketing's CRM-source numbers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understate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its true contribution; cross-reference with attribution slides.</a:t>
            </a:r>
            <a:endParaRPr lang="en-US" sz="1650" dirty="0"/>
          </a:p>
        </p:txBody>
      </p:sp>
      <p:sp>
        <p:nvSpPr>
          <p:cNvPr id="143" name="Text 141"/>
          <p:cNvSpPr/>
          <p:nvPr/>
        </p:nvSpPr>
        <p:spPr>
          <a:xfrm>
            <a:off x="762000" y="9791700"/>
            <a:ext cx="1504355"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08 / CHANNELS</a:t>
            </a:r>
            <a:endParaRPr lang="en-US" sz="900" dirty="0"/>
          </a:p>
        </p:txBody>
      </p:sp>
      <p:sp>
        <p:nvSpPr>
          <p:cNvPr id="144" name="Text 142"/>
          <p:cNvSpPr/>
          <p:nvPr/>
        </p:nvSpPr>
        <p:spPr>
          <a:xfrm>
            <a:off x="15441364" y="9791700"/>
            <a:ext cx="2160836"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SOURCE: CRM LEAD SOURCE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3423032"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09 / 21 · 6SENSE DISPLAY PERFORMANCE</a:t>
            </a:r>
            <a:endParaRPr lang="en-US" sz="975" dirty="0"/>
          </a:p>
        </p:txBody>
      </p:sp>
      <p:sp>
        <p:nvSpPr>
          <p:cNvPr id="11" name="Text 9"/>
          <p:cNvSpPr/>
          <p:nvPr/>
        </p:nvSpPr>
        <p:spPr>
          <a:xfrm>
            <a:off x="16592699" y="361950"/>
            <a:ext cx="100950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III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09</a:t>
            </a:r>
            <a:endParaRPr lang="en-US" sz="1125" dirty="0"/>
          </a:p>
        </p:txBody>
      </p:sp>
      <p:sp>
        <p:nvSpPr>
          <p:cNvPr id="13" name="Text 11"/>
          <p:cNvSpPr/>
          <p:nvPr/>
        </p:nvSpPr>
        <p:spPr>
          <a:xfrm>
            <a:off x="1275308" y="800100"/>
            <a:ext cx="1001762"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6SENSE</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6sense Display: impression-to-pipeline analysis.</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ABM paid advertising — branded recognition is the goal, not clicks.</a:t>
            </a:r>
            <a:endParaRPr lang="en-US" sz="2100" dirty="0"/>
          </a:p>
        </p:txBody>
      </p:sp>
      <p:sp>
        <p:nvSpPr>
          <p:cNvPr id="16" name="Shape 14"/>
          <p:cNvSpPr/>
          <p:nvPr/>
        </p:nvSpPr>
        <p:spPr>
          <a:xfrm>
            <a:off x="914400" y="4038451"/>
            <a:ext cx="16459200" cy="9525"/>
          </a:xfrm>
          <a:prstGeom prst="rect">
            <a:avLst/>
          </a:prstGeom>
          <a:solidFill>
            <a:srgbClr val="2A3450"/>
          </a:solidFill>
          <a:ln/>
        </p:spPr>
      </p:sp>
      <p:sp>
        <p:nvSpPr>
          <p:cNvPr id="17" name="Shape 15"/>
          <p:cNvSpPr/>
          <p:nvPr/>
        </p:nvSpPr>
        <p:spPr>
          <a:xfrm>
            <a:off x="914400" y="2771626"/>
            <a:ext cx="16459200" cy="9525"/>
          </a:xfrm>
          <a:prstGeom prst="rect">
            <a:avLst/>
          </a:prstGeom>
          <a:solidFill>
            <a:srgbClr val="2A3450"/>
          </a:solidFill>
          <a:ln/>
        </p:spPr>
      </p:sp>
      <p:sp>
        <p:nvSpPr>
          <p:cNvPr id="18" name="Text 16"/>
          <p:cNvSpPr/>
          <p:nvPr/>
        </p:nvSpPr>
        <p:spPr>
          <a:xfrm>
            <a:off x="1181100" y="3009751"/>
            <a:ext cx="2286000"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TOTAL SPEND</a:t>
            </a:r>
            <a:endParaRPr lang="en-US" sz="825" dirty="0"/>
          </a:p>
        </p:txBody>
      </p:sp>
      <p:sp>
        <p:nvSpPr>
          <p:cNvPr id="19" name="Text 17"/>
          <p:cNvSpPr/>
          <p:nvPr/>
        </p:nvSpPr>
        <p:spPr>
          <a:xfrm>
            <a:off x="1181100" y="3257401"/>
            <a:ext cx="2286000"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$291 </a:t>
            </a:r>
            <a:pPr algn="l" indent="0" marL="0">
              <a:lnSpc>
                <a:spcPct val="100000"/>
              </a:lnSpc>
              <a:buNone/>
            </a:pPr>
            <a:r>
              <a:rPr lang="en-US" sz="2100" spc="-84" kern="0" dirty="0">
                <a:solidFill>
                  <a:srgbClr val="7C8493"/>
                </a:solidFill>
                <a:latin typeface="Arial" pitchFamily="34" charset="0"/>
                <a:ea typeface="Arial" pitchFamily="34" charset="-122"/>
                <a:cs typeface="Arial" pitchFamily="34" charset="-120"/>
              </a:rPr>
              <a:t>K</a:t>
            </a:r>
            <a:endParaRPr lang="en-US" sz="4200" dirty="0"/>
          </a:p>
        </p:txBody>
      </p:sp>
      <p:sp>
        <p:nvSpPr>
          <p:cNvPr id="20" name="Shape 18"/>
          <p:cNvSpPr/>
          <p:nvPr/>
        </p:nvSpPr>
        <p:spPr>
          <a:xfrm>
            <a:off x="3657600" y="2781151"/>
            <a:ext cx="9525" cy="1257300"/>
          </a:xfrm>
          <a:prstGeom prst="rect">
            <a:avLst/>
          </a:prstGeom>
          <a:solidFill>
            <a:srgbClr val="2A3450"/>
          </a:solidFill>
          <a:ln/>
        </p:spPr>
      </p:sp>
      <p:sp>
        <p:nvSpPr>
          <p:cNvPr id="21" name="Text 19"/>
          <p:cNvSpPr/>
          <p:nvPr/>
        </p:nvSpPr>
        <p:spPr>
          <a:xfrm>
            <a:off x="3933825" y="3009751"/>
            <a:ext cx="2276475"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IMPRESSIONS</a:t>
            </a:r>
            <a:endParaRPr lang="en-US" sz="825" dirty="0"/>
          </a:p>
        </p:txBody>
      </p:sp>
      <p:sp>
        <p:nvSpPr>
          <p:cNvPr id="22" name="Text 20"/>
          <p:cNvSpPr/>
          <p:nvPr/>
        </p:nvSpPr>
        <p:spPr>
          <a:xfrm>
            <a:off x="3933825" y="3257401"/>
            <a:ext cx="2276475"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31.1 </a:t>
            </a:r>
            <a:pPr algn="l" indent="0" marL="0">
              <a:lnSpc>
                <a:spcPct val="100000"/>
              </a:lnSpc>
              <a:buNone/>
            </a:pPr>
            <a:r>
              <a:rPr lang="en-US" sz="2100" spc="-84" kern="0" dirty="0">
                <a:solidFill>
                  <a:srgbClr val="7C8493"/>
                </a:solidFill>
                <a:latin typeface="Arial" pitchFamily="34" charset="0"/>
                <a:ea typeface="Arial" pitchFamily="34" charset="-122"/>
                <a:cs typeface="Arial" pitchFamily="34" charset="-120"/>
              </a:rPr>
              <a:t>M</a:t>
            </a:r>
            <a:endParaRPr lang="en-US" sz="4200" dirty="0"/>
          </a:p>
        </p:txBody>
      </p:sp>
      <p:sp>
        <p:nvSpPr>
          <p:cNvPr id="23" name="Shape 21"/>
          <p:cNvSpPr/>
          <p:nvPr/>
        </p:nvSpPr>
        <p:spPr>
          <a:xfrm>
            <a:off x="6400800" y="2781151"/>
            <a:ext cx="9525" cy="1257300"/>
          </a:xfrm>
          <a:prstGeom prst="rect">
            <a:avLst/>
          </a:prstGeom>
          <a:solidFill>
            <a:srgbClr val="2A3450"/>
          </a:solidFill>
          <a:ln/>
        </p:spPr>
      </p:sp>
      <p:sp>
        <p:nvSpPr>
          <p:cNvPr id="24" name="Text 22"/>
          <p:cNvSpPr/>
          <p:nvPr/>
        </p:nvSpPr>
        <p:spPr>
          <a:xfrm>
            <a:off x="6677025" y="3009751"/>
            <a:ext cx="2276475"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CLICKS</a:t>
            </a:r>
            <a:endParaRPr lang="en-US" sz="825" dirty="0"/>
          </a:p>
        </p:txBody>
      </p:sp>
      <p:sp>
        <p:nvSpPr>
          <p:cNvPr id="25" name="Text 23"/>
          <p:cNvSpPr/>
          <p:nvPr/>
        </p:nvSpPr>
        <p:spPr>
          <a:xfrm>
            <a:off x="6677025" y="3257401"/>
            <a:ext cx="2276475"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13,886</a:t>
            </a:r>
            <a:endParaRPr lang="en-US" sz="4200" dirty="0"/>
          </a:p>
        </p:txBody>
      </p:sp>
      <p:sp>
        <p:nvSpPr>
          <p:cNvPr id="26" name="Shape 24"/>
          <p:cNvSpPr/>
          <p:nvPr/>
        </p:nvSpPr>
        <p:spPr>
          <a:xfrm>
            <a:off x="9144000" y="2781151"/>
            <a:ext cx="9525" cy="1257300"/>
          </a:xfrm>
          <a:prstGeom prst="rect">
            <a:avLst/>
          </a:prstGeom>
          <a:solidFill>
            <a:srgbClr val="2A3450"/>
          </a:solidFill>
          <a:ln/>
        </p:spPr>
      </p:sp>
      <p:sp>
        <p:nvSpPr>
          <p:cNvPr id="27" name="Text 25"/>
          <p:cNvSpPr/>
          <p:nvPr/>
        </p:nvSpPr>
        <p:spPr>
          <a:xfrm>
            <a:off x="9420225" y="3009751"/>
            <a:ext cx="2276475"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FORM FILLS</a:t>
            </a:r>
            <a:endParaRPr lang="en-US" sz="825" dirty="0"/>
          </a:p>
        </p:txBody>
      </p:sp>
      <p:sp>
        <p:nvSpPr>
          <p:cNvPr id="28" name="Text 26"/>
          <p:cNvSpPr/>
          <p:nvPr/>
        </p:nvSpPr>
        <p:spPr>
          <a:xfrm>
            <a:off x="9420225" y="3257401"/>
            <a:ext cx="2276475"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117</a:t>
            </a:r>
            <a:endParaRPr lang="en-US" sz="4200" dirty="0"/>
          </a:p>
        </p:txBody>
      </p:sp>
      <p:sp>
        <p:nvSpPr>
          <p:cNvPr id="29" name="Shape 27"/>
          <p:cNvSpPr/>
          <p:nvPr/>
        </p:nvSpPr>
        <p:spPr>
          <a:xfrm>
            <a:off x="11887200" y="2781151"/>
            <a:ext cx="9525" cy="1257300"/>
          </a:xfrm>
          <a:prstGeom prst="rect">
            <a:avLst/>
          </a:prstGeom>
          <a:solidFill>
            <a:srgbClr val="2A3450"/>
          </a:solidFill>
          <a:ln/>
        </p:spPr>
      </p:sp>
      <p:sp>
        <p:nvSpPr>
          <p:cNvPr id="30" name="Text 28"/>
          <p:cNvSpPr/>
          <p:nvPr/>
        </p:nvSpPr>
        <p:spPr>
          <a:xfrm>
            <a:off x="12163425" y="3009751"/>
            <a:ext cx="2276475"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CTR</a:t>
            </a:r>
            <a:endParaRPr lang="en-US" sz="825" dirty="0"/>
          </a:p>
        </p:txBody>
      </p:sp>
      <p:sp>
        <p:nvSpPr>
          <p:cNvPr id="31" name="Text 29"/>
          <p:cNvSpPr/>
          <p:nvPr/>
        </p:nvSpPr>
        <p:spPr>
          <a:xfrm>
            <a:off x="12163425" y="3257401"/>
            <a:ext cx="2276475"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0.045 </a:t>
            </a:r>
            <a:pPr algn="l" indent="0" marL="0">
              <a:lnSpc>
                <a:spcPct val="100000"/>
              </a:lnSpc>
              <a:buNone/>
            </a:pPr>
            <a:r>
              <a:rPr lang="en-US" sz="2100" spc="-84" kern="0" dirty="0">
                <a:solidFill>
                  <a:srgbClr val="7C8493"/>
                </a:solidFill>
                <a:latin typeface="Arial" pitchFamily="34" charset="0"/>
                <a:ea typeface="Arial" pitchFamily="34" charset="-122"/>
                <a:cs typeface="Arial" pitchFamily="34" charset="-120"/>
              </a:rPr>
              <a:t>%</a:t>
            </a:r>
            <a:endParaRPr lang="en-US" sz="4200" dirty="0"/>
          </a:p>
        </p:txBody>
      </p:sp>
      <p:sp>
        <p:nvSpPr>
          <p:cNvPr id="32" name="Shape 30"/>
          <p:cNvSpPr/>
          <p:nvPr/>
        </p:nvSpPr>
        <p:spPr>
          <a:xfrm>
            <a:off x="14630400" y="2781151"/>
            <a:ext cx="9525" cy="1257300"/>
          </a:xfrm>
          <a:prstGeom prst="rect">
            <a:avLst/>
          </a:prstGeom>
          <a:solidFill>
            <a:srgbClr val="2A3450"/>
          </a:solidFill>
          <a:ln/>
        </p:spPr>
      </p:sp>
      <p:sp>
        <p:nvSpPr>
          <p:cNvPr id="33" name="Text 31"/>
          <p:cNvSpPr/>
          <p:nvPr/>
        </p:nvSpPr>
        <p:spPr>
          <a:xfrm>
            <a:off x="14906625" y="3009751"/>
            <a:ext cx="2276475"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COST / FILL</a:t>
            </a:r>
            <a:endParaRPr lang="en-US" sz="825" dirty="0"/>
          </a:p>
        </p:txBody>
      </p:sp>
      <p:sp>
        <p:nvSpPr>
          <p:cNvPr id="34" name="Text 32"/>
          <p:cNvSpPr/>
          <p:nvPr/>
        </p:nvSpPr>
        <p:spPr>
          <a:xfrm>
            <a:off x="14906625" y="3257401"/>
            <a:ext cx="2276475"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$2.0 </a:t>
            </a:r>
            <a:pPr algn="l" indent="0" marL="0">
              <a:lnSpc>
                <a:spcPct val="100000"/>
              </a:lnSpc>
              <a:buNone/>
            </a:pPr>
            <a:r>
              <a:rPr lang="en-US" sz="2100" spc="-84" kern="0" dirty="0">
                <a:solidFill>
                  <a:srgbClr val="7C8493"/>
                </a:solidFill>
                <a:latin typeface="Arial" pitchFamily="34" charset="0"/>
                <a:ea typeface="Arial" pitchFamily="34" charset="-122"/>
                <a:cs typeface="Arial" pitchFamily="34" charset="-120"/>
              </a:rPr>
              <a:t>K</a:t>
            </a:r>
            <a:endParaRPr lang="en-US" sz="4200" dirty="0"/>
          </a:p>
        </p:txBody>
      </p:sp>
      <p:sp>
        <p:nvSpPr>
          <p:cNvPr id="35" name="Text 33"/>
          <p:cNvSpPr/>
          <p:nvPr/>
        </p:nvSpPr>
        <p:spPr>
          <a:xfrm>
            <a:off x="914400" y="4390876"/>
            <a:ext cx="2612678"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SPEND &amp; IMPRESSIONS BY MONTH</a:t>
            </a:r>
            <a:endParaRPr lang="en-US" sz="900" dirty="0"/>
          </a:p>
        </p:txBody>
      </p:sp>
      <p:sp>
        <p:nvSpPr>
          <p:cNvPr id="36" name="Text 34"/>
          <p:cNvSpPr/>
          <p:nvPr/>
        </p:nvSpPr>
        <p:spPr>
          <a:xfrm>
            <a:off x="9440763" y="4390876"/>
            <a:ext cx="884337"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2023—2024</a:t>
            </a:r>
            <a:endParaRPr lang="en-US" sz="900" dirty="0"/>
          </a:p>
        </p:txBody>
      </p:sp>
      <p:pic>
        <p:nvPicPr>
          <p:cNvPr id="37" name="Image 0" descr="preencoded.png">    </p:cNvPr>
          <p:cNvPicPr>
            <a:picLocks noChangeAspect="1"/>
          </p:cNvPicPr>
          <p:nvPr/>
        </p:nvPicPr>
        <p:blipFill>
          <a:blip r:embed="rId1"/>
          <a:stretch>
            <a:fillRect/>
          </a:stretch>
        </p:blipFill>
        <p:spPr>
          <a:xfrm>
            <a:off x="914400" y="4657576"/>
            <a:ext cx="9334500" cy="4905524"/>
          </a:xfrm>
          <a:prstGeom prst="rect">
            <a:avLst/>
          </a:prstGeom>
        </p:spPr>
      </p:pic>
      <p:sp>
        <p:nvSpPr>
          <p:cNvPr id="38" name="Shape 35"/>
          <p:cNvSpPr/>
          <p:nvPr/>
        </p:nvSpPr>
        <p:spPr>
          <a:xfrm>
            <a:off x="10706100" y="4390876"/>
            <a:ext cx="9525" cy="5172224"/>
          </a:xfrm>
          <a:prstGeom prst="rect">
            <a:avLst/>
          </a:prstGeom>
          <a:solidFill>
            <a:srgbClr val="2A3450"/>
          </a:solidFill>
          <a:ln/>
        </p:spPr>
      </p:sp>
      <p:sp>
        <p:nvSpPr>
          <p:cNvPr id="39" name="Text 36"/>
          <p:cNvSpPr/>
          <p:nvPr/>
        </p:nvSpPr>
        <p:spPr>
          <a:xfrm>
            <a:off x="11020425" y="5704136"/>
            <a:ext cx="6543770"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LAST-TOUCH ATTRIBUTION</a:t>
            </a:r>
            <a:endParaRPr lang="en-US" sz="900" dirty="0"/>
          </a:p>
        </p:txBody>
      </p:sp>
      <p:sp>
        <p:nvSpPr>
          <p:cNvPr id="40" name="Text 37"/>
          <p:cNvSpPr/>
          <p:nvPr/>
        </p:nvSpPr>
        <p:spPr>
          <a:xfrm>
            <a:off x="11020425" y="6066086"/>
            <a:ext cx="6543770" cy="906661"/>
          </a:xfrm>
          <a:prstGeom prst="rect">
            <a:avLst/>
          </a:prstGeom>
          <a:noFill/>
          <a:ln/>
        </p:spPr>
        <p:txBody>
          <a:bodyPr wrap="square" lIns="25400" tIns="25400" rIns="25400" bIns="25400" rtlCol="0" anchor="t">
            <a:normAutofit/>
          </a:bodyPr>
          <a:lstStyle/>
          <a:p>
            <a:pPr algn="l" indent="0" marL="0">
              <a:lnSpc>
                <a:spcPct val="95000"/>
              </a:lnSpc>
              <a:buNone/>
            </a:pPr>
            <a:r>
              <a:rPr lang="en-US" sz="7200" spc="-216" kern="0" dirty="0">
                <a:solidFill>
                  <a:srgbClr val="82A6D9"/>
                </a:solidFill>
                <a:latin typeface="Arial" pitchFamily="34" charset="0"/>
                <a:ea typeface="Arial" pitchFamily="34" charset="-122"/>
                <a:cs typeface="Arial" pitchFamily="34" charset="-120"/>
              </a:rPr>
              <a:t>$3.3M</a:t>
            </a:r>
            <a:endParaRPr lang="en-US" sz="7200" dirty="0"/>
          </a:p>
        </p:txBody>
      </p:sp>
      <p:sp>
        <p:nvSpPr>
          <p:cNvPr id="41" name="Text 38"/>
          <p:cNvSpPr/>
          <p:nvPr/>
        </p:nvSpPr>
        <p:spPr>
          <a:xfrm>
            <a:off x="11020425" y="7163246"/>
            <a:ext cx="6543770" cy="1124545"/>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B7BCC8"/>
                </a:solidFill>
                <a:latin typeface="Arial" pitchFamily="34" charset="0"/>
                <a:ea typeface="Arial" pitchFamily="34" charset="-122"/>
                <a:cs typeface="Arial" pitchFamily="34" charset="-120"/>
              </a:rPr>
              <a:t>Pipeline credit when 6sense was the </a:t>
            </a:r>
            <a:pPr algn="l" indent="0" marL="0">
              <a:lnSpc>
                <a:spcPct val="145000"/>
              </a:lnSpc>
              <a:buNone/>
            </a:pPr>
            <a:r>
              <a:rPr lang="en-US" sz="1950" dirty="0">
                <a:solidFill>
                  <a:srgbClr val="ECEEF2"/>
                </a:solidFill>
                <a:latin typeface="Arial" pitchFamily="34" charset="0"/>
                <a:ea typeface="Arial" pitchFamily="34" charset="-122"/>
                <a:cs typeface="Arial" pitchFamily="34" charset="-120"/>
              </a:rPr>
              <a:t>last marketing touch </a:t>
            </a:r>
            <a:pPr algn="l" indent="0" marL="0">
              <a:lnSpc>
                <a:spcPct val="145000"/>
              </a:lnSpc>
              <a:buNone/>
            </a:pPr>
            <a:r>
              <a:rPr lang="en-US" sz="1950" dirty="0">
                <a:solidFill>
                  <a:srgbClr val="B7BCC8"/>
                </a:solidFill>
                <a:latin typeface="Arial" pitchFamily="34" charset="0"/>
                <a:ea typeface="Arial" pitchFamily="34" charset="-122"/>
                <a:cs typeface="Arial" pitchFamily="34" charset="-120"/>
              </a:rPr>
              <a:t>before the deal closed. 117 form fills understates the impact — 6sense keeps the brand visible mid-funnel.</a:t>
            </a:r>
            <a:endParaRPr lang="en-US" sz="1950" dirty="0"/>
          </a:p>
        </p:txBody>
      </p:sp>
      <p:sp>
        <p:nvSpPr>
          <p:cNvPr id="42" name="Text 39"/>
          <p:cNvSpPr/>
          <p:nvPr/>
        </p:nvSpPr>
        <p:spPr>
          <a:xfrm>
            <a:off x="762000" y="9791700"/>
            <a:ext cx="1296293"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09 / 6SENSE</a:t>
            </a:r>
            <a:endParaRPr lang="en-US" sz="900" dirty="0"/>
          </a:p>
        </p:txBody>
      </p:sp>
      <p:sp>
        <p:nvSpPr>
          <p:cNvPr id="43" name="Text 40"/>
          <p:cNvSpPr/>
          <p:nvPr/>
        </p:nvSpPr>
        <p:spPr>
          <a:xfrm>
            <a:off x="15803017" y="9791700"/>
            <a:ext cx="1799183"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CHANNEL: ABM DISPLAY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355195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10 / 21 · EMAIL MARKETING PERFORMANCE</a:t>
            </a:r>
            <a:endParaRPr lang="en-US" sz="975" dirty="0"/>
          </a:p>
        </p:txBody>
      </p:sp>
      <p:sp>
        <p:nvSpPr>
          <p:cNvPr id="11" name="Text 9"/>
          <p:cNvSpPr/>
          <p:nvPr/>
        </p:nvSpPr>
        <p:spPr>
          <a:xfrm>
            <a:off x="16592699" y="361950"/>
            <a:ext cx="100950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III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10</a:t>
            </a:r>
            <a:endParaRPr lang="en-US" sz="1125" dirty="0"/>
          </a:p>
        </p:txBody>
      </p:sp>
      <p:sp>
        <p:nvSpPr>
          <p:cNvPr id="13" name="Text 11"/>
          <p:cNvSpPr/>
          <p:nvPr/>
        </p:nvSpPr>
        <p:spPr>
          <a:xfrm>
            <a:off x="1275308" y="800100"/>
            <a:ext cx="832396"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EMAIL</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Email is the awareness engine.</a:t>
            </a:r>
            <a:endParaRPr lang="en-US" sz="5700" dirty="0"/>
          </a:p>
        </p:txBody>
      </p:sp>
      <p:sp>
        <p:nvSpPr>
          <p:cNvPr id="15" name="Shape 13"/>
          <p:cNvSpPr/>
          <p:nvPr/>
        </p:nvSpPr>
        <p:spPr>
          <a:xfrm>
            <a:off x="914400" y="3934123"/>
            <a:ext cx="16459200" cy="9525"/>
          </a:xfrm>
          <a:prstGeom prst="rect">
            <a:avLst/>
          </a:prstGeom>
          <a:solidFill>
            <a:srgbClr val="2A3450"/>
          </a:solidFill>
          <a:ln/>
        </p:spPr>
      </p:sp>
      <p:sp>
        <p:nvSpPr>
          <p:cNvPr id="16" name="Shape 14"/>
          <p:cNvSpPr/>
          <p:nvPr/>
        </p:nvSpPr>
        <p:spPr>
          <a:xfrm>
            <a:off x="914400" y="2419648"/>
            <a:ext cx="16459200" cy="9525"/>
          </a:xfrm>
          <a:prstGeom prst="rect">
            <a:avLst/>
          </a:prstGeom>
          <a:solidFill>
            <a:srgbClr val="2A3450"/>
          </a:solidFill>
          <a:ln/>
        </p:spPr>
      </p:sp>
      <p:sp>
        <p:nvSpPr>
          <p:cNvPr id="17" name="Text 15"/>
          <p:cNvSpPr/>
          <p:nvPr/>
        </p:nvSpPr>
        <p:spPr>
          <a:xfrm>
            <a:off x="1181100" y="2657773"/>
            <a:ext cx="3688842"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ENGAGEMENTS</a:t>
            </a:r>
            <a:endParaRPr lang="en-US" sz="825" dirty="0"/>
          </a:p>
        </p:txBody>
      </p:sp>
      <p:sp>
        <p:nvSpPr>
          <p:cNvPr id="18" name="Text 16"/>
          <p:cNvSpPr/>
          <p:nvPr/>
        </p:nvSpPr>
        <p:spPr>
          <a:xfrm>
            <a:off x="1181100" y="2905423"/>
            <a:ext cx="368884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17,130</a:t>
            </a:r>
            <a:endParaRPr lang="en-US" sz="4200" dirty="0"/>
          </a:p>
        </p:txBody>
      </p:sp>
      <p:sp>
        <p:nvSpPr>
          <p:cNvPr id="19" name="Shape 17"/>
          <p:cNvSpPr/>
          <p:nvPr/>
        </p:nvSpPr>
        <p:spPr>
          <a:xfrm>
            <a:off x="5029200" y="2429173"/>
            <a:ext cx="9525" cy="1504950"/>
          </a:xfrm>
          <a:prstGeom prst="rect">
            <a:avLst/>
          </a:prstGeom>
          <a:solidFill>
            <a:srgbClr val="2A3450"/>
          </a:solidFill>
          <a:ln/>
        </p:spPr>
      </p:sp>
      <p:sp>
        <p:nvSpPr>
          <p:cNvPr id="20" name="Text 18"/>
          <p:cNvSpPr/>
          <p:nvPr/>
        </p:nvSpPr>
        <p:spPr>
          <a:xfrm>
            <a:off x="5305425" y="2657773"/>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OPEN RATE</a:t>
            </a:r>
            <a:endParaRPr lang="en-US" sz="825" dirty="0"/>
          </a:p>
        </p:txBody>
      </p:sp>
      <p:sp>
        <p:nvSpPr>
          <p:cNvPr id="21" name="Text 19"/>
          <p:cNvSpPr/>
          <p:nvPr/>
        </p:nvSpPr>
        <p:spPr>
          <a:xfrm>
            <a:off x="5305425" y="2905423"/>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94.7 </a:t>
            </a:r>
            <a:pPr algn="l" indent="0" marL="0">
              <a:lnSpc>
                <a:spcPct val="100000"/>
              </a:lnSpc>
              <a:buNone/>
            </a:pPr>
            <a:r>
              <a:rPr lang="en-US" sz="2100" spc="-84" kern="0" dirty="0">
                <a:solidFill>
                  <a:srgbClr val="7C8493"/>
                </a:solidFill>
                <a:latin typeface="Arial" pitchFamily="34" charset="0"/>
                <a:ea typeface="Arial" pitchFamily="34" charset="-122"/>
                <a:cs typeface="Arial" pitchFamily="34" charset="-120"/>
              </a:rPr>
              <a:t>%</a:t>
            </a:r>
            <a:endParaRPr lang="en-US" sz="4200" dirty="0"/>
          </a:p>
        </p:txBody>
      </p:sp>
      <p:sp>
        <p:nvSpPr>
          <p:cNvPr id="22" name="Text 20"/>
          <p:cNvSpPr/>
          <p:nvPr/>
        </p:nvSpPr>
        <p:spPr>
          <a:xfrm>
            <a:off x="5305425" y="3553123"/>
            <a:ext cx="3679031"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88D1B0"/>
                </a:solidFill>
                <a:latin typeface="Arial" pitchFamily="34" charset="0"/>
                <a:ea typeface="Arial" pitchFamily="34" charset="-122"/>
                <a:cs typeface="Arial" pitchFamily="34" charset="-120"/>
              </a:rPr>
              <a:t>strong list hygiene</a:t>
            </a:r>
            <a:endParaRPr lang="en-US" sz="900" dirty="0"/>
          </a:p>
        </p:txBody>
      </p:sp>
      <p:sp>
        <p:nvSpPr>
          <p:cNvPr id="23" name="Shape 21"/>
          <p:cNvSpPr/>
          <p:nvPr/>
        </p:nvSpPr>
        <p:spPr>
          <a:xfrm>
            <a:off x="9144000" y="2429173"/>
            <a:ext cx="9525" cy="1504950"/>
          </a:xfrm>
          <a:prstGeom prst="rect">
            <a:avLst/>
          </a:prstGeom>
          <a:solidFill>
            <a:srgbClr val="2A3450"/>
          </a:solidFill>
          <a:ln/>
        </p:spPr>
      </p:sp>
      <p:sp>
        <p:nvSpPr>
          <p:cNvPr id="24" name="Text 22"/>
          <p:cNvSpPr/>
          <p:nvPr/>
        </p:nvSpPr>
        <p:spPr>
          <a:xfrm>
            <a:off x="9420225" y="2657773"/>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CLICK RATE</a:t>
            </a:r>
            <a:endParaRPr lang="en-US" sz="825" dirty="0"/>
          </a:p>
        </p:txBody>
      </p:sp>
      <p:sp>
        <p:nvSpPr>
          <p:cNvPr id="25" name="Text 23"/>
          <p:cNvSpPr/>
          <p:nvPr/>
        </p:nvSpPr>
        <p:spPr>
          <a:xfrm>
            <a:off x="9420225" y="2905423"/>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4.5 </a:t>
            </a:r>
            <a:pPr algn="l" indent="0" marL="0">
              <a:lnSpc>
                <a:spcPct val="100000"/>
              </a:lnSpc>
              <a:buNone/>
            </a:pPr>
            <a:r>
              <a:rPr lang="en-US" sz="2100" spc="-84" kern="0" dirty="0">
                <a:solidFill>
                  <a:srgbClr val="7C8493"/>
                </a:solidFill>
                <a:latin typeface="Arial" pitchFamily="34" charset="0"/>
                <a:ea typeface="Arial" pitchFamily="34" charset="-122"/>
                <a:cs typeface="Arial" pitchFamily="34" charset="-120"/>
              </a:rPr>
              <a:t>%</a:t>
            </a:r>
            <a:endParaRPr lang="en-US" sz="4200" dirty="0"/>
          </a:p>
        </p:txBody>
      </p:sp>
      <p:sp>
        <p:nvSpPr>
          <p:cNvPr id="26" name="Text 24"/>
          <p:cNvSpPr/>
          <p:nvPr/>
        </p:nvSpPr>
        <p:spPr>
          <a:xfrm>
            <a:off x="9420225" y="3553123"/>
            <a:ext cx="3679031"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7C8493"/>
                </a:solidFill>
                <a:latin typeface="Arial" pitchFamily="34" charset="0"/>
                <a:ea typeface="Arial" pitchFamily="34" charset="-122"/>
                <a:cs typeface="Arial" pitchFamily="34" charset="-120"/>
              </a:rPr>
              <a:t>B2B benchmark: 2-5%</a:t>
            </a:r>
            <a:endParaRPr lang="en-US" sz="900" dirty="0"/>
          </a:p>
        </p:txBody>
      </p:sp>
      <p:sp>
        <p:nvSpPr>
          <p:cNvPr id="27" name="Shape 25"/>
          <p:cNvSpPr/>
          <p:nvPr/>
        </p:nvSpPr>
        <p:spPr>
          <a:xfrm>
            <a:off x="13258800" y="2429173"/>
            <a:ext cx="9525" cy="1504950"/>
          </a:xfrm>
          <a:prstGeom prst="rect">
            <a:avLst/>
          </a:prstGeom>
          <a:solidFill>
            <a:srgbClr val="2A3450"/>
          </a:solidFill>
          <a:ln/>
        </p:spPr>
      </p:sp>
      <p:sp>
        <p:nvSpPr>
          <p:cNvPr id="28" name="Text 26"/>
          <p:cNvSpPr/>
          <p:nvPr/>
        </p:nvSpPr>
        <p:spPr>
          <a:xfrm>
            <a:off x="13535025" y="2657773"/>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FIRST-TOUCH CREDIT</a:t>
            </a:r>
            <a:endParaRPr lang="en-US" sz="825" dirty="0"/>
          </a:p>
        </p:txBody>
      </p:sp>
      <p:sp>
        <p:nvSpPr>
          <p:cNvPr id="29" name="Text 27"/>
          <p:cNvSpPr/>
          <p:nvPr/>
        </p:nvSpPr>
        <p:spPr>
          <a:xfrm>
            <a:off x="13535025" y="2905423"/>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$4.0 </a:t>
            </a:r>
            <a:pPr algn="l" indent="0" marL="0">
              <a:lnSpc>
                <a:spcPct val="100000"/>
              </a:lnSpc>
              <a:buNone/>
            </a:pPr>
            <a:r>
              <a:rPr lang="en-US" sz="2100" spc="-84" kern="0" dirty="0">
                <a:solidFill>
                  <a:srgbClr val="7C8493"/>
                </a:solidFill>
                <a:latin typeface="Arial" pitchFamily="34" charset="0"/>
                <a:ea typeface="Arial" pitchFamily="34" charset="-122"/>
                <a:cs typeface="Arial" pitchFamily="34" charset="-120"/>
              </a:rPr>
              <a:t>M</a:t>
            </a:r>
            <a:endParaRPr lang="en-US" sz="4200" dirty="0"/>
          </a:p>
        </p:txBody>
      </p:sp>
      <p:sp>
        <p:nvSpPr>
          <p:cNvPr id="30" name="Text 28"/>
          <p:cNvSpPr/>
          <p:nvPr/>
        </p:nvSpPr>
        <p:spPr>
          <a:xfrm>
            <a:off x="13535025" y="3553123"/>
            <a:ext cx="3679031"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88D1B0"/>
                </a:solidFill>
                <a:latin typeface="Arial" pitchFamily="34" charset="0"/>
                <a:ea typeface="Arial" pitchFamily="34" charset="-122"/>
                <a:cs typeface="Arial" pitchFamily="34" charset="-120"/>
              </a:rPr>
              <a:t>#1 channel</a:t>
            </a:r>
            <a:endParaRPr lang="en-US" sz="900" dirty="0"/>
          </a:p>
        </p:txBody>
      </p:sp>
      <p:sp>
        <p:nvSpPr>
          <p:cNvPr id="31" name="Text 29"/>
          <p:cNvSpPr/>
          <p:nvPr/>
        </p:nvSpPr>
        <p:spPr>
          <a:xfrm>
            <a:off x="914400" y="4305598"/>
            <a:ext cx="2044154"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CLICK RATE BY SENIORITY</a:t>
            </a:r>
            <a:endParaRPr lang="en-US" sz="900" dirty="0"/>
          </a:p>
        </p:txBody>
      </p:sp>
      <p:sp>
        <p:nvSpPr>
          <p:cNvPr id="32" name="Text 30"/>
          <p:cNvSpPr/>
          <p:nvPr/>
        </p:nvSpPr>
        <p:spPr>
          <a:xfrm>
            <a:off x="7985522" y="4305598"/>
            <a:ext cx="1006078"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 OF OPENS</a:t>
            </a:r>
            <a:endParaRPr lang="en-US" sz="900" dirty="0"/>
          </a:p>
        </p:txBody>
      </p:sp>
      <p:pic>
        <p:nvPicPr>
          <p:cNvPr id="33" name="Image 0" descr="preencoded.png">    </p:cNvPr>
          <p:cNvPicPr>
            <a:picLocks noChangeAspect="1"/>
          </p:cNvPicPr>
          <p:nvPr/>
        </p:nvPicPr>
        <p:blipFill>
          <a:blip r:embed="rId1"/>
          <a:stretch>
            <a:fillRect/>
          </a:stretch>
        </p:blipFill>
        <p:spPr>
          <a:xfrm>
            <a:off x="914400" y="4572298"/>
            <a:ext cx="8001000" cy="4990802"/>
          </a:xfrm>
          <a:prstGeom prst="rect">
            <a:avLst/>
          </a:prstGeom>
        </p:spPr>
      </p:pic>
      <p:sp>
        <p:nvSpPr>
          <p:cNvPr id="34" name="Text 31"/>
          <p:cNvSpPr/>
          <p:nvPr/>
        </p:nvSpPr>
        <p:spPr>
          <a:xfrm>
            <a:off x="9372600" y="4305598"/>
            <a:ext cx="8241030"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IMPLICATION</a:t>
            </a:r>
            <a:endParaRPr lang="en-US" sz="900" dirty="0"/>
          </a:p>
        </p:txBody>
      </p:sp>
      <p:sp>
        <p:nvSpPr>
          <p:cNvPr id="35" name="Text 32"/>
          <p:cNvSpPr/>
          <p:nvPr/>
        </p:nvSpPr>
        <p:spPr>
          <a:xfrm>
            <a:off x="9372600" y="4610398"/>
            <a:ext cx="8241030" cy="307777"/>
          </a:xfrm>
          <a:prstGeom prst="rect">
            <a:avLst/>
          </a:prstGeom>
          <a:noFill/>
          <a:ln/>
        </p:spPr>
        <p:txBody>
          <a:bodyPr wrap="square" lIns="25400" tIns="25400" rIns="25400" bIns="25400" rtlCol="0" anchor="t">
            <a:normAutofit/>
          </a:bodyPr>
          <a:lstStyle/>
          <a:p>
            <a:pPr algn="l" indent="0" marL="0">
              <a:lnSpc>
                <a:spcPct val="118000"/>
              </a:lnSpc>
              <a:buNone/>
            </a:pPr>
            <a:r>
              <a:rPr lang="en-US" sz="1800" spc="-27" kern="0" dirty="0">
                <a:solidFill>
                  <a:srgbClr val="ECEEF2"/>
                </a:solidFill>
                <a:latin typeface="Arial" pitchFamily="34" charset="0"/>
                <a:ea typeface="Arial" pitchFamily="34" charset="-122"/>
                <a:cs typeface="Arial" pitchFamily="34" charset="-120"/>
              </a:rPr>
              <a:t>VPs and Directors lead engagement. Tier by seniority.</a:t>
            </a:r>
            <a:endParaRPr lang="en-US" sz="1800" dirty="0"/>
          </a:p>
        </p:txBody>
      </p:sp>
      <p:sp>
        <p:nvSpPr>
          <p:cNvPr id="36" name="Text 33"/>
          <p:cNvSpPr/>
          <p:nvPr/>
        </p:nvSpPr>
        <p:spPr>
          <a:xfrm>
            <a:off x="762000" y="9791700"/>
            <a:ext cx="1169938"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10 / EMAIL</a:t>
            </a:r>
            <a:endParaRPr lang="en-US" sz="900" dirty="0"/>
          </a:p>
        </p:txBody>
      </p:sp>
      <p:sp>
        <p:nvSpPr>
          <p:cNvPr id="37" name="Text 34"/>
          <p:cNvSpPr/>
          <p:nvPr/>
        </p:nvSpPr>
        <p:spPr>
          <a:xfrm>
            <a:off x="15448062" y="9791700"/>
            <a:ext cx="2154138"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BASE: 17,130 ENGAGEMENTS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287786"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11 / 21 · WEB ENGAGEMENT</a:t>
            </a:r>
            <a:endParaRPr lang="en-US" sz="975" dirty="0"/>
          </a:p>
        </p:txBody>
      </p:sp>
      <p:sp>
        <p:nvSpPr>
          <p:cNvPr id="11" name="Text 9"/>
          <p:cNvSpPr/>
          <p:nvPr/>
        </p:nvSpPr>
        <p:spPr>
          <a:xfrm>
            <a:off x="16592699" y="361950"/>
            <a:ext cx="100950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III</a:t>
            </a:r>
            <a:endParaRPr lang="en-US" sz="975" dirty="0"/>
          </a:p>
        </p:txBody>
      </p:sp>
      <p:sp>
        <p:nvSpPr>
          <p:cNvPr id="12" name="Text 10"/>
          <p:cNvSpPr/>
          <p:nvPr/>
        </p:nvSpPr>
        <p:spPr>
          <a:xfrm>
            <a:off x="914400" y="800100"/>
            <a:ext cx="293191"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11</a:t>
            </a:r>
            <a:endParaRPr lang="en-US" sz="1125" dirty="0"/>
          </a:p>
        </p:txBody>
      </p:sp>
      <p:sp>
        <p:nvSpPr>
          <p:cNvPr id="13" name="Text 11"/>
          <p:cNvSpPr/>
          <p:nvPr/>
        </p:nvSpPr>
        <p:spPr>
          <a:xfrm>
            <a:off x="1264741" y="800100"/>
            <a:ext cx="660499"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WEB</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Web traffic is healthy. 99% of it is anonymous.</a:t>
            </a:r>
            <a:endParaRPr lang="en-US" sz="5700" dirty="0"/>
          </a:p>
        </p:txBody>
      </p:sp>
      <p:sp>
        <p:nvSpPr>
          <p:cNvPr id="15" name="Shape 13"/>
          <p:cNvSpPr/>
          <p:nvPr/>
        </p:nvSpPr>
        <p:spPr>
          <a:xfrm>
            <a:off x="914400" y="3934123"/>
            <a:ext cx="16459200" cy="9525"/>
          </a:xfrm>
          <a:prstGeom prst="rect">
            <a:avLst/>
          </a:prstGeom>
          <a:solidFill>
            <a:srgbClr val="2A3450"/>
          </a:solidFill>
          <a:ln/>
        </p:spPr>
      </p:sp>
      <p:sp>
        <p:nvSpPr>
          <p:cNvPr id="16" name="Shape 14"/>
          <p:cNvSpPr/>
          <p:nvPr/>
        </p:nvSpPr>
        <p:spPr>
          <a:xfrm>
            <a:off x="914400" y="2419648"/>
            <a:ext cx="16459200" cy="9525"/>
          </a:xfrm>
          <a:prstGeom prst="rect">
            <a:avLst/>
          </a:prstGeom>
          <a:solidFill>
            <a:srgbClr val="2A3450"/>
          </a:solidFill>
          <a:ln/>
        </p:spPr>
      </p:sp>
      <p:sp>
        <p:nvSpPr>
          <p:cNvPr id="17" name="Text 15"/>
          <p:cNvSpPr/>
          <p:nvPr/>
        </p:nvSpPr>
        <p:spPr>
          <a:xfrm>
            <a:off x="1181100" y="2657773"/>
            <a:ext cx="3688842"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TOTAL SESSIONS</a:t>
            </a:r>
            <a:endParaRPr lang="en-US" sz="825" dirty="0"/>
          </a:p>
        </p:txBody>
      </p:sp>
      <p:sp>
        <p:nvSpPr>
          <p:cNvPr id="18" name="Text 16"/>
          <p:cNvSpPr/>
          <p:nvPr/>
        </p:nvSpPr>
        <p:spPr>
          <a:xfrm>
            <a:off x="1181100" y="2905423"/>
            <a:ext cx="368884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36,931</a:t>
            </a:r>
            <a:endParaRPr lang="en-US" sz="4200" dirty="0"/>
          </a:p>
        </p:txBody>
      </p:sp>
      <p:sp>
        <p:nvSpPr>
          <p:cNvPr id="19" name="Shape 17"/>
          <p:cNvSpPr/>
          <p:nvPr/>
        </p:nvSpPr>
        <p:spPr>
          <a:xfrm>
            <a:off x="5029200" y="2429173"/>
            <a:ext cx="9525" cy="1504950"/>
          </a:xfrm>
          <a:prstGeom prst="rect">
            <a:avLst/>
          </a:prstGeom>
          <a:solidFill>
            <a:srgbClr val="2A3450"/>
          </a:solidFill>
          <a:ln/>
        </p:spPr>
      </p:sp>
      <p:sp>
        <p:nvSpPr>
          <p:cNvPr id="20" name="Text 18"/>
          <p:cNvSpPr/>
          <p:nvPr/>
        </p:nvSpPr>
        <p:spPr>
          <a:xfrm>
            <a:off x="5305425" y="2657773"/>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GOAL COMPLETIONS</a:t>
            </a:r>
            <a:endParaRPr lang="en-US" sz="825" dirty="0"/>
          </a:p>
        </p:txBody>
      </p:sp>
      <p:sp>
        <p:nvSpPr>
          <p:cNvPr id="21" name="Text 19"/>
          <p:cNvSpPr/>
          <p:nvPr/>
        </p:nvSpPr>
        <p:spPr>
          <a:xfrm>
            <a:off x="5305425" y="2905423"/>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1,169</a:t>
            </a:r>
            <a:endParaRPr lang="en-US" sz="4200" dirty="0"/>
          </a:p>
        </p:txBody>
      </p:sp>
      <p:sp>
        <p:nvSpPr>
          <p:cNvPr id="22" name="Text 20"/>
          <p:cNvSpPr/>
          <p:nvPr/>
        </p:nvSpPr>
        <p:spPr>
          <a:xfrm>
            <a:off x="5305425" y="3553123"/>
            <a:ext cx="3679031"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88D1B0"/>
                </a:solidFill>
                <a:latin typeface="Arial" pitchFamily="34" charset="0"/>
                <a:ea typeface="Arial" pitchFamily="34" charset="-122"/>
                <a:cs typeface="Arial" pitchFamily="34" charset="-120"/>
              </a:rPr>
              <a:t>3.2% conversion</a:t>
            </a:r>
            <a:endParaRPr lang="en-US" sz="900" dirty="0"/>
          </a:p>
        </p:txBody>
      </p:sp>
      <p:sp>
        <p:nvSpPr>
          <p:cNvPr id="23" name="Shape 21"/>
          <p:cNvSpPr/>
          <p:nvPr/>
        </p:nvSpPr>
        <p:spPr>
          <a:xfrm>
            <a:off x="9144000" y="2429173"/>
            <a:ext cx="9525" cy="1504950"/>
          </a:xfrm>
          <a:prstGeom prst="rect">
            <a:avLst/>
          </a:prstGeom>
          <a:solidFill>
            <a:srgbClr val="2A3450"/>
          </a:solidFill>
          <a:ln/>
        </p:spPr>
      </p:sp>
      <p:sp>
        <p:nvSpPr>
          <p:cNvPr id="24" name="Text 22"/>
          <p:cNvSpPr/>
          <p:nvPr/>
        </p:nvSpPr>
        <p:spPr>
          <a:xfrm>
            <a:off x="9420225" y="2657773"/>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IDENTIFIED ACCOUNTS</a:t>
            </a:r>
            <a:endParaRPr lang="en-US" sz="825" dirty="0"/>
          </a:p>
        </p:txBody>
      </p:sp>
      <p:sp>
        <p:nvSpPr>
          <p:cNvPr id="25" name="Text 23"/>
          <p:cNvSpPr/>
          <p:nvPr/>
        </p:nvSpPr>
        <p:spPr>
          <a:xfrm>
            <a:off x="9420225" y="2905423"/>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330</a:t>
            </a:r>
            <a:endParaRPr lang="en-US" sz="4200" dirty="0"/>
          </a:p>
        </p:txBody>
      </p:sp>
      <p:sp>
        <p:nvSpPr>
          <p:cNvPr id="26" name="Text 24"/>
          <p:cNvSpPr/>
          <p:nvPr/>
        </p:nvSpPr>
        <p:spPr>
          <a:xfrm>
            <a:off x="9420225" y="3553123"/>
            <a:ext cx="3679031"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E68FA8"/>
                </a:solidFill>
                <a:latin typeface="Arial" pitchFamily="34" charset="0"/>
                <a:ea typeface="Arial" pitchFamily="34" charset="-122"/>
                <a:cs typeface="Arial" pitchFamily="34" charset="-120"/>
              </a:rPr>
              <a:t>0.9% match rate</a:t>
            </a:r>
            <a:endParaRPr lang="en-US" sz="900" dirty="0"/>
          </a:p>
        </p:txBody>
      </p:sp>
      <p:sp>
        <p:nvSpPr>
          <p:cNvPr id="27" name="Shape 25"/>
          <p:cNvSpPr/>
          <p:nvPr/>
        </p:nvSpPr>
        <p:spPr>
          <a:xfrm>
            <a:off x="13258800" y="2429173"/>
            <a:ext cx="9525" cy="1504950"/>
          </a:xfrm>
          <a:prstGeom prst="rect">
            <a:avLst/>
          </a:prstGeom>
          <a:solidFill>
            <a:srgbClr val="2A3450"/>
          </a:solidFill>
          <a:ln/>
        </p:spPr>
      </p:sp>
      <p:sp>
        <p:nvSpPr>
          <p:cNvPr id="28" name="Text 26"/>
          <p:cNvSpPr/>
          <p:nvPr/>
        </p:nvSpPr>
        <p:spPr>
          <a:xfrm>
            <a:off x="13535025" y="2657773"/>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6SENSE TRAFFIC</a:t>
            </a:r>
            <a:endParaRPr lang="en-US" sz="825" dirty="0"/>
          </a:p>
        </p:txBody>
      </p:sp>
      <p:sp>
        <p:nvSpPr>
          <p:cNvPr id="29" name="Text 27"/>
          <p:cNvSpPr/>
          <p:nvPr/>
        </p:nvSpPr>
        <p:spPr>
          <a:xfrm>
            <a:off x="13535025" y="2905423"/>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837</a:t>
            </a:r>
            <a:endParaRPr lang="en-US" sz="4200" dirty="0"/>
          </a:p>
        </p:txBody>
      </p:sp>
      <p:sp>
        <p:nvSpPr>
          <p:cNvPr id="30" name="Text 28"/>
          <p:cNvSpPr/>
          <p:nvPr/>
        </p:nvSpPr>
        <p:spPr>
          <a:xfrm>
            <a:off x="914400" y="4286548"/>
            <a:ext cx="1611511"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TRAFFIC BY SOURCE</a:t>
            </a:r>
            <a:endParaRPr lang="en-US" sz="900" dirty="0"/>
          </a:p>
        </p:txBody>
      </p:sp>
      <p:sp>
        <p:nvSpPr>
          <p:cNvPr id="31" name="Text 29"/>
          <p:cNvSpPr/>
          <p:nvPr/>
        </p:nvSpPr>
        <p:spPr>
          <a:xfrm>
            <a:off x="7739658" y="4286548"/>
            <a:ext cx="1251942"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 OF SESSIONS</a:t>
            </a:r>
            <a:endParaRPr lang="en-US" sz="900" dirty="0"/>
          </a:p>
        </p:txBody>
      </p:sp>
      <p:pic>
        <p:nvPicPr>
          <p:cNvPr id="32" name="Image 0" descr="preencoded.png">    </p:cNvPr>
          <p:cNvPicPr>
            <a:picLocks noChangeAspect="1"/>
          </p:cNvPicPr>
          <p:nvPr/>
        </p:nvPicPr>
        <p:blipFill>
          <a:blip r:embed="rId1"/>
          <a:stretch>
            <a:fillRect/>
          </a:stretch>
        </p:blipFill>
        <p:spPr>
          <a:xfrm>
            <a:off x="914400" y="4553248"/>
            <a:ext cx="8001000" cy="5009852"/>
          </a:xfrm>
          <a:prstGeom prst="rect">
            <a:avLst/>
          </a:prstGeom>
        </p:spPr>
      </p:pic>
      <p:sp>
        <p:nvSpPr>
          <p:cNvPr id="33" name="Text 30"/>
          <p:cNvSpPr/>
          <p:nvPr/>
        </p:nvSpPr>
        <p:spPr>
          <a:xfrm>
            <a:off x="9372600" y="5612309"/>
            <a:ext cx="8241030"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90-DAY ACTION</a:t>
            </a:r>
            <a:endParaRPr lang="en-US" sz="900" dirty="0"/>
          </a:p>
        </p:txBody>
      </p:sp>
      <p:sp>
        <p:nvSpPr>
          <p:cNvPr id="34" name="Text 31"/>
          <p:cNvSpPr/>
          <p:nvPr/>
        </p:nvSpPr>
        <p:spPr>
          <a:xfrm>
            <a:off x="9372600" y="5974259"/>
            <a:ext cx="8241030" cy="1043880"/>
          </a:xfrm>
          <a:prstGeom prst="rect">
            <a:avLst/>
          </a:prstGeom>
          <a:noFill/>
          <a:ln/>
        </p:spPr>
        <p:txBody>
          <a:bodyPr wrap="square" lIns="25400" tIns="25400" rIns="25400" bIns="25400" rtlCol="0" anchor="t">
            <a:normAutofit/>
          </a:bodyPr>
          <a:lstStyle/>
          <a:p>
            <a:pPr algn="l" indent="0" marL="0">
              <a:lnSpc>
                <a:spcPct val="110000"/>
              </a:lnSpc>
              <a:buNone/>
            </a:pPr>
            <a:r>
              <a:rPr lang="en-US" sz="3600" spc="-72" kern="0" dirty="0">
                <a:solidFill>
                  <a:srgbClr val="ECEEF2"/>
                </a:solidFill>
                <a:latin typeface="Arial" pitchFamily="34" charset="0"/>
                <a:ea typeface="Arial" pitchFamily="34" charset="-122"/>
                <a:cs typeface="Arial" pitchFamily="34" charset="-120"/>
              </a:rPr>
              <a:t>Deploy 6sense Web Tag or Clearbit to de-anonymize the </a:t>
            </a:r>
            <a:pPr algn="l" indent="0" marL="0">
              <a:lnSpc>
                <a:spcPct val="110000"/>
              </a:lnSpc>
              <a:buNone/>
            </a:pPr>
            <a:r>
              <a:rPr lang="en-US" sz="3600" spc="-72" kern="0" dirty="0">
                <a:solidFill>
                  <a:srgbClr val="82A6D9"/>
                </a:solidFill>
                <a:latin typeface="Arial" pitchFamily="34" charset="0"/>
                <a:ea typeface="Arial" pitchFamily="34" charset="-122"/>
                <a:cs typeface="Arial" pitchFamily="34" charset="-120"/>
              </a:rPr>
              <a:t>99.7%</a:t>
            </a:r>
            <a:pPr algn="l" indent="0" marL="0">
              <a:lnSpc>
                <a:spcPct val="110000"/>
              </a:lnSpc>
              <a:buNone/>
            </a:pPr>
            <a:r>
              <a:rPr lang="en-US" sz="3600" spc="-72" kern="0" dirty="0">
                <a:solidFill>
                  <a:srgbClr val="ECEEF2"/>
                </a:solidFill>
                <a:latin typeface="Arial" pitchFamily="34" charset="0"/>
                <a:ea typeface="Arial" pitchFamily="34" charset="-122"/>
                <a:cs typeface="Arial" pitchFamily="34" charset="-120"/>
              </a:rPr>
              <a:t>.</a:t>
            </a:r>
            <a:endParaRPr lang="en-US" sz="3600" dirty="0"/>
          </a:p>
        </p:txBody>
      </p:sp>
      <p:sp>
        <p:nvSpPr>
          <p:cNvPr id="35" name="Text 32"/>
          <p:cNvSpPr/>
          <p:nvPr/>
        </p:nvSpPr>
        <p:spPr>
          <a:xfrm>
            <a:off x="9372600" y="7208639"/>
            <a:ext cx="8241030"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7BCC8"/>
                </a:solidFill>
                <a:latin typeface="Arial" pitchFamily="34" charset="0"/>
                <a:ea typeface="Arial" pitchFamily="34" charset="-122"/>
                <a:cs typeface="Arial" pitchFamily="34" charset="-120"/>
              </a:rPr>
              <a:t>Web Inbound as a CRM source already produces 119 deals worth $1.1M from the 0.9% we can identify. De-anonymizing the rest could materially expand inbound pipeline.</a:t>
            </a:r>
            <a:endParaRPr lang="en-US" sz="1800" dirty="0"/>
          </a:p>
        </p:txBody>
      </p:sp>
      <p:sp>
        <p:nvSpPr>
          <p:cNvPr id="36" name="Text 33"/>
          <p:cNvSpPr/>
          <p:nvPr/>
        </p:nvSpPr>
        <p:spPr>
          <a:xfrm>
            <a:off x="762000" y="9791700"/>
            <a:ext cx="1042243"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11 / WEB</a:t>
            </a:r>
            <a:endParaRPr lang="en-US" sz="900" dirty="0"/>
          </a:p>
        </p:txBody>
      </p:sp>
      <p:sp>
        <p:nvSpPr>
          <p:cNvPr id="37" name="Text 34"/>
          <p:cNvSpPr/>
          <p:nvPr/>
        </p:nvSpPr>
        <p:spPr>
          <a:xfrm>
            <a:off x="15807630" y="9791700"/>
            <a:ext cx="1794570"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BASE: 36,931 SESSIONS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663925"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12 / 21 · AD CREATIVE INSIGHTS</a:t>
            </a:r>
            <a:endParaRPr lang="en-US" sz="975" dirty="0"/>
          </a:p>
        </p:txBody>
      </p:sp>
      <p:sp>
        <p:nvSpPr>
          <p:cNvPr id="11" name="Text 9"/>
          <p:cNvSpPr/>
          <p:nvPr/>
        </p:nvSpPr>
        <p:spPr>
          <a:xfrm>
            <a:off x="16592699" y="361950"/>
            <a:ext cx="100950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III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12</a:t>
            </a:r>
            <a:endParaRPr lang="en-US" sz="1125" dirty="0"/>
          </a:p>
        </p:txBody>
      </p:sp>
      <p:sp>
        <p:nvSpPr>
          <p:cNvPr id="13" name="Text 11"/>
          <p:cNvSpPr/>
          <p:nvPr/>
        </p:nvSpPr>
        <p:spPr>
          <a:xfrm>
            <a:off x="1275308" y="800100"/>
            <a:ext cx="1210419"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CREATIVE</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Direct tone &amp; "Request Demo" CTAs win.</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CTR by creative attribute — what to brief into next quarter's campaigns.</a:t>
            </a:r>
            <a:endParaRPr lang="en-US" sz="2100" dirty="0"/>
          </a:p>
        </p:txBody>
      </p:sp>
      <p:sp>
        <p:nvSpPr>
          <p:cNvPr id="16" name="Text 14"/>
          <p:cNvSpPr/>
          <p:nvPr/>
        </p:nvSpPr>
        <p:spPr>
          <a:xfrm>
            <a:off x="914400" y="2790676"/>
            <a:ext cx="1064865"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CTR BY TONE</a:t>
            </a:r>
            <a:endParaRPr lang="en-US" sz="900" dirty="0"/>
          </a:p>
        </p:txBody>
      </p:sp>
      <p:sp>
        <p:nvSpPr>
          <p:cNvPr id="17" name="Text 15"/>
          <p:cNvSpPr/>
          <p:nvPr/>
        </p:nvSpPr>
        <p:spPr>
          <a:xfrm>
            <a:off x="7482780" y="2790676"/>
            <a:ext cx="1470720"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 CLICK-THROUGH</a:t>
            </a:r>
            <a:endParaRPr lang="en-US" sz="900" dirty="0"/>
          </a:p>
        </p:txBody>
      </p:sp>
      <p:pic>
        <p:nvPicPr>
          <p:cNvPr id="18" name="Image 0" descr="preencoded.png">    </p:cNvPr>
          <p:cNvPicPr>
            <a:picLocks noChangeAspect="1"/>
          </p:cNvPicPr>
          <p:nvPr/>
        </p:nvPicPr>
        <p:blipFill>
          <a:blip r:embed="rId1"/>
          <a:stretch>
            <a:fillRect/>
          </a:stretch>
        </p:blipFill>
        <p:spPr>
          <a:xfrm>
            <a:off x="914400" y="3057376"/>
            <a:ext cx="7962900" cy="5469582"/>
          </a:xfrm>
          <a:prstGeom prst="rect">
            <a:avLst/>
          </a:prstGeom>
        </p:spPr>
      </p:pic>
      <p:sp>
        <p:nvSpPr>
          <p:cNvPr id="19" name="Text 16"/>
          <p:cNvSpPr/>
          <p:nvPr/>
        </p:nvSpPr>
        <p:spPr>
          <a:xfrm>
            <a:off x="9410700" y="2790676"/>
            <a:ext cx="1461939"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CTR BY CTA STYLE</a:t>
            </a:r>
            <a:endParaRPr lang="en-US" sz="900" dirty="0"/>
          </a:p>
        </p:txBody>
      </p:sp>
      <p:sp>
        <p:nvSpPr>
          <p:cNvPr id="20" name="Text 17"/>
          <p:cNvSpPr/>
          <p:nvPr/>
        </p:nvSpPr>
        <p:spPr>
          <a:xfrm>
            <a:off x="15979080" y="2790676"/>
            <a:ext cx="1470720"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 CLICK-THROUGH</a:t>
            </a:r>
            <a:endParaRPr lang="en-US" sz="900" dirty="0"/>
          </a:p>
        </p:txBody>
      </p:sp>
      <p:pic>
        <p:nvPicPr>
          <p:cNvPr id="21" name="Image 1" descr="preencoded.png">    </p:cNvPr>
          <p:cNvPicPr>
            <a:picLocks noChangeAspect="1"/>
          </p:cNvPicPr>
          <p:nvPr/>
        </p:nvPicPr>
        <p:blipFill>
          <a:blip r:embed="rId2"/>
          <a:stretch>
            <a:fillRect/>
          </a:stretch>
        </p:blipFill>
        <p:spPr>
          <a:xfrm>
            <a:off x="9410700" y="3057376"/>
            <a:ext cx="7962900" cy="5469582"/>
          </a:xfrm>
          <a:prstGeom prst="rect">
            <a:avLst/>
          </a:prstGeom>
        </p:spPr>
      </p:pic>
      <p:sp>
        <p:nvSpPr>
          <p:cNvPr id="22" name="Shape 18"/>
          <p:cNvSpPr/>
          <p:nvPr/>
        </p:nvSpPr>
        <p:spPr>
          <a:xfrm>
            <a:off x="914400" y="8736509"/>
            <a:ext cx="16459200" cy="9525"/>
          </a:xfrm>
          <a:prstGeom prst="rect">
            <a:avLst/>
          </a:prstGeom>
          <a:solidFill>
            <a:srgbClr val="2A3450"/>
          </a:solidFill>
          <a:ln/>
        </p:spPr>
      </p:sp>
      <p:sp>
        <p:nvSpPr>
          <p:cNvPr id="23" name="Text 19"/>
          <p:cNvSpPr/>
          <p:nvPr/>
        </p:nvSpPr>
        <p:spPr>
          <a:xfrm>
            <a:off x="914400" y="8955584"/>
            <a:ext cx="2171700" cy="645616"/>
          </a:xfrm>
          <a:prstGeom prst="rect">
            <a:avLst/>
          </a:prstGeom>
          <a:noFill/>
          <a:ln/>
        </p:spPr>
        <p:txBody>
          <a:bodyPr wrap="square" lIns="25400" tIns="25400" rIns="25400" bIns="25400" rtlCol="0" anchor="t">
            <a:normAutofit/>
          </a:bodyPr>
          <a:lstStyle/>
          <a:p>
            <a:pPr algn="l" indent="0" marL="0">
              <a:buNone/>
            </a:pPr>
            <a:r>
              <a:rPr lang="en-US" sz="900" spc="198" kern="0" dirty="0">
                <a:solidFill>
                  <a:srgbClr val="82A6D9"/>
                </a:solidFill>
                <a:latin typeface="Arial" pitchFamily="34" charset="0"/>
                <a:ea typeface="Arial" pitchFamily="34" charset="-122"/>
                <a:cs typeface="Arial" pitchFamily="34" charset="-120"/>
              </a:rPr>
              <a:t>BRIEF IMPLICATION</a:t>
            </a:r>
            <a:endParaRPr lang="en-US" sz="900" dirty="0"/>
          </a:p>
        </p:txBody>
      </p:sp>
      <p:sp>
        <p:nvSpPr>
          <p:cNvPr id="24" name="Text 20"/>
          <p:cNvSpPr/>
          <p:nvPr/>
        </p:nvSpPr>
        <p:spPr>
          <a:xfrm>
            <a:off x="3352800" y="8955584"/>
            <a:ext cx="1444142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Next-quarter creative briefs should default to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direct tone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with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"Request Demo"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CTAs for Decision-stage audiences; reserve inspirational tone and softer CTAs for early-stage awareness.</a:t>
            </a:r>
            <a:endParaRPr lang="en-US" sz="1650" dirty="0"/>
          </a:p>
        </p:txBody>
      </p:sp>
      <p:sp>
        <p:nvSpPr>
          <p:cNvPr id="25" name="Text 21"/>
          <p:cNvSpPr/>
          <p:nvPr/>
        </p:nvSpPr>
        <p:spPr>
          <a:xfrm>
            <a:off x="762000" y="9791700"/>
            <a:ext cx="1444972"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12 / CREATIVE</a:t>
            </a:r>
            <a:endParaRPr lang="en-US" sz="900" dirty="0"/>
          </a:p>
        </p:txBody>
      </p:sp>
      <p:sp>
        <p:nvSpPr>
          <p:cNvPr id="26" name="Text 22"/>
          <p:cNvSpPr/>
          <p:nvPr/>
        </p:nvSpPr>
        <p:spPr>
          <a:xfrm>
            <a:off x="15816263" y="9791700"/>
            <a:ext cx="1785938"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BASE: 4,626 CREATIVES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875470"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13 / 21 · SEGMENT &amp; ICP ANALYSIS</a:t>
            </a:r>
            <a:endParaRPr lang="en-US" sz="975" dirty="0"/>
          </a:p>
        </p:txBody>
      </p:sp>
      <p:sp>
        <p:nvSpPr>
          <p:cNvPr id="11" name="Text 9"/>
          <p:cNvSpPr/>
          <p:nvPr/>
        </p:nvSpPr>
        <p:spPr>
          <a:xfrm>
            <a:off x="16601331" y="361950"/>
            <a:ext cx="1000869"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IV</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13</a:t>
            </a:r>
            <a:endParaRPr lang="en-US" sz="1125" dirty="0"/>
          </a:p>
        </p:txBody>
      </p:sp>
      <p:sp>
        <p:nvSpPr>
          <p:cNvPr id="13" name="Text 11"/>
          <p:cNvSpPr/>
          <p:nvPr/>
        </p:nvSpPr>
        <p:spPr>
          <a:xfrm>
            <a:off x="1275308" y="800100"/>
            <a:ext cx="1308199"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SEGMENTS</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Win rate × deal size = where to spend.</a:t>
            </a:r>
            <a:endParaRPr lang="en-US" sz="5700" dirty="0"/>
          </a:p>
        </p:txBody>
      </p:sp>
      <p:sp>
        <p:nvSpPr>
          <p:cNvPr id="15" name="Text 13"/>
          <p:cNvSpPr/>
          <p:nvPr/>
        </p:nvSpPr>
        <p:spPr>
          <a:xfrm>
            <a:off x="914400" y="2381548"/>
            <a:ext cx="3108935"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WIN RATE × AVG DEAL SIZE BY SEGMENT</a:t>
            </a:r>
            <a:endParaRPr lang="en-US" sz="900" dirty="0"/>
          </a:p>
        </p:txBody>
      </p:sp>
      <p:sp>
        <p:nvSpPr>
          <p:cNvPr id="16" name="Text 14"/>
          <p:cNvSpPr/>
          <p:nvPr/>
        </p:nvSpPr>
        <p:spPr>
          <a:xfrm>
            <a:off x="8261003" y="2381548"/>
            <a:ext cx="1774180"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BUBBLE = PIPELINE $M</a:t>
            </a:r>
            <a:endParaRPr lang="en-US" sz="900" dirty="0"/>
          </a:p>
        </p:txBody>
      </p:sp>
      <p:pic>
        <p:nvPicPr>
          <p:cNvPr id="17" name="Image 0" descr="preencoded.png">    </p:cNvPr>
          <p:cNvPicPr>
            <a:picLocks noChangeAspect="1"/>
          </p:cNvPicPr>
          <p:nvPr/>
        </p:nvPicPr>
        <p:blipFill>
          <a:blip r:embed="rId1"/>
          <a:stretch>
            <a:fillRect/>
          </a:stretch>
        </p:blipFill>
        <p:spPr>
          <a:xfrm>
            <a:off x="914400" y="2648248"/>
            <a:ext cx="9044583" cy="6914852"/>
          </a:xfrm>
          <a:prstGeom prst="rect">
            <a:avLst/>
          </a:prstGeom>
        </p:spPr>
      </p:pic>
      <p:sp>
        <p:nvSpPr>
          <p:cNvPr id="18" name="Text 15"/>
          <p:cNvSpPr/>
          <p:nvPr/>
        </p:nvSpPr>
        <p:spPr>
          <a:xfrm>
            <a:off x="10416183" y="2381548"/>
            <a:ext cx="7166140"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ICP CONTACTS BY SENIORITY</a:t>
            </a:r>
            <a:endParaRPr lang="en-US" sz="900" dirty="0"/>
          </a:p>
        </p:txBody>
      </p:sp>
      <p:sp>
        <p:nvSpPr>
          <p:cNvPr id="19" name="Shape 16"/>
          <p:cNvSpPr/>
          <p:nvPr/>
        </p:nvSpPr>
        <p:spPr>
          <a:xfrm>
            <a:off x="10416183" y="3119735"/>
            <a:ext cx="2067967" cy="9525"/>
          </a:xfrm>
          <a:prstGeom prst="rect">
            <a:avLst/>
          </a:prstGeom>
          <a:solidFill>
            <a:srgbClr val="2A3450"/>
          </a:solidFill>
          <a:ln/>
        </p:spPr>
      </p:sp>
      <p:sp>
        <p:nvSpPr>
          <p:cNvPr id="20" name="Text 17"/>
          <p:cNvSpPr/>
          <p:nvPr/>
        </p:nvSpPr>
        <p:spPr>
          <a:xfrm>
            <a:off x="10530483" y="2819698"/>
            <a:ext cx="1915567" cy="204788"/>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C-Level</a:t>
            </a:r>
            <a:endParaRPr lang="en-US" sz="1200" dirty="0"/>
          </a:p>
        </p:txBody>
      </p:sp>
      <p:sp>
        <p:nvSpPr>
          <p:cNvPr id="21" name="Shape 18"/>
          <p:cNvSpPr/>
          <p:nvPr/>
        </p:nvSpPr>
        <p:spPr>
          <a:xfrm>
            <a:off x="12484150" y="3119735"/>
            <a:ext cx="1087041" cy="9525"/>
          </a:xfrm>
          <a:prstGeom prst="rect">
            <a:avLst/>
          </a:prstGeom>
          <a:solidFill>
            <a:srgbClr val="2A3450"/>
          </a:solidFill>
          <a:ln/>
        </p:spPr>
      </p:sp>
      <p:sp>
        <p:nvSpPr>
          <p:cNvPr id="22" name="Text 19"/>
          <p:cNvSpPr/>
          <p:nvPr/>
        </p:nvSpPr>
        <p:spPr>
          <a:xfrm>
            <a:off x="12522250" y="2819698"/>
            <a:ext cx="934641" cy="204788"/>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9,872</a:t>
            </a:r>
            <a:endParaRPr lang="en-US" sz="1200" dirty="0"/>
          </a:p>
        </p:txBody>
      </p:sp>
      <p:sp>
        <p:nvSpPr>
          <p:cNvPr id="23" name="Shape 20"/>
          <p:cNvSpPr/>
          <p:nvPr/>
        </p:nvSpPr>
        <p:spPr>
          <a:xfrm>
            <a:off x="13571190" y="3119735"/>
            <a:ext cx="3802410" cy="9525"/>
          </a:xfrm>
          <a:prstGeom prst="rect">
            <a:avLst/>
          </a:prstGeom>
          <a:solidFill>
            <a:srgbClr val="2A3450"/>
          </a:solidFill>
          <a:ln/>
        </p:spPr>
      </p:sp>
      <p:sp>
        <p:nvSpPr>
          <p:cNvPr id="24" name="Shape 21"/>
          <p:cNvSpPr/>
          <p:nvPr/>
        </p:nvSpPr>
        <p:spPr>
          <a:xfrm>
            <a:off x="15354300" y="2876848"/>
            <a:ext cx="1905000" cy="57150"/>
          </a:xfrm>
          <a:prstGeom prst="rect">
            <a:avLst/>
          </a:prstGeom>
          <a:solidFill>
            <a:srgbClr val="82A6D9"/>
          </a:solidFill>
          <a:ln/>
        </p:spPr>
      </p:sp>
      <p:sp>
        <p:nvSpPr>
          <p:cNvPr id="25" name="Shape 22"/>
          <p:cNvSpPr/>
          <p:nvPr/>
        </p:nvSpPr>
        <p:spPr>
          <a:xfrm>
            <a:off x="10416183" y="3567410"/>
            <a:ext cx="2067967" cy="9525"/>
          </a:xfrm>
          <a:prstGeom prst="rect">
            <a:avLst/>
          </a:prstGeom>
          <a:solidFill>
            <a:srgbClr val="2A3450"/>
          </a:solidFill>
          <a:ln/>
        </p:spPr>
      </p:sp>
      <p:sp>
        <p:nvSpPr>
          <p:cNvPr id="26" name="Text 23"/>
          <p:cNvSpPr/>
          <p:nvPr/>
        </p:nvSpPr>
        <p:spPr>
          <a:xfrm>
            <a:off x="10530483" y="3262610"/>
            <a:ext cx="1915567"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Director</a:t>
            </a:r>
            <a:endParaRPr lang="en-US" sz="1200" dirty="0"/>
          </a:p>
        </p:txBody>
      </p:sp>
      <p:sp>
        <p:nvSpPr>
          <p:cNvPr id="27" name="Shape 24"/>
          <p:cNvSpPr/>
          <p:nvPr/>
        </p:nvSpPr>
        <p:spPr>
          <a:xfrm>
            <a:off x="12484150" y="3567410"/>
            <a:ext cx="1087041" cy="9525"/>
          </a:xfrm>
          <a:prstGeom prst="rect">
            <a:avLst/>
          </a:prstGeom>
          <a:solidFill>
            <a:srgbClr val="2A3450"/>
          </a:solidFill>
          <a:ln/>
        </p:spPr>
      </p:sp>
      <p:sp>
        <p:nvSpPr>
          <p:cNvPr id="28" name="Text 25"/>
          <p:cNvSpPr/>
          <p:nvPr/>
        </p:nvSpPr>
        <p:spPr>
          <a:xfrm>
            <a:off x="12522250" y="3262610"/>
            <a:ext cx="93464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8,606</a:t>
            </a:r>
            <a:endParaRPr lang="en-US" sz="1200" dirty="0"/>
          </a:p>
        </p:txBody>
      </p:sp>
      <p:sp>
        <p:nvSpPr>
          <p:cNvPr id="29" name="Shape 26"/>
          <p:cNvSpPr/>
          <p:nvPr/>
        </p:nvSpPr>
        <p:spPr>
          <a:xfrm>
            <a:off x="13571190" y="3567410"/>
            <a:ext cx="3802410" cy="9525"/>
          </a:xfrm>
          <a:prstGeom prst="rect">
            <a:avLst/>
          </a:prstGeom>
          <a:solidFill>
            <a:srgbClr val="2A3450"/>
          </a:solidFill>
          <a:ln/>
        </p:spPr>
      </p:sp>
      <p:sp>
        <p:nvSpPr>
          <p:cNvPr id="30" name="Shape 27"/>
          <p:cNvSpPr/>
          <p:nvPr/>
        </p:nvSpPr>
        <p:spPr>
          <a:xfrm>
            <a:off x="15601950" y="3324523"/>
            <a:ext cx="1657350" cy="57150"/>
          </a:xfrm>
          <a:prstGeom prst="rect">
            <a:avLst/>
          </a:prstGeom>
          <a:solidFill>
            <a:srgbClr val="82A6D9"/>
          </a:solidFill>
          <a:ln/>
        </p:spPr>
      </p:sp>
      <p:sp>
        <p:nvSpPr>
          <p:cNvPr id="31" name="Shape 28"/>
          <p:cNvSpPr/>
          <p:nvPr/>
        </p:nvSpPr>
        <p:spPr>
          <a:xfrm>
            <a:off x="10416183" y="4015085"/>
            <a:ext cx="2067967" cy="9525"/>
          </a:xfrm>
          <a:prstGeom prst="rect">
            <a:avLst/>
          </a:prstGeom>
          <a:solidFill>
            <a:srgbClr val="2A3450"/>
          </a:solidFill>
          <a:ln/>
        </p:spPr>
      </p:sp>
      <p:sp>
        <p:nvSpPr>
          <p:cNvPr id="32" name="Text 29"/>
          <p:cNvSpPr/>
          <p:nvPr/>
        </p:nvSpPr>
        <p:spPr>
          <a:xfrm>
            <a:off x="10530483" y="3710285"/>
            <a:ext cx="1915567"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VP</a:t>
            </a:r>
            <a:endParaRPr lang="en-US" sz="1200" dirty="0"/>
          </a:p>
        </p:txBody>
      </p:sp>
      <p:sp>
        <p:nvSpPr>
          <p:cNvPr id="33" name="Shape 30"/>
          <p:cNvSpPr/>
          <p:nvPr/>
        </p:nvSpPr>
        <p:spPr>
          <a:xfrm>
            <a:off x="12484150" y="4015085"/>
            <a:ext cx="1087041" cy="9525"/>
          </a:xfrm>
          <a:prstGeom prst="rect">
            <a:avLst/>
          </a:prstGeom>
          <a:solidFill>
            <a:srgbClr val="2A3450"/>
          </a:solidFill>
          <a:ln/>
        </p:spPr>
      </p:sp>
      <p:sp>
        <p:nvSpPr>
          <p:cNvPr id="34" name="Text 31"/>
          <p:cNvSpPr/>
          <p:nvPr/>
        </p:nvSpPr>
        <p:spPr>
          <a:xfrm>
            <a:off x="12522250" y="3710285"/>
            <a:ext cx="93464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7,746</a:t>
            </a:r>
            <a:endParaRPr lang="en-US" sz="1200" dirty="0"/>
          </a:p>
        </p:txBody>
      </p:sp>
      <p:sp>
        <p:nvSpPr>
          <p:cNvPr id="35" name="Shape 32"/>
          <p:cNvSpPr/>
          <p:nvPr/>
        </p:nvSpPr>
        <p:spPr>
          <a:xfrm>
            <a:off x="13571190" y="4015085"/>
            <a:ext cx="3802410" cy="9525"/>
          </a:xfrm>
          <a:prstGeom prst="rect">
            <a:avLst/>
          </a:prstGeom>
          <a:solidFill>
            <a:srgbClr val="2A3450"/>
          </a:solidFill>
          <a:ln/>
        </p:spPr>
      </p:sp>
      <p:sp>
        <p:nvSpPr>
          <p:cNvPr id="36" name="Shape 33"/>
          <p:cNvSpPr/>
          <p:nvPr/>
        </p:nvSpPr>
        <p:spPr>
          <a:xfrm>
            <a:off x="15763875" y="3772198"/>
            <a:ext cx="1495425" cy="57150"/>
          </a:xfrm>
          <a:prstGeom prst="rect">
            <a:avLst/>
          </a:prstGeom>
          <a:solidFill>
            <a:srgbClr val="82A6D9"/>
          </a:solidFill>
          <a:ln/>
        </p:spPr>
      </p:sp>
      <p:sp>
        <p:nvSpPr>
          <p:cNvPr id="37" name="Shape 34"/>
          <p:cNvSpPr/>
          <p:nvPr/>
        </p:nvSpPr>
        <p:spPr>
          <a:xfrm>
            <a:off x="10416183" y="4462760"/>
            <a:ext cx="2067967" cy="9525"/>
          </a:xfrm>
          <a:prstGeom prst="rect">
            <a:avLst/>
          </a:prstGeom>
          <a:solidFill>
            <a:srgbClr val="2A3450"/>
          </a:solidFill>
          <a:ln/>
        </p:spPr>
      </p:sp>
      <p:sp>
        <p:nvSpPr>
          <p:cNvPr id="38" name="Text 35"/>
          <p:cNvSpPr/>
          <p:nvPr/>
        </p:nvSpPr>
        <p:spPr>
          <a:xfrm>
            <a:off x="10530483" y="4157960"/>
            <a:ext cx="1915567"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Manager</a:t>
            </a:r>
            <a:endParaRPr lang="en-US" sz="1200" dirty="0"/>
          </a:p>
        </p:txBody>
      </p:sp>
      <p:sp>
        <p:nvSpPr>
          <p:cNvPr id="39" name="Shape 36"/>
          <p:cNvSpPr/>
          <p:nvPr/>
        </p:nvSpPr>
        <p:spPr>
          <a:xfrm>
            <a:off x="12484150" y="4462760"/>
            <a:ext cx="1087041" cy="9525"/>
          </a:xfrm>
          <a:prstGeom prst="rect">
            <a:avLst/>
          </a:prstGeom>
          <a:solidFill>
            <a:srgbClr val="2A3450"/>
          </a:solidFill>
          <a:ln/>
        </p:spPr>
      </p:sp>
      <p:sp>
        <p:nvSpPr>
          <p:cNvPr id="40" name="Text 37"/>
          <p:cNvSpPr/>
          <p:nvPr/>
        </p:nvSpPr>
        <p:spPr>
          <a:xfrm>
            <a:off x="12522250" y="4157960"/>
            <a:ext cx="93464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5,353</a:t>
            </a:r>
            <a:endParaRPr lang="en-US" sz="1200" dirty="0"/>
          </a:p>
        </p:txBody>
      </p:sp>
      <p:sp>
        <p:nvSpPr>
          <p:cNvPr id="41" name="Shape 38"/>
          <p:cNvSpPr/>
          <p:nvPr/>
        </p:nvSpPr>
        <p:spPr>
          <a:xfrm>
            <a:off x="13571190" y="4462760"/>
            <a:ext cx="3802410" cy="9525"/>
          </a:xfrm>
          <a:prstGeom prst="rect">
            <a:avLst/>
          </a:prstGeom>
          <a:solidFill>
            <a:srgbClr val="2A3450"/>
          </a:solidFill>
          <a:ln/>
        </p:spPr>
      </p:sp>
      <p:sp>
        <p:nvSpPr>
          <p:cNvPr id="42" name="Shape 39"/>
          <p:cNvSpPr/>
          <p:nvPr/>
        </p:nvSpPr>
        <p:spPr>
          <a:xfrm>
            <a:off x="16230600" y="4219873"/>
            <a:ext cx="1028700" cy="57150"/>
          </a:xfrm>
          <a:prstGeom prst="rect">
            <a:avLst/>
          </a:prstGeom>
          <a:solidFill>
            <a:srgbClr val="C99A4F"/>
          </a:solidFill>
          <a:ln/>
        </p:spPr>
      </p:sp>
      <p:sp>
        <p:nvSpPr>
          <p:cNvPr id="43" name="Shape 40"/>
          <p:cNvSpPr/>
          <p:nvPr/>
        </p:nvSpPr>
        <p:spPr>
          <a:xfrm>
            <a:off x="10416183" y="4910435"/>
            <a:ext cx="2067967" cy="9525"/>
          </a:xfrm>
          <a:prstGeom prst="rect">
            <a:avLst/>
          </a:prstGeom>
          <a:solidFill>
            <a:srgbClr val="2A3450"/>
          </a:solidFill>
          <a:ln/>
        </p:spPr>
      </p:sp>
      <p:sp>
        <p:nvSpPr>
          <p:cNvPr id="44" name="Text 41"/>
          <p:cNvSpPr/>
          <p:nvPr/>
        </p:nvSpPr>
        <p:spPr>
          <a:xfrm>
            <a:off x="10530483" y="4605635"/>
            <a:ext cx="1915567"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Senior VP</a:t>
            </a:r>
            <a:endParaRPr lang="en-US" sz="1200" dirty="0"/>
          </a:p>
        </p:txBody>
      </p:sp>
      <p:sp>
        <p:nvSpPr>
          <p:cNvPr id="45" name="Shape 42"/>
          <p:cNvSpPr/>
          <p:nvPr/>
        </p:nvSpPr>
        <p:spPr>
          <a:xfrm>
            <a:off x="12484150" y="4910435"/>
            <a:ext cx="1087041" cy="9525"/>
          </a:xfrm>
          <a:prstGeom prst="rect">
            <a:avLst/>
          </a:prstGeom>
          <a:solidFill>
            <a:srgbClr val="2A3450"/>
          </a:solidFill>
          <a:ln/>
        </p:spPr>
      </p:sp>
      <p:sp>
        <p:nvSpPr>
          <p:cNvPr id="46" name="Text 43"/>
          <p:cNvSpPr/>
          <p:nvPr/>
        </p:nvSpPr>
        <p:spPr>
          <a:xfrm>
            <a:off x="12522250" y="4605635"/>
            <a:ext cx="93464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1,440</a:t>
            </a:r>
            <a:endParaRPr lang="en-US" sz="1200" dirty="0"/>
          </a:p>
        </p:txBody>
      </p:sp>
      <p:sp>
        <p:nvSpPr>
          <p:cNvPr id="47" name="Shape 44"/>
          <p:cNvSpPr/>
          <p:nvPr/>
        </p:nvSpPr>
        <p:spPr>
          <a:xfrm>
            <a:off x="13571190" y="4910435"/>
            <a:ext cx="3802410" cy="9525"/>
          </a:xfrm>
          <a:prstGeom prst="rect">
            <a:avLst/>
          </a:prstGeom>
          <a:solidFill>
            <a:srgbClr val="2A3450"/>
          </a:solidFill>
          <a:ln/>
        </p:spPr>
      </p:sp>
      <p:sp>
        <p:nvSpPr>
          <p:cNvPr id="48" name="Shape 45"/>
          <p:cNvSpPr/>
          <p:nvPr/>
        </p:nvSpPr>
        <p:spPr>
          <a:xfrm>
            <a:off x="16973550" y="4667548"/>
            <a:ext cx="285750" cy="57150"/>
          </a:xfrm>
          <a:prstGeom prst="rect">
            <a:avLst/>
          </a:prstGeom>
          <a:solidFill>
            <a:srgbClr val="C99A4F"/>
          </a:solidFill>
          <a:ln/>
        </p:spPr>
      </p:sp>
      <p:sp>
        <p:nvSpPr>
          <p:cNvPr id="49" name="Shape 46"/>
          <p:cNvSpPr/>
          <p:nvPr/>
        </p:nvSpPr>
        <p:spPr>
          <a:xfrm>
            <a:off x="10416183" y="5358110"/>
            <a:ext cx="2067967" cy="9525"/>
          </a:xfrm>
          <a:prstGeom prst="rect">
            <a:avLst/>
          </a:prstGeom>
          <a:solidFill>
            <a:srgbClr val="2A3450"/>
          </a:solidFill>
          <a:ln/>
        </p:spPr>
      </p:sp>
      <p:sp>
        <p:nvSpPr>
          <p:cNvPr id="50" name="Text 47"/>
          <p:cNvSpPr/>
          <p:nvPr/>
        </p:nvSpPr>
        <p:spPr>
          <a:xfrm>
            <a:off x="10530483" y="5053310"/>
            <a:ext cx="1915567"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Unknown</a:t>
            </a:r>
            <a:endParaRPr lang="en-US" sz="1200" dirty="0"/>
          </a:p>
        </p:txBody>
      </p:sp>
      <p:sp>
        <p:nvSpPr>
          <p:cNvPr id="51" name="Shape 48"/>
          <p:cNvSpPr/>
          <p:nvPr/>
        </p:nvSpPr>
        <p:spPr>
          <a:xfrm>
            <a:off x="12484150" y="5358110"/>
            <a:ext cx="1087041" cy="9525"/>
          </a:xfrm>
          <a:prstGeom prst="rect">
            <a:avLst/>
          </a:prstGeom>
          <a:solidFill>
            <a:srgbClr val="2A3450"/>
          </a:solidFill>
          <a:ln/>
        </p:spPr>
      </p:sp>
      <p:sp>
        <p:nvSpPr>
          <p:cNvPr id="52" name="Text 49"/>
          <p:cNvSpPr/>
          <p:nvPr/>
        </p:nvSpPr>
        <p:spPr>
          <a:xfrm>
            <a:off x="12522250" y="5053310"/>
            <a:ext cx="93464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7C8493"/>
                </a:solidFill>
                <a:latin typeface="Arial" pitchFamily="34" charset="0"/>
                <a:ea typeface="Arial" pitchFamily="34" charset="-122"/>
                <a:cs typeface="Arial" pitchFamily="34" charset="-120"/>
              </a:rPr>
              <a:t>3,710</a:t>
            </a:r>
            <a:endParaRPr lang="en-US" sz="1200" dirty="0"/>
          </a:p>
        </p:txBody>
      </p:sp>
      <p:sp>
        <p:nvSpPr>
          <p:cNvPr id="53" name="Shape 50"/>
          <p:cNvSpPr/>
          <p:nvPr/>
        </p:nvSpPr>
        <p:spPr>
          <a:xfrm>
            <a:off x="13571190" y="5358110"/>
            <a:ext cx="3802410" cy="9525"/>
          </a:xfrm>
          <a:prstGeom prst="rect">
            <a:avLst/>
          </a:prstGeom>
          <a:solidFill>
            <a:srgbClr val="2A3450"/>
          </a:solidFill>
          <a:ln/>
        </p:spPr>
      </p:sp>
      <p:sp>
        <p:nvSpPr>
          <p:cNvPr id="54" name="Shape 51"/>
          <p:cNvSpPr/>
          <p:nvPr/>
        </p:nvSpPr>
        <p:spPr>
          <a:xfrm>
            <a:off x="16544925" y="5115223"/>
            <a:ext cx="714375" cy="57150"/>
          </a:xfrm>
          <a:prstGeom prst="rect">
            <a:avLst/>
          </a:prstGeom>
          <a:solidFill>
            <a:srgbClr val="555C6B"/>
          </a:solidFill>
          <a:ln/>
        </p:spPr>
      </p:sp>
      <p:sp>
        <p:nvSpPr>
          <p:cNvPr id="55" name="Shape 52"/>
          <p:cNvSpPr/>
          <p:nvPr/>
        </p:nvSpPr>
        <p:spPr>
          <a:xfrm>
            <a:off x="10416183" y="5805785"/>
            <a:ext cx="2067967" cy="9525"/>
          </a:xfrm>
          <a:prstGeom prst="rect">
            <a:avLst/>
          </a:prstGeom>
          <a:solidFill>
            <a:srgbClr val="2A3450"/>
          </a:solidFill>
          <a:ln/>
        </p:spPr>
      </p:sp>
      <p:sp>
        <p:nvSpPr>
          <p:cNvPr id="56" name="Text 53"/>
          <p:cNvSpPr/>
          <p:nvPr/>
        </p:nvSpPr>
        <p:spPr>
          <a:xfrm>
            <a:off x="10530483" y="5500985"/>
            <a:ext cx="1915567"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Non-Manager</a:t>
            </a:r>
            <a:endParaRPr lang="en-US" sz="1200" dirty="0"/>
          </a:p>
        </p:txBody>
      </p:sp>
      <p:sp>
        <p:nvSpPr>
          <p:cNvPr id="57" name="Shape 54"/>
          <p:cNvSpPr/>
          <p:nvPr/>
        </p:nvSpPr>
        <p:spPr>
          <a:xfrm>
            <a:off x="12484150" y="5805785"/>
            <a:ext cx="1087041" cy="9525"/>
          </a:xfrm>
          <a:prstGeom prst="rect">
            <a:avLst/>
          </a:prstGeom>
          <a:solidFill>
            <a:srgbClr val="2A3450"/>
          </a:solidFill>
          <a:ln/>
        </p:spPr>
      </p:sp>
      <p:sp>
        <p:nvSpPr>
          <p:cNvPr id="58" name="Text 55"/>
          <p:cNvSpPr/>
          <p:nvPr/>
        </p:nvSpPr>
        <p:spPr>
          <a:xfrm>
            <a:off x="12522250" y="5500985"/>
            <a:ext cx="93464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7C8493"/>
                </a:solidFill>
                <a:latin typeface="Arial" pitchFamily="34" charset="0"/>
                <a:ea typeface="Arial" pitchFamily="34" charset="-122"/>
                <a:cs typeface="Arial" pitchFamily="34" charset="-120"/>
              </a:rPr>
              <a:t>133</a:t>
            </a:r>
            <a:endParaRPr lang="en-US" sz="1200" dirty="0"/>
          </a:p>
        </p:txBody>
      </p:sp>
      <p:sp>
        <p:nvSpPr>
          <p:cNvPr id="59" name="Shape 56"/>
          <p:cNvSpPr/>
          <p:nvPr/>
        </p:nvSpPr>
        <p:spPr>
          <a:xfrm>
            <a:off x="13571190" y="5805785"/>
            <a:ext cx="3802410" cy="9525"/>
          </a:xfrm>
          <a:prstGeom prst="rect">
            <a:avLst/>
          </a:prstGeom>
          <a:solidFill>
            <a:srgbClr val="2A3450"/>
          </a:solidFill>
          <a:ln/>
        </p:spPr>
      </p:sp>
      <p:sp>
        <p:nvSpPr>
          <p:cNvPr id="60" name="Text 57"/>
          <p:cNvSpPr/>
          <p:nvPr/>
        </p:nvSpPr>
        <p:spPr>
          <a:xfrm>
            <a:off x="13571418" y="5500985"/>
            <a:ext cx="3687882"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7C8493"/>
                </a:solidFill>
                <a:latin typeface="Arial" pitchFamily="34" charset="0"/>
                <a:ea typeface="Arial" pitchFamily="34" charset="-122"/>
                <a:cs typeface="Arial" pitchFamily="34" charset="-120"/>
              </a:rPr>
              <a:t>·</a:t>
            </a:r>
            <a:endParaRPr lang="en-US" sz="1200" dirty="0"/>
          </a:p>
        </p:txBody>
      </p:sp>
      <p:sp>
        <p:nvSpPr>
          <p:cNvPr id="61" name="Text 58"/>
          <p:cNvSpPr/>
          <p:nvPr/>
        </p:nvSpPr>
        <p:spPr>
          <a:xfrm>
            <a:off x="10416183" y="5991523"/>
            <a:ext cx="7166140" cy="228600"/>
          </a:xfrm>
          <a:prstGeom prst="rect">
            <a:avLst/>
          </a:prstGeom>
          <a:noFill/>
          <a:ln/>
        </p:spPr>
        <p:txBody>
          <a:bodyPr wrap="square" lIns="25400" tIns="25400" rIns="25400" bIns="25400" rtlCol="0" anchor="t">
            <a:normAutofit/>
          </a:bodyPr>
          <a:lstStyle/>
          <a:p>
            <a:pPr algn="l" indent="0" marL="0">
              <a:buNone/>
            </a:pPr>
            <a:r>
              <a:rPr lang="en-US" sz="1275" spc="204" kern="0" dirty="0">
                <a:solidFill>
                  <a:srgbClr val="7C8493"/>
                </a:solidFill>
                <a:latin typeface="Arial" pitchFamily="34" charset="0"/>
                <a:ea typeface="Arial" pitchFamily="34" charset="-122"/>
                <a:cs typeface="Arial" pitchFamily="34" charset="-120"/>
              </a:rPr>
              <a:t>3,710 UNKNOWN-SENIORITY RECORDS → ENRICH</a:t>
            </a:r>
            <a:endParaRPr lang="en-US" sz="1275" dirty="0"/>
          </a:p>
        </p:txBody>
      </p:sp>
      <p:sp>
        <p:nvSpPr>
          <p:cNvPr id="62" name="Text 59"/>
          <p:cNvSpPr/>
          <p:nvPr/>
        </p:nvSpPr>
        <p:spPr>
          <a:xfrm>
            <a:off x="762000" y="9791700"/>
            <a:ext cx="1428750"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13 / SEGMENT</a:t>
            </a:r>
            <a:endParaRPr lang="en-US" sz="900" dirty="0"/>
          </a:p>
        </p:txBody>
      </p:sp>
      <p:sp>
        <p:nvSpPr>
          <p:cNvPr id="63" name="Text 60"/>
          <p:cNvSpPr/>
          <p:nvPr/>
        </p:nvSpPr>
        <p:spPr>
          <a:xfrm>
            <a:off x="15478571" y="9791700"/>
            <a:ext cx="2123629"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BASE: 37,207 ICP CONTACTS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2193429"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14 / 21 · PIPELINE HEALTH</a:t>
            </a:r>
            <a:endParaRPr lang="en-US" sz="975" dirty="0"/>
          </a:p>
        </p:txBody>
      </p:sp>
      <p:sp>
        <p:nvSpPr>
          <p:cNvPr id="11" name="Text 9"/>
          <p:cNvSpPr/>
          <p:nvPr/>
        </p:nvSpPr>
        <p:spPr>
          <a:xfrm>
            <a:off x="16601331" y="361950"/>
            <a:ext cx="1000869"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IV</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14</a:t>
            </a:r>
            <a:endParaRPr lang="en-US" sz="1125" dirty="0"/>
          </a:p>
        </p:txBody>
      </p:sp>
      <p:sp>
        <p:nvSpPr>
          <p:cNvPr id="13" name="Text 11"/>
          <p:cNvSpPr/>
          <p:nvPr/>
        </p:nvSpPr>
        <p:spPr>
          <a:xfrm>
            <a:off x="1275308" y="800100"/>
            <a:ext cx="99089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HEALTH</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Concentration risk: $14.6M sits in Enterprise.</a:t>
            </a:r>
            <a:endParaRPr lang="en-US" sz="5700" dirty="0"/>
          </a:p>
        </p:txBody>
      </p:sp>
      <p:sp>
        <p:nvSpPr>
          <p:cNvPr id="15" name="Text 13"/>
          <p:cNvSpPr/>
          <p:nvPr/>
        </p:nvSpPr>
        <p:spPr>
          <a:xfrm>
            <a:off x="914400" y="2381548"/>
            <a:ext cx="8241030"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PIPELINE BY SEGMENT ($M)</a:t>
            </a:r>
            <a:endParaRPr lang="en-US" sz="900" dirty="0"/>
          </a:p>
        </p:txBody>
      </p:sp>
      <p:sp>
        <p:nvSpPr>
          <p:cNvPr id="16" name="Text 14"/>
          <p:cNvSpPr/>
          <p:nvPr/>
        </p:nvSpPr>
        <p:spPr>
          <a:xfrm>
            <a:off x="914400" y="2743498"/>
            <a:ext cx="111814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ECEEF2"/>
                </a:solidFill>
                <a:latin typeface="Arial" pitchFamily="34" charset="0"/>
                <a:ea typeface="Arial" pitchFamily="34" charset="-122"/>
                <a:cs typeface="Arial" pitchFamily="34" charset="-120"/>
              </a:rPr>
              <a:t>Enterprise</a:t>
            </a:r>
            <a:endParaRPr lang="en-US" sz="1800" dirty="0"/>
          </a:p>
        </p:txBody>
      </p:sp>
      <p:sp>
        <p:nvSpPr>
          <p:cNvPr id="17" name="Text 15"/>
          <p:cNvSpPr/>
          <p:nvPr/>
        </p:nvSpPr>
        <p:spPr>
          <a:xfrm>
            <a:off x="8216354" y="2762548"/>
            <a:ext cx="775246" cy="285750"/>
          </a:xfrm>
          <a:prstGeom prst="rect">
            <a:avLst/>
          </a:prstGeom>
          <a:noFill/>
          <a:ln/>
        </p:spPr>
        <p:txBody>
          <a:bodyPr wrap="square" lIns="25400" tIns="25400" rIns="25400" bIns="25400" rtlCol="0" anchor="t">
            <a:normAutofit/>
          </a:bodyPr>
          <a:lstStyle/>
          <a:p>
            <a:pPr algn="l" indent="0" marL="0">
              <a:buNone/>
            </a:pPr>
            <a:r>
              <a:rPr lang="en-US" sz="1650" dirty="0">
                <a:solidFill>
                  <a:srgbClr val="ECEEF2"/>
                </a:solidFill>
                <a:latin typeface="Arial" pitchFamily="34" charset="0"/>
                <a:ea typeface="Arial" pitchFamily="34" charset="-122"/>
                <a:cs typeface="Arial" pitchFamily="34" charset="-120"/>
              </a:rPr>
              <a:t>$14.6M</a:t>
            </a:r>
            <a:endParaRPr lang="en-US" sz="1650" dirty="0"/>
          </a:p>
        </p:txBody>
      </p:sp>
      <p:sp>
        <p:nvSpPr>
          <p:cNvPr id="18" name="Shape 16"/>
          <p:cNvSpPr/>
          <p:nvPr/>
        </p:nvSpPr>
        <p:spPr>
          <a:xfrm>
            <a:off x="914400" y="3067348"/>
            <a:ext cx="8001000" cy="133350"/>
          </a:xfrm>
          <a:prstGeom prst="rect">
            <a:avLst/>
          </a:prstGeom>
          <a:solidFill>
            <a:srgbClr val="111729"/>
          </a:solidFill>
          <a:ln/>
        </p:spPr>
      </p:sp>
      <p:sp>
        <p:nvSpPr>
          <p:cNvPr id="19" name="Shape 17"/>
          <p:cNvSpPr/>
          <p:nvPr/>
        </p:nvSpPr>
        <p:spPr>
          <a:xfrm>
            <a:off x="914400" y="3067348"/>
            <a:ext cx="9525" cy="133350"/>
          </a:xfrm>
          <a:prstGeom prst="rect">
            <a:avLst/>
          </a:prstGeom>
          <a:solidFill>
            <a:srgbClr val="2A3450"/>
          </a:solidFill>
          <a:ln/>
        </p:spPr>
      </p:sp>
      <p:sp>
        <p:nvSpPr>
          <p:cNvPr id="20" name="Shape 18"/>
          <p:cNvSpPr/>
          <p:nvPr/>
        </p:nvSpPr>
        <p:spPr>
          <a:xfrm>
            <a:off x="923925" y="3067348"/>
            <a:ext cx="7991475" cy="133350"/>
          </a:xfrm>
          <a:prstGeom prst="rect">
            <a:avLst/>
          </a:prstGeom>
          <a:solidFill>
            <a:srgbClr val="82A6D9"/>
          </a:solidFill>
          <a:ln/>
        </p:spPr>
      </p:sp>
      <p:sp>
        <p:nvSpPr>
          <p:cNvPr id="21" name="Text 19"/>
          <p:cNvSpPr/>
          <p:nvPr/>
        </p:nvSpPr>
        <p:spPr>
          <a:xfrm>
            <a:off x="914400" y="3257848"/>
            <a:ext cx="8241030"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C8493"/>
                </a:solidFill>
                <a:latin typeface="Arial" pitchFamily="34" charset="0"/>
                <a:ea typeface="Arial" pitchFamily="34" charset="-122"/>
                <a:cs typeface="Arial" pitchFamily="34" charset="-120"/>
              </a:rPr>
              <a:t>61.3% OF PIPELINE</a:t>
            </a:r>
            <a:endParaRPr lang="en-US" sz="1200" dirty="0"/>
          </a:p>
        </p:txBody>
      </p:sp>
      <p:sp>
        <p:nvSpPr>
          <p:cNvPr id="22" name="Text 20"/>
          <p:cNvSpPr/>
          <p:nvPr/>
        </p:nvSpPr>
        <p:spPr>
          <a:xfrm>
            <a:off x="914400" y="3600748"/>
            <a:ext cx="129554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ECEEF2"/>
                </a:solidFill>
                <a:latin typeface="Arial" pitchFamily="34" charset="0"/>
                <a:ea typeface="Arial" pitchFamily="34" charset="-122"/>
                <a:cs typeface="Arial" pitchFamily="34" charset="-120"/>
              </a:rPr>
              <a:t>Commercial</a:t>
            </a:r>
            <a:endParaRPr lang="en-US" sz="1800" dirty="0"/>
          </a:p>
        </p:txBody>
      </p:sp>
      <p:sp>
        <p:nvSpPr>
          <p:cNvPr id="23" name="Text 21"/>
          <p:cNvSpPr/>
          <p:nvPr/>
        </p:nvSpPr>
        <p:spPr>
          <a:xfrm>
            <a:off x="8332887" y="3619798"/>
            <a:ext cx="658713" cy="285750"/>
          </a:xfrm>
          <a:prstGeom prst="rect">
            <a:avLst/>
          </a:prstGeom>
          <a:noFill/>
          <a:ln/>
        </p:spPr>
        <p:txBody>
          <a:bodyPr wrap="square" lIns="25400" tIns="25400" rIns="25400" bIns="25400" rtlCol="0" anchor="t">
            <a:normAutofit/>
          </a:bodyPr>
          <a:lstStyle/>
          <a:p>
            <a:pPr algn="l" indent="0" marL="0">
              <a:buNone/>
            </a:pPr>
            <a:r>
              <a:rPr lang="en-US" sz="1650" dirty="0">
                <a:solidFill>
                  <a:srgbClr val="ECEEF2"/>
                </a:solidFill>
                <a:latin typeface="Arial" pitchFamily="34" charset="0"/>
                <a:ea typeface="Arial" pitchFamily="34" charset="-122"/>
                <a:cs typeface="Arial" pitchFamily="34" charset="-120"/>
              </a:rPr>
              <a:t>$6.0M</a:t>
            </a:r>
            <a:endParaRPr lang="en-US" sz="1650" dirty="0"/>
          </a:p>
        </p:txBody>
      </p:sp>
      <p:sp>
        <p:nvSpPr>
          <p:cNvPr id="24" name="Shape 22"/>
          <p:cNvSpPr/>
          <p:nvPr/>
        </p:nvSpPr>
        <p:spPr>
          <a:xfrm>
            <a:off x="914400" y="3924598"/>
            <a:ext cx="8001000" cy="133350"/>
          </a:xfrm>
          <a:prstGeom prst="rect">
            <a:avLst/>
          </a:prstGeom>
          <a:solidFill>
            <a:srgbClr val="111729"/>
          </a:solidFill>
          <a:ln/>
        </p:spPr>
      </p:sp>
      <p:sp>
        <p:nvSpPr>
          <p:cNvPr id="25" name="Shape 23"/>
          <p:cNvSpPr/>
          <p:nvPr/>
        </p:nvSpPr>
        <p:spPr>
          <a:xfrm>
            <a:off x="914400" y="3924598"/>
            <a:ext cx="9525" cy="133350"/>
          </a:xfrm>
          <a:prstGeom prst="rect">
            <a:avLst/>
          </a:prstGeom>
          <a:solidFill>
            <a:srgbClr val="2A3450"/>
          </a:solidFill>
          <a:ln/>
        </p:spPr>
      </p:sp>
      <p:sp>
        <p:nvSpPr>
          <p:cNvPr id="26" name="Shape 24"/>
          <p:cNvSpPr/>
          <p:nvPr/>
        </p:nvSpPr>
        <p:spPr>
          <a:xfrm>
            <a:off x="923925" y="3924598"/>
            <a:ext cx="3276451" cy="133350"/>
          </a:xfrm>
          <a:prstGeom prst="rect">
            <a:avLst/>
          </a:prstGeom>
          <a:solidFill>
            <a:srgbClr val="C9A7E6"/>
          </a:solidFill>
          <a:ln/>
        </p:spPr>
      </p:sp>
      <p:sp>
        <p:nvSpPr>
          <p:cNvPr id="27" name="Text 25"/>
          <p:cNvSpPr/>
          <p:nvPr/>
        </p:nvSpPr>
        <p:spPr>
          <a:xfrm>
            <a:off x="914400" y="4115098"/>
            <a:ext cx="8241030"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C8493"/>
                </a:solidFill>
                <a:latin typeface="Arial" pitchFamily="34" charset="0"/>
                <a:ea typeface="Arial" pitchFamily="34" charset="-122"/>
                <a:cs typeface="Arial" pitchFamily="34" charset="-120"/>
              </a:rPr>
              <a:t>25.2% OF PIPELINE</a:t>
            </a:r>
            <a:endParaRPr lang="en-US" sz="1200" dirty="0"/>
          </a:p>
        </p:txBody>
      </p:sp>
      <p:sp>
        <p:nvSpPr>
          <p:cNvPr id="28" name="Text 26"/>
          <p:cNvSpPr/>
          <p:nvPr/>
        </p:nvSpPr>
        <p:spPr>
          <a:xfrm>
            <a:off x="914400" y="4457998"/>
            <a:ext cx="121934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ECEEF2"/>
                </a:solidFill>
                <a:latin typeface="Arial" pitchFamily="34" charset="0"/>
                <a:ea typeface="Arial" pitchFamily="34" charset="-122"/>
                <a:cs typeface="Arial" pitchFamily="34" charset="-120"/>
              </a:rPr>
              <a:t>Mid-Market</a:t>
            </a:r>
            <a:endParaRPr lang="en-US" sz="1800" dirty="0"/>
          </a:p>
        </p:txBody>
      </p:sp>
      <p:sp>
        <p:nvSpPr>
          <p:cNvPr id="29" name="Text 27"/>
          <p:cNvSpPr/>
          <p:nvPr/>
        </p:nvSpPr>
        <p:spPr>
          <a:xfrm>
            <a:off x="8332887" y="4477048"/>
            <a:ext cx="658713" cy="285750"/>
          </a:xfrm>
          <a:prstGeom prst="rect">
            <a:avLst/>
          </a:prstGeom>
          <a:noFill/>
          <a:ln/>
        </p:spPr>
        <p:txBody>
          <a:bodyPr wrap="square" lIns="25400" tIns="25400" rIns="25400" bIns="25400" rtlCol="0" anchor="t">
            <a:normAutofit/>
          </a:bodyPr>
          <a:lstStyle/>
          <a:p>
            <a:pPr algn="l" indent="0" marL="0">
              <a:buNone/>
            </a:pPr>
            <a:r>
              <a:rPr lang="en-US" sz="1650" dirty="0">
                <a:solidFill>
                  <a:srgbClr val="ECEEF2"/>
                </a:solidFill>
                <a:latin typeface="Arial" pitchFamily="34" charset="0"/>
                <a:ea typeface="Arial" pitchFamily="34" charset="-122"/>
                <a:cs typeface="Arial" pitchFamily="34" charset="-120"/>
              </a:rPr>
              <a:t>$3.2M</a:t>
            </a:r>
            <a:endParaRPr lang="en-US" sz="1650" dirty="0"/>
          </a:p>
        </p:txBody>
      </p:sp>
      <p:sp>
        <p:nvSpPr>
          <p:cNvPr id="30" name="Shape 28"/>
          <p:cNvSpPr/>
          <p:nvPr/>
        </p:nvSpPr>
        <p:spPr>
          <a:xfrm>
            <a:off x="914400" y="4781848"/>
            <a:ext cx="8001000" cy="133350"/>
          </a:xfrm>
          <a:prstGeom prst="rect">
            <a:avLst/>
          </a:prstGeom>
          <a:solidFill>
            <a:srgbClr val="111729"/>
          </a:solidFill>
          <a:ln/>
        </p:spPr>
      </p:sp>
      <p:sp>
        <p:nvSpPr>
          <p:cNvPr id="31" name="Shape 29"/>
          <p:cNvSpPr/>
          <p:nvPr/>
        </p:nvSpPr>
        <p:spPr>
          <a:xfrm>
            <a:off x="914400" y="4781848"/>
            <a:ext cx="9525" cy="133350"/>
          </a:xfrm>
          <a:prstGeom prst="rect">
            <a:avLst/>
          </a:prstGeom>
          <a:solidFill>
            <a:srgbClr val="2A3450"/>
          </a:solidFill>
          <a:ln/>
        </p:spPr>
      </p:sp>
      <p:sp>
        <p:nvSpPr>
          <p:cNvPr id="32" name="Shape 30"/>
          <p:cNvSpPr/>
          <p:nvPr/>
        </p:nvSpPr>
        <p:spPr>
          <a:xfrm>
            <a:off x="923925" y="4781848"/>
            <a:ext cx="1758107" cy="133350"/>
          </a:xfrm>
          <a:prstGeom prst="rect">
            <a:avLst/>
          </a:prstGeom>
          <a:solidFill>
            <a:srgbClr val="9DAFE8"/>
          </a:solidFill>
          <a:ln/>
        </p:spPr>
      </p:sp>
      <p:sp>
        <p:nvSpPr>
          <p:cNvPr id="33" name="Text 31"/>
          <p:cNvSpPr/>
          <p:nvPr/>
        </p:nvSpPr>
        <p:spPr>
          <a:xfrm>
            <a:off x="914400" y="4972348"/>
            <a:ext cx="8241030"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C8493"/>
                </a:solidFill>
                <a:latin typeface="Arial" pitchFamily="34" charset="0"/>
                <a:ea typeface="Arial" pitchFamily="34" charset="-122"/>
                <a:cs typeface="Arial" pitchFamily="34" charset="-120"/>
              </a:rPr>
              <a:t>13.5% OF PIPELINE</a:t>
            </a:r>
            <a:endParaRPr lang="en-US" sz="1200" dirty="0"/>
          </a:p>
        </p:txBody>
      </p:sp>
      <p:sp>
        <p:nvSpPr>
          <p:cNvPr id="34" name="Text 32"/>
          <p:cNvSpPr/>
          <p:nvPr/>
        </p:nvSpPr>
        <p:spPr>
          <a:xfrm>
            <a:off x="9372600" y="2381548"/>
            <a:ext cx="8241030"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STAGE DISTRIBUTION</a:t>
            </a:r>
            <a:endParaRPr lang="en-US" sz="900" dirty="0"/>
          </a:p>
        </p:txBody>
      </p:sp>
      <p:pic>
        <p:nvPicPr>
          <p:cNvPr id="35" name="Image 0" descr="preencoded.png">    </p:cNvPr>
          <p:cNvPicPr>
            <a:picLocks noChangeAspect="1"/>
          </p:cNvPicPr>
          <p:nvPr/>
        </p:nvPicPr>
        <p:blipFill>
          <a:blip r:embed="rId1"/>
          <a:stretch>
            <a:fillRect/>
          </a:stretch>
        </p:blipFill>
        <p:spPr>
          <a:xfrm>
            <a:off x="9372600" y="2686348"/>
            <a:ext cx="8001000" cy="3238500"/>
          </a:xfrm>
          <a:prstGeom prst="rect">
            <a:avLst/>
          </a:prstGeom>
        </p:spPr>
      </p:pic>
      <p:sp>
        <p:nvSpPr>
          <p:cNvPr id="36" name="Shape 33"/>
          <p:cNvSpPr/>
          <p:nvPr/>
        </p:nvSpPr>
        <p:spPr>
          <a:xfrm>
            <a:off x="914400" y="8736509"/>
            <a:ext cx="16459200" cy="9525"/>
          </a:xfrm>
          <a:prstGeom prst="rect">
            <a:avLst/>
          </a:prstGeom>
          <a:solidFill>
            <a:srgbClr val="2A3450"/>
          </a:solidFill>
          <a:ln/>
        </p:spPr>
      </p:sp>
      <p:sp>
        <p:nvSpPr>
          <p:cNvPr id="37" name="Text 34"/>
          <p:cNvSpPr/>
          <p:nvPr/>
        </p:nvSpPr>
        <p:spPr>
          <a:xfrm>
            <a:off x="914400" y="8955584"/>
            <a:ext cx="2171700" cy="645616"/>
          </a:xfrm>
          <a:prstGeom prst="rect">
            <a:avLst/>
          </a:prstGeom>
          <a:noFill/>
          <a:ln/>
        </p:spPr>
        <p:txBody>
          <a:bodyPr wrap="square" lIns="25400" tIns="25400" rIns="25400" bIns="25400" rtlCol="0" anchor="t">
            <a:normAutofit/>
          </a:bodyPr>
          <a:lstStyle/>
          <a:p>
            <a:pPr algn="l" indent="0" marL="0">
              <a:buNone/>
            </a:pPr>
            <a:r>
              <a:rPr lang="en-US" sz="900" spc="198" kern="0" dirty="0">
                <a:solidFill>
                  <a:srgbClr val="82A6D9"/>
                </a:solidFill>
                <a:latin typeface="Arial" pitchFamily="34" charset="0"/>
                <a:ea typeface="Arial" pitchFamily="34" charset="-122"/>
                <a:cs typeface="Arial" pitchFamily="34" charset="-120"/>
              </a:rPr>
              <a:t>RISK</a:t>
            </a:r>
            <a:endParaRPr lang="en-US" sz="900" dirty="0"/>
          </a:p>
        </p:txBody>
      </p:sp>
      <p:sp>
        <p:nvSpPr>
          <p:cNvPr id="38" name="Text 35"/>
          <p:cNvSpPr/>
          <p:nvPr/>
        </p:nvSpPr>
        <p:spPr>
          <a:xfrm>
            <a:off x="3352800" y="8955584"/>
            <a:ext cx="1444142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A few large Enterprise deals slipping has outsized impact. Lost-reason analysis should feed directly into content priorities — every loss reason is a content gap.</a:t>
            </a:r>
            <a:endParaRPr lang="en-US" sz="1650" dirty="0"/>
          </a:p>
        </p:txBody>
      </p:sp>
      <p:sp>
        <p:nvSpPr>
          <p:cNvPr id="39" name="Text 36"/>
          <p:cNvSpPr/>
          <p:nvPr/>
        </p:nvSpPr>
        <p:spPr>
          <a:xfrm>
            <a:off x="762000" y="9791700"/>
            <a:ext cx="1287810"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14 / HEALTH</a:t>
            </a:r>
            <a:endParaRPr lang="en-US" sz="900" dirty="0"/>
          </a:p>
        </p:txBody>
      </p:sp>
      <p:sp>
        <p:nvSpPr>
          <p:cNvPr id="40" name="Text 37"/>
          <p:cNvSpPr/>
          <p:nvPr/>
        </p:nvSpPr>
        <p:spPr>
          <a:xfrm>
            <a:off x="16109603" y="9791700"/>
            <a:ext cx="1492597"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BASE: $23.8M OPEN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3419046"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15 / 21 · ACCOUNT INTENT &amp; PROFILE FIT</a:t>
            </a:r>
            <a:endParaRPr lang="en-US" sz="975" dirty="0"/>
          </a:p>
        </p:txBody>
      </p:sp>
      <p:sp>
        <p:nvSpPr>
          <p:cNvPr id="11" name="Text 9"/>
          <p:cNvSpPr/>
          <p:nvPr/>
        </p:nvSpPr>
        <p:spPr>
          <a:xfrm>
            <a:off x="16601331" y="361950"/>
            <a:ext cx="1000869"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IV</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15</a:t>
            </a:r>
            <a:endParaRPr lang="en-US" sz="1125" dirty="0"/>
          </a:p>
        </p:txBody>
      </p:sp>
      <p:sp>
        <p:nvSpPr>
          <p:cNvPr id="13" name="Text 11"/>
          <p:cNvSpPr/>
          <p:nvPr/>
        </p:nvSpPr>
        <p:spPr>
          <a:xfrm>
            <a:off x="1275308" y="800100"/>
            <a:ext cx="953839"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INTENT</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Right accounts × right time.</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6sense Profile Fit measures firmographic match to your best customers. Intent measures active research behavior.</a:t>
            </a:r>
            <a:endParaRPr lang="en-US" sz="2100" dirty="0"/>
          </a:p>
        </p:txBody>
      </p:sp>
      <p:sp>
        <p:nvSpPr>
          <p:cNvPr id="16" name="Shape 14"/>
          <p:cNvSpPr/>
          <p:nvPr/>
        </p:nvSpPr>
        <p:spPr>
          <a:xfrm>
            <a:off x="914400" y="5010001"/>
            <a:ext cx="16459200" cy="9525"/>
          </a:xfrm>
          <a:prstGeom prst="rect">
            <a:avLst/>
          </a:prstGeom>
          <a:solidFill>
            <a:srgbClr val="2A3450"/>
          </a:solidFill>
          <a:ln/>
        </p:spPr>
      </p:sp>
      <p:sp>
        <p:nvSpPr>
          <p:cNvPr id="17" name="Shape 15"/>
          <p:cNvSpPr/>
          <p:nvPr/>
        </p:nvSpPr>
        <p:spPr>
          <a:xfrm>
            <a:off x="914400" y="2733526"/>
            <a:ext cx="16459200" cy="9525"/>
          </a:xfrm>
          <a:prstGeom prst="rect">
            <a:avLst/>
          </a:prstGeom>
          <a:solidFill>
            <a:srgbClr val="2A3450"/>
          </a:solidFill>
          <a:ln/>
        </p:spPr>
      </p:sp>
      <p:sp>
        <p:nvSpPr>
          <p:cNvPr id="18" name="Shape 16"/>
          <p:cNvSpPr/>
          <p:nvPr/>
        </p:nvSpPr>
        <p:spPr>
          <a:xfrm>
            <a:off x="6391275" y="2743051"/>
            <a:ext cx="9525" cy="2266950"/>
          </a:xfrm>
          <a:prstGeom prst="rect">
            <a:avLst/>
          </a:prstGeom>
          <a:solidFill>
            <a:srgbClr val="2A3450"/>
          </a:solidFill>
          <a:ln/>
        </p:spPr>
      </p:sp>
      <p:sp>
        <p:nvSpPr>
          <p:cNvPr id="19" name="Text 17"/>
          <p:cNvSpPr/>
          <p:nvPr/>
        </p:nvSpPr>
        <p:spPr>
          <a:xfrm>
            <a:off x="1143000" y="2971651"/>
            <a:ext cx="5170265"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8D1B0"/>
                </a:solidFill>
                <a:latin typeface="Arial" pitchFamily="34" charset="0"/>
                <a:ea typeface="Arial" pitchFamily="34" charset="-122"/>
                <a:cs typeface="Arial" pitchFamily="34" charset="-120"/>
              </a:rPr>
              <a:t>STRONG FIT</a:t>
            </a:r>
            <a:endParaRPr lang="en-US" sz="900" dirty="0"/>
          </a:p>
        </p:txBody>
      </p:sp>
      <p:sp>
        <p:nvSpPr>
          <p:cNvPr id="20" name="Text 18"/>
          <p:cNvSpPr/>
          <p:nvPr/>
        </p:nvSpPr>
        <p:spPr>
          <a:xfrm>
            <a:off x="1143000" y="3238351"/>
            <a:ext cx="5170265"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spc="-90" kern="0" dirty="0">
                <a:solidFill>
                  <a:srgbClr val="ECEEF2"/>
                </a:solidFill>
                <a:latin typeface="Arial" pitchFamily="34" charset="0"/>
                <a:ea typeface="Arial" pitchFamily="34" charset="-122"/>
                <a:cs typeface="Arial" pitchFamily="34" charset="-120"/>
              </a:rPr>
              <a:t>↑ 35-47</a:t>
            </a:r>
            <a:pPr algn="l" indent="0" marL="0">
              <a:lnSpc>
                <a:spcPct val="100000"/>
              </a:lnSpc>
              <a:buNone/>
            </a:pPr>
            <a:r>
              <a:rPr lang="en-US" sz="2250" spc="-90" kern="0" dirty="0">
                <a:solidFill>
                  <a:srgbClr val="7C8493"/>
                </a:solidFill>
                <a:latin typeface="Arial" pitchFamily="34" charset="0"/>
                <a:ea typeface="Arial" pitchFamily="34" charset="-122"/>
                <a:cs typeface="Arial" pitchFamily="34" charset="-120"/>
              </a:rPr>
              <a:t>%</a:t>
            </a:r>
            <a:endParaRPr lang="en-US" sz="4500" dirty="0"/>
          </a:p>
        </p:txBody>
      </p:sp>
      <p:sp>
        <p:nvSpPr>
          <p:cNvPr id="21" name="Text 19"/>
          <p:cNvSpPr/>
          <p:nvPr/>
        </p:nvSpPr>
        <p:spPr>
          <a:xfrm>
            <a:off x="1143000" y="3924151"/>
            <a:ext cx="5170265"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C8493"/>
                </a:solidFill>
                <a:latin typeface="Arial" pitchFamily="34" charset="0"/>
                <a:ea typeface="Arial" pitchFamily="34" charset="-122"/>
                <a:cs typeface="Arial" pitchFamily="34" charset="-120"/>
              </a:rPr>
              <a:t>WIN RATE · SHORTER CYCLES</a:t>
            </a:r>
            <a:endParaRPr lang="en-US" sz="1200" dirty="0"/>
          </a:p>
        </p:txBody>
      </p:sp>
      <p:sp>
        <p:nvSpPr>
          <p:cNvPr id="22" name="Text 20"/>
          <p:cNvSpPr/>
          <p:nvPr/>
        </p:nvSpPr>
        <p:spPr>
          <a:xfrm>
            <a:off x="1143000" y="4228951"/>
            <a:ext cx="5170265"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B7BCC8"/>
                </a:solidFill>
                <a:latin typeface="Arial" pitchFamily="34" charset="0"/>
                <a:ea typeface="Arial" pitchFamily="34" charset="-122"/>
                <a:cs typeface="Arial" pitchFamily="34" charset="-120"/>
              </a:rPr>
              <a:t>Tier-1 ABM target. Personalized ads, executive content, direct sales outreach.</a:t>
            </a:r>
            <a:endParaRPr lang="en-US" sz="1500" dirty="0"/>
          </a:p>
        </p:txBody>
      </p:sp>
      <p:sp>
        <p:nvSpPr>
          <p:cNvPr id="23" name="Shape 21"/>
          <p:cNvSpPr/>
          <p:nvPr/>
        </p:nvSpPr>
        <p:spPr>
          <a:xfrm>
            <a:off x="11877675" y="2743051"/>
            <a:ext cx="9525" cy="2266950"/>
          </a:xfrm>
          <a:prstGeom prst="rect">
            <a:avLst/>
          </a:prstGeom>
          <a:solidFill>
            <a:srgbClr val="2A3450"/>
          </a:solidFill>
          <a:ln/>
        </p:spPr>
      </p:sp>
      <p:sp>
        <p:nvSpPr>
          <p:cNvPr id="24" name="Text 22"/>
          <p:cNvSpPr/>
          <p:nvPr/>
        </p:nvSpPr>
        <p:spPr>
          <a:xfrm>
            <a:off x="6629400" y="2971651"/>
            <a:ext cx="5170265"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MODERATE FIT</a:t>
            </a:r>
            <a:endParaRPr lang="en-US" sz="900" dirty="0"/>
          </a:p>
        </p:txBody>
      </p:sp>
      <p:sp>
        <p:nvSpPr>
          <p:cNvPr id="25" name="Text 23"/>
          <p:cNvSpPr/>
          <p:nvPr/>
        </p:nvSpPr>
        <p:spPr>
          <a:xfrm>
            <a:off x="6629400" y="3238351"/>
            <a:ext cx="5170265"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spc="-90" kern="0" dirty="0">
                <a:solidFill>
                  <a:srgbClr val="ECEEF2"/>
                </a:solidFill>
                <a:latin typeface="Arial" pitchFamily="34" charset="0"/>
                <a:ea typeface="Arial" pitchFamily="34" charset="-122"/>
                <a:cs typeface="Arial" pitchFamily="34" charset="-120"/>
              </a:rPr>
              <a:t>25-35</a:t>
            </a:r>
            <a:pPr algn="l" indent="0" marL="0">
              <a:lnSpc>
                <a:spcPct val="100000"/>
              </a:lnSpc>
              <a:buNone/>
            </a:pPr>
            <a:r>
              <a:rPr lang="en-US" sz="2250" spc="-90" kern="0" dirty="0">
                <a:solidFill>
                  <a:srgbClr val="7C8493"/>
                </a:solidFill>
                <a:latin typeface="Arial" pitchFamily="34" charset="0"/>
                <a:ea typeface="Arial" pitchFamily="34" charset="-122"/>
                <a:cs typeface="Arial" pitchFamily="34" charset="-120"/>
              </a:rPr>
              <a:t>%</a:t>
            </a:r>
            <a:endParaRPr lang="en-US" sz="4500" dirty="0"/>
          </a:p>
        </p:txBody>
      </p:sp>
      <p:sp>
        <p:nvSpPr>
          <p:cNvPr id="26" name="Text 24"/>
          <p:cNvSpPr/>
          <p:nvPr/>
        </p:nvSpPr>
        <p:spPr>
          <a:xfrm>
            <a:off x="6629400" y="3924151"/>
            <a:ext cx="5170265"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C8493"/>
                </a:solidFill>
                <a:latin typeface="Arial" pitchFamily="34" charset="0"/>
                <a:ea typeface="Arial" pitchFamily="34" charset="-122"/>
                <a:cs typeface="Arial" pitchFamily="34" charset="-120"/>
              </a:rPr>
              <a:t>WIN RATE · STANDARD MOTION</a:t>
            </a:r>
            <a:endParaRPr lang="en-US" sz="1200" dirty="0"/>
          </a:p>
        </p:txBody>
      </p:sp>
      <p:sp>
        <p:nvSpPr>
          <p:cNvPr id="27" name="Text 25"/>
          <p:cNvSpPr/>
          <p:nvPr/>
        </p:nvSpPr>
        <p:spPr>
          <a:xfrm>
            <a:off x="6629400" y="4228951"/>
            <a:ext cx="5170265"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B7BCC8"/>
                </a:solidFill>
                <a:latin typeface="Arial" pitchFamily="34" charset="0"/>
                <a:ea typeface="Arial" pitchFamily="34" charset="-122"/>
                <a:cs typeface="Arial" pitchFamily="34" charset="-120"/>
              </a:rPr>
              <a:t>Standard nurture cadence. Include in 6sense audiences and email programs.</a:t>
            </a:r>
            <a:endParaRPr lang="en-US" sz="1500" dirty="0"/>
          </a:p>
        </p:txBody>
      </p:sp>
      <p:sp>
        <p:nvSpPr>
          <p:cNvPr id="28" name="Text 26"/>
          <p:cNvSpPr/>
          <p:nvPr/>
        </p:nvSpPr>
        <p:spPr>
          <a:xfrm>
            <a:off x="12115800" y="2971651"/>
            <a:ext cx="5180076"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E68FA8"/>
                </a:solidFill>
                <a:latin typeface="Arial" pitchFamily="34" charset="0"/>
                <a:ea typeface="Arial" pitchFamily="34" charset="-122"/>
                <a:cs typeface="Arial" pitchFamily="34" charset="-120"/>
              </a:rPr>
              <a:t>WEAK FIT</a:t>
            </a:r>
            <a:endParaRPr lang="en-US" sz="900" dirty="0"/>
          </a:p>
        </p:txBody>
      </p:sp>
      <p:sp>
        <p:nvSpPr>
          <p:cNvPr id="29" name="Text 27"/>
          <p:cNvSpPr/>
          <p:nvPr/>
        </p:nvSpPr>
        <p:spPr>
          <a:xfrm>
            <a:off x="12115800" y="3238351"/>
            <a:ext cx="5180076"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spc="-90" kern="0" dirty="0">
                <a:solidFill>
                  <a:srgbClr val="7C8493"/>
                </a:solidFill>
                <a:latin typeface="Arial" pitchFamily="34" charset="0"/>
                <a:ea typeface="Arial" pitchFamily="34" charset="-122"/>
                <a:cs typeface="Arial" pitchFamily="34" charset="-120"/>
              </a:rPr>
              <a:t>↓ 15-25</a:t>
            </a:r>
            <a:pPr algn="l" indent="0" marL="0">
              <a:lnSpc>
                <a:spcPct val="100000"/>
              </a:lnSpc>
              <a:buNone/>
            </a:pPr>
            <a:r>
              <a:rPr lang="en-US" sz="2250" spc="-90" kern="0" dirty="0">
                <a:solidFill>
                  <a:srgbClr val="7C8493"/>
                </a:solidFill>
                <a:latin typeface="Arial" pitchFamily="34" charset="0"/>
                <a:ea typeface="Arial" pitchFamily="34" charset="-122"/>
                <a:cs typeface="Arial" pitchFamily="34" charset="-120"/>
              </a:rPr>
              <a:t>%</a:t>
            </a:r>
            <a:endParaRPr lang="en-US" sz="4500" dirty="0"/>
          </a:p>
        </p:txBody>
      </p:sp>
      <p:sp>
        <p:nvSpPr>
          <p:cNvPr id="30" name="Text 28"/>
          <p:cNvSpPr/>
          <p:nvPr/>
        </p:nvSpPr>
        <p:spPr>
          <a:xfrm>
            <a:off x="12115800" y="3924151"/>
            <a:ext cx="5180076"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C8493"/>
                </a:solidFill>
                <a:latin typeface="Arial" pitchFamily="34" charset="0"/>
                <a:ea typeface="Arial" pitchFamily="34" charset="-122"/>
                <a:cs typeface="Arial" pitchFamily="34" charset="-120"/>
              </a:rPr>
              <a:t>ICP DRIFT SIGNAL</a:t>
            </a:r>
            <a:endParaRPr lang="en-US" sz="1200" dirty="0"/>
          </a:p>
        </p:txBody>
      </p:sp>
      <p:sp>
        <p:nvSpPr>
          <p:cNvPr id="31" name="Text 29"/>
          <p:cNvSpPr/>
          <p:nvPr/>
        </p:nvSpPr>
        <p:spPr>
          <a:xfrm>
            <a:off x="12115800" y="4228951"/>
            <a:ext cx="5180076"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B7BCC8"/>
                </a:solidFill>
                <a:latin typeface="Arial" pitchFamily="34" charset="0"/>
                <a:ea typeface="Arial" pitchFamily="34" charset="-122"/>
                <a:cs typeface="Arial" pitchFamily="34" charset="-120"/>
              </a:rPr>
              <a:t>Exclude from Tier-1 budget. Review ICP definitions quarterly.</a:t>
            </a:r>
            <a:endParaRPr lang="en-US" sz="1500" dirty="0"/>
          </a:p>
        </p:txBody>
      </p:sp>
      <p:sp>
        <p:nvSpPr>
          <p:cNvPr id="32" name="Text 30"/>
          <p:cNvSpPr/>
          <p:nvPr/>
        </p:nvSpPr>
        <p:spPr>
          <a:xfrm>
            <a:off x="914400" y="5210026"/>
            <a:ext cx="304800"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82A6D9"/>
                </a:solidFill>
                <a:latin typeface="Arial" pitchFamily="34" charset="0"/>
                <a:ea typeface="Arial" pitchFamily="34" charset="-122"/>
                <a:cs typeface="Arial" pitchFamily="34" charset="-120"/>
              </a:rPr>
              <a:t>→</a:t>
            </a:r>
            <a:endParaRPr lang="en-US" sz="1800" dirty="0"/>
          </a:p>
        </p:txBody>
      </p:sp>
      <p:sp>
        <p:nvSpPr>
          <p:cNvPr id="33" name="Text 31"/>
          <p:cNvSpPr/>
          <p:nvPr/>
        </p:nvSpPr>
        <p:spPr>
          <a:xfrm>
            <a:off x="1276350" y="5190976"/>
            <a:ext cx="7845534" cy="38859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B7BCC8"/>
                </a:solidFill>
                <a:latin typeface="Arial" pitchFamily="34" charset="0"/>
                <a:ea typeface="Arial" pitchFamily="34" charset="-122"/>
                <a:cs typeface="Arial" pitchFamily="34" charset="-120"/>
              </a:rPr>
              <a:t>Filter 6sense audiences to </a:t>
            </a:r>
            <a:pPr algn="l" indent="0" marL="0">
              <a:lnSpc>
                <a:spcPct val="145000"/>
              </a:lnSpc>
              <a:buNone/>
            </a:pPr>
            <a:r>
              <a:rPr lang="en-US" sz="1800" dirty="0">
                <a:solidFill>
                  <a:srgbClr val="ECEEF2"/>
                </a:solidFill>
                <a:latin typeface="Arial" pitchFamily="34" charset="0"/>
                <a:ea typeface="Arial" pitchFamily="34" charset="-122"/>
                <a:cs typeface="Arial" pitchFamily="34" charset="-120"/>
              </a:rPr>
              <a:t>Strong + Moderate Fit </a:t>
            </a:r>
            <a:pPr algn="l" indent="0" marL="0">
              <a:lnSpc>
                <a:spcPct val="145000"/>
              </a:lnSpc>
              <a:buNone/>
            </a:pPr>
            <a:r>
              <a:rPr lang="en-US" sz="1800" dirty="0">
                <a:solidFill>
                  <a:srgbClr val="B7BCC8"/>
                </a:solidFill>
                <a:latin typeface="Arial" pitchFamily="34" charset="0"/>
                <a:ea typeface="Arial" pitchFamily="34" charset="-122"/>
                <a:cs typeface="Arial" pitchFamily="34" charset="-120"/>
              </a:rPr>
              <a:t>only for Tier-1 campaigns.</a:t>
            </a:r>
            <a:endParaRPr lang="en-US" sz="1800" dirty="0"/>
          </a:p>
        </p:txBody>
      </p:sp>
      <p:sp>
        <p:nvSpPr>
          <p:cNvPr id="34" name="Text 32"/>
          <p:cNvSpPr/>
          <p:nvPr/>
        </p:nvSpPr>
        <p:spPr>
          <a:xfrm>
            <a:off x="914400" y="5655766"/>
            <a:ext cx="304800"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82A6D9"/>
                </a:solidFill>
                <a:latin typeface="Arial" pitchFamily="34" charset="0"/>
                <a:ea typeface="Arial" pitchFamily="34" charset="-122"/>
                <a:cs typeface="Arial" pitchFamily="34" charset="-120"/>
              </a:rPr>
              <a:t>→</a:t>
            </a:r>
            <a:endParaRPr lang="en-US" sz="1800" dirty="0"/>
          </a:p>
        </p:txBody>
      </p:sp>
      <p:sp>
        <p:nvSpPr>
          <p:cNvPr id="35" name="Text 33"/>
          <p:cNvSpPr/>
          <p:nvPr/>
        </p:nvSpPr>
        <p:spPr>
          <a:xfrm>
            <a:off x="1276350" y="5636716"/>
            <a:ext cx="8196115" cy="38859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B7BCC8"/>
                </a:solidFill>
                <a:latin typeface="Arial" pitchFamily="34" charset="0"/>
                <a:ea typeface="Arial" pitchFamily="34" charset="-122"/>
                <a:cs typeface="Arial" pitchFamily="34" charset="-120"/>
              </a:rPr>
              <a:t>Trigger immediate SDR outreach when accounts hit the </a:t>
            </a:r>
            <a:pPr algn="l" indent="0" marL="0">
              <a:lnSpc>
                <a:spcPct val="145000"/>
              </a:lnSpc>
              <a:buNone/>
            </a:pPr>
            <a:r>
              <a:rPr lang="en-US" sz="1800" dirty="0">
                <a:solidFill>
                  <a:srgbClr val="ECEEF2"/>
                </a:solidFill>
                <a:latin typeface="Arial" pitchFamily="34" charset="0"/>
                <a:ea typeface="Arial" pitchFamily="34" charset="-122"/>
                <a:cs typeface="Arial" pitchFamily="34" charset="-120"/>
              </a:rPr>
              <a:t>Decision </a:t>
            </a:r>
            <a:pPr algn="l" indent="0" marL="0">
              <a:lnSpc>
                <a:spcPct val="145000"/>
              </a:lnSpc>
              <a:buNone/>
            </a:pPr>
            <a:r>
              <a:rPr lang="en-US" sz="1800" dirty="0">
                <a:solidFill>
                  <a:srgbClr val="B7BCC8"/>
                </a:solidFill>
                <a:latin typeface="Arial" pitchFamily="34" charset="0"/>
                <a:ea typeface="Arial" pitchFamily="34" charset="-122"/>
                <a:cs typeface="Arial" pitchFamily="34" charset="-120"/>
              </a:rPr>
              <a:t>buying stage.</a:t>
            </a:r>
            <a:endParaRPr lang="en-US" sz="1800" dirty="0"/>
          </a:p>
        </p:txBody>
      </p:sp>
      <p:sp>
        <p:nvSpPr>
          <p:cNvPr id="36" name="Text 34"/>
          <p:cNvSpPr/>
          <p:nvPr/>
        </p:nvSpPr>
        <p:spPr>
          <a:xfrm>
            <a:off x="914400" y="6101507"/>
            <a:ext cx="304800"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82A6D9"/>
                </a:solidFill>
                <a:latin typeface="Arial" pitchFamily="34" charset="0"/>
                <a:ea typeface="Arial" pitchFamily="34" charset="-122"/>
                <a:cs typeface="Arial" pitchFamily="34" charset="-120"/>
              </a:rPr>
              <a:t>→</a:t>
            </a:r>
            <a:endParaRPr lang="en-US" sz="1800" dirty="0"/>
          </a:p>
        </p:txBody>
      </p:sp>
      <p:sp>
        <p:nvSpPr>
          <p:cNvPr id="37" name="Text 35"/>
          <p:cNvSpPr/>
          <p:nvPr/>
        </p:nvSpPr>
        <p:spPr>
          <a:xfrm>
            <a:off x="1276350" y="6082457"/>
            <a:ext cx="6147661" cy="38859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B7BCC8"/>
                </a:solidFill>
                <a:latin typeface="Arial" pitchFamily="34" charset="0"/>
                <a:ea typeface="Arial" pitchFamily="34" charset="-122"/>
                <a:cs typeface="Arial" pitchFamily="34" charset="-120"/>
              </a:rPr>
              <a:t>Use </a:t>
            </a:r>
            <a:pPr algn="l" indent="0" marL="0">
              <a:lnSpc>
                <a:spcPct val="145000"/>
              </a:lnSpc>
              <a:buNone/>
            </a:pPr>
            <a:r>
              <a:rPr lang="en-US" sz="1800" dirty="0">
                <a:solidFill>
                  <a:srgbClr val="ECEEF2"/>
                </a:solidFill>
                <a:latin typeface="Arial" pitchFamily="34" charset="0"/>
                <a:ea typeface="Arial" pitchFamily="34" charset="-122"/>
                <a:cs typeface="Arial" pitchFamily="34" charset="-120"/>
              </a:rPr>
              <a:t>Profile Fit × Buying Stage </a:t>
            </a:r>
            <a:pPr algn="l" indent="0" marL="0">
              <a:lnSpc>
                <a:spcPct val="145000"/>
              </a:lnSpc>
              <a:buNone/>
            </a:pPr>
            <a:r>
              <a:rPr lang="en-US" sz="1800" dirty="0">
                <a:solidFill>
                  <a:srgbClr val="B7BCC8"/>
                </a:solidFill>
                <a:latin typeface="Arial" pitchFamily="34" charset="0"/>
                <a:ea typeface="Arial" pitchFamily="34" charset="-122"/>
                <a:cs typeface="Arial" pitchFamily="34" charset="-120"/>
              </a:rPr>
              <a:t>as a 2×2 prioritization matrix.</a:t>
            </a:r>
            <a:endParaRPr lang="en-US" sz="1800" dirty="0"/>
          </a:p>
        </p:txBody>
      </p:sp>
      <p:sp>
        <p:nvSpPr>
          <p:cNvPr id="38" name="Text 36"/>
          <p:cNvSpPr/>
          <p:nvPr/>
        </p:nvSpPr>
        <p:spPr>
          <a:xfrm>
            <a:off x="762000" y="9791700"/>
            <a:ext cx="961876"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15 / FIT</a:t>
            </a:r>
            <a:endParaRPr lang="en-US" sz="900" dirty="0"/>
          </a:p>
        </p:txBody>
      </p:sp>
      <p:sp>
        <p:nvSpPr>
          <p:cNvPr id="39" name="Text 37"/>
          <p:cNvSpPr/>
          <p:nvPr/>
        </p:nvSpPr>
        <p:spPr>
          <a:xfrm>
            <a:off x="15428565" y="9791700"/>
            <a:ext cx="2173635"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SOURCE: 6SENSE SEGMENTS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301021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16 / 21 · BUDGET RECOMMENDATION</a:t>
            </a:r>
            <a:endParaRPr lang="en-US" sz="975" dirty="0"/>
          </a:p>
        </p:txBody>
      </p:sp>
      <p:sp>
        <p:nvSpPr>
          <p:cNvPr id="11" name="Text 9"/>
          <p:cNvSpPr/>
          <p:nvPr/>
        </p:nvSpPr>
        <p:spPr>
          <a:xfrm>
            <a:off x="16657886" y="361950"/>
            <a:ext cx="94431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V</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16</a:t>
            </a:r>
            <a:endParaRPr lang="en-US" sz="1125" dirty="0"/>
          </a:p>
        </p:txBody>
      </p:sp>
      <p:sp>
        <p:nvSpPr>
          <p:cNvPr id="13" name="Text 11"/>
          <p:cNvSpPr/>
          <p:nvPr/>
        </p:nvSpPr>
        <p:spPr>
          <a:xfrm>
            <a:off x="1275308" y="800100"/>
            <a:ext cx="1033165"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BUDGET</a:t>
            </a:r>
            <a:endParaRPr lang="en-US" sz="1125" dirty="0"/>
          </a:p>
        </p:txBody>
      </p:sp>
      <p:sp>
        <p:nvSpPr>
          <p:cNvPr id="14" name="Text 12"/>
          <p:cNvSpPr/>
          <p:nvPr/>
        </p:nvSpPr>
        <p:spPr>
          <a:xfrm>
            <a:off x="914400" y="1171575"/>
            <a:ext cx="16952976" cy="1543645"/>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Three scenarios. Status Quo, ROI-Optimized, Growth.</a:t>
            </a:r>
            <a:endParaRPr lang="en-US" sz="5700" dirty="0"/>
          </a:p>
        </p:txBody>
      </p:sp>
      <p:sp>
        <p:nvSpPr>
          <p:cNvPr id="15" name="Shape 13"/>
          <p:cNvSpPr/>
          <p:nvPr/>
        </p:nvSpPr>
        <p:spPr>
          <a:xfrm>
            <a:off x="914400" y="3491508"/>
            <a:ext cx="2854375" cy="9525"/>
          </a:xfrm>
          <a:prstGeom prst="rect">
            <a:avLst/>
          </a:prstGeom>
          <a:solidFill>
            <a:srgbClr val="2A3450"/>
          </a:solidFill>
          <a:ln/>
        </p:spPr>
      </p:sp>
      <p:sp>
        <p:nvSpPr>
          <p:cNvPr id="16" name="Text 14"/>
          <p:cNvSpPr/>
          <p:nvPr/>
        </p:nvSpPr>
        <p:spPr>
          <a:xfrm>
            <a:off x="1028700" y="3248620"/>
            <a:ext cx="2711406" cy="166688"/>
          </a:xfrm>
          <a:prstGeom prst="rect">
            <a:avLst/>
          </a:prstGeom>
          <a:noFill/>
          <a:ln/>
        </p:spPr>
        <p:txBody>
          <a:bodyPr wrap="square" lIns="25400" tIns="25400" rIns="25400" bIns="25400" rtlCol="0" anchor="ctr">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CHANNEL</a:t>
            </a:r>
            <a:endParaRPr lang="en-US" sz="825" dirty="0"/>
          </a:p>
        </p:txBody>
      </p:sp>
      <p:sp>
        <p:nvSpPr>
          <p:cNvPr id="17" name="Shape 15"/>
          <p:cNvSpPr/>
          <p:nvPr/>
        </p:nvSpPr>
        <p:spPr>
          <a:xfrm>
            <a:off x="3768775" y="3491508"/>
            <a:ext cx="2412802" cy="9525"/>
          </a:xfrm>
          <a:prstGeom prst="rect">
            <a:avLst/>
          </a:prstGeom>
          <a:solidFill>
            <a:srgbClr val="2A3450"/>
          </a:solidFill>
          <a:ln/>
        </p:spPr>
      </p:sp>
      <p:sp>
        <p:nvSpPr>
          <p:cNvPr id="18" name="Text 16"/>
          <p:cNvSpPr/>
          <p:nvPr/>
        </p:nvSpPr>
        <p:spPr>
          <a:xfrm>
            <a:off x="3806875" y="3248620"/>
            <a:ext cx="2260402"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STATUS QUO</a:t>
            </a:r>
            <a:endParaRPr lang="en-US" sz="825" dirty="0"/>
          </a:p>
        </p:txBody>
      </p:sp>
      <p:sp>
        <p:nvSpPr>
          <p:cNvPr id="19" name="Shape 17"/>
          <p:cNvSpPr/>
          <p:nvPr/>
        </p:nvSpPr>
        <p:spPr>
          <a:xfrm>
            <a:off x="6181576" y="3491508"/>
            <a:ext cx="2981623" cy="9525"/>
          </a:xfrm>
          <a:prstGeom prst="rect">
            <a:avLst/>
          </a:prstGeom>
          <a:solidFill>
            <a:srgbClr val="2A3450"/>
          </a:solidFill>
          <a:ln/>
        </p:spPr>
      </p:sp>
      <p:sp>
        <p:nvSpPr>
          <p:cNvPr id="20" name="Text 18"/>
          <p:cNvSpPr/>
          <p:nvPr/>
        </p:nvSpPr>
        <p:spPr>
          <a:xfrm>
            <a:off x="6206427" y="3248620"/>
            <a:ext cx="2842471"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ROI-OPTIMIZED</a:t>
            </a:r>
            <a:endParaRPr lang="en-US" sz="825" dirty="0"/>
          </a:p>
        </p:txBody>
      </p:sp>
      <p:sp>
        <p:nvSpPr>
          <p:cNvPr id="21" name="Shape 19"/>
          <p:cNvSpPr/>
          <p:nvPr/>
        </p:nvSpPr>
        <p:spPr>
          <a:xfrm>
            <a:off x="9163199" y="3491508"/>
            <a:ext cx="2711351" cy="9525"/>
          </a:xfrm>
          <a:prstGeom prst="rect">
            <a:avLst/>
          </a:prstGeom>
          <a:solidFill>
            <a:srgbClr val="2A3450"/>
          </a:solidFill>
          <a:ln/>
        </p:spPr>
      </p:sp>
      <p:sp>
        <p:nvSpPr>
          <p:cNvPr id="22" name="Text 20"/>
          <p:cNvSpPr/>
          <p:nvPr/>
        </p:nvSpPr>
        <p:spPr>
          <a:xfrm>
            <a:off x="9196158" y="3248620"/>
            <a:ext cx="2564091" cy="166688"/>
          </a:xfrm>
          <a:prstGeom prst="rect">
            <a:avLst/>
          </a:prstGeom>
          <a:noFill/>
          <a:ln/>
        </p:spPr>
        <p:txBody>
          <a:bodyPr wrap="square" lIns="25400" tIns="25400" rIns="25400" bIns="25400" rtlCol="0" anchor="ctr">
            <a:normAutofit/>
          </a:bodyPr>
          <a:lstStyle/>
          <a:p>
            <a:pPr algn="r" indent="0" marL="0">
              <a:buNone/>
            </a:pPr>
            <a:r>
              <a:rPr lang="en-US" sz="825" spc="165" kern="0" dirty="0">
                <a:solidFill>
                  <a:srgbClr val="7C8493"/>
                </a:solidFill>
                <a:latin typeface="Arial" pitchFamily="34" charset="0"/>
                <a:ea typeface="Arial" pitchFamily="34" charset="-122"/>
                <a:cs typeface="Arial" pitchFamily="34" charset="-120"/>
              </a:rPr>
              <a:t>GROWTH MODE</a:t>
            </a:r>
            <a:endParaRPr lang="en-US" sz="825" dirty="0"/>
          </a:p>
        </p:txBody>
      </p:sp>
      <p:sp>
        <p:nvSpPr>
          <p:cNvPr id="23" name="Shape 21"/>
          <p:cNvSpPr/>
          <p:nvPr/>
        </p:nvSpPr>
        <p:spPr>
          <a:xfrm>
            <a:off x="11874550" y="3491508"/>
            <a:ext cx="5499050" cy="9525"/>
          </a:xfrm>
          <a:prstGeom prst="rect">
            <a:avLst/>
          </a:prstGeom>
          <a:solidFill>
            <a:srgbClr val="2A3450"/>
          </a:solidFill>
          <a:ln/>
        </p:spPr>
      </p:sp>
      <p:sp>
        <p:nvSpPr>
          <p:cNvPr id="24" name="Text 22"/>
          <p:cNvSpPr/>
          <p:nvPr/>
        </p:nvSpPr>
        <p:spPr>
          <a:xfrm>
            <a:off x="11988850" y="3248620"/>
            <a:ext cx="5435422" cy="166688"/>
          </a:xfrm>
          <a:prstGeom prst="rect">
            <a:avLst/>
          </a:prstGeom>
          <a:noFill/>
          <a:ln/>
        </p:spPr>
        <p:txBody>
          <a:bodyPr wrap="square" lIns="25400" tIns="25400" rIns="25400" bIns="25400" rtlCol="0" anchor="ctr">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Δ STRATEGY</a:t>
            </a:r>
            <a:endParaRPr lang="en-US" sz="825" dirty="0"/>
          </a:p>
        </p:txBody>
      </p:sp>
      <p:sp>
        <p:nvSpPr>
          <p:cNvPr id="25" name="Shape 23"/>
          <p:cNvSpPr/>
          <p:nvPr/>
        </p:nvSpPr>
        <p:spPr>
          <a:xfrm>
            <a:off x="914400" y="3939183"/>
            <a:ext cx="2854375" cy="9525"/>
          </a:xfrm>
          <a:prstGeom prst="rect">
            <a:avLst/>
          </a:prstGeom>
          <a:solidFill>
            <a:srgbClr val="2A3450"/>
          </a:solidFill>
          <a:ln/>
        </p:spPr>
      </p:sp>
      <p:sp>
        <p:nvSpPr>
          <p:cNvPr id="26" name="Text 24"/>
          <p:cNvSpPr/>
          <p:nvPr/>
        </p:nvSpPr>
        <p:spPr>
          <a:xfrm>
            <a:off x="1028700" y="3634383"/>
            <a:ext cx="2711406"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Email Nurture</a:t>
            </a:r>
            <a:endParaRPr lang="en-US" sz="1200" dirty="0"/>
          </a:p>
        </p:txBody>
      </p:sp>
      <p:sp>
        <p:nvSpPr>
          <p:cNvPr id="27" name="Shape 25"/>
          <p:cNvSpPr/>
          <p:nvPr/>
        </p:nvSpPr>
        <p:spPr>
          <a:xfrm>
            <a:off x="3768775" y="3939183"/>
            <a:ext cx="2412802" cy="9525"/>
          </a:xfrm>
          <a:prstGeom prst="rect">
            <a:avLst/>
          </a:prstGeom>
          <a:solidFill>
            <a:srgbClr val="2A3450"/>
          </a:solidFill>
          <a:ln/>
        </p:spPr>
      </p:sp>
      <p:sp>
        <p:nvSpPr>
          <p:cNvPr id="28" name="Text 26"/>
          <p:cNvSpPr/>
          <p:nvPr/>
        </p:nvSpPr>
        <p:spPr>
          <a:xfrm>
            <a:off x="3806875" y="3634383"/>
            <a:ext cx="2260402"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$32K</a:t>
            </a:r>
            <a:endParaRPr lang="en-US" sz="1200" dirty="0"/>
          </a:p>
        </p:txBody>
      </p:sp>
      <p:sp>
        <p:nvSpPr>
          <p:cNvPr id="29" name="Shape 27"/>
          <p:cNvSpPr/>
          <p:nvPr/>
        </p:nvSpPr>
        <p:spPr>
          <a:xfrm>
            <a:off x="6181576" y="3939183"/>
            <a:ext cx="2981623" cy="9525"/>
          </a:xfrm>
          <a:prstGeom prst="rect">
            <a:avLst/>
          </a:prstGeom>
          <a:solidFill>
            <a:srgbClr val="2A3450"/>
          </a:solidFill>
          <a:ln/>
        </p:spPr>
      </p:sp>
      <p:sp>
        <p:nvSpPr>
          <p:cNvPr id="30" name="Text 28"/>
          <p:cNvSpPr/>
          <p:nvPr/>
        </p:nvSpPr>
        <p:spPr>
          <a:xfrm>
            <a:off x="6206427" y="3634383"/>
            <a:ext cx="284247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88D1B0"/>
                </a:solidFill>
                <a:latin typeface="Arial" pitchFamily="34" charset="0"/>
                <a:ea typeface="Arial" pitchFamily="34" charset="-122"/>
                <a:cs typeface="Arial" pitchFamily="34" charset="-120"/>
              </a:rPr>
              <a:t>$38K · +20%</a:t>
            </a:r>
            <a:endParaRPr lang="en-US" sz="1200" dirty="0"/>
          </a:p>
        </p:txBody>
      </p:sp>
      <p:sp>
        <p:nvSpPr>
          <p:cNvPr id="31" name="Shape 29"/>
          <p:cNvSpPr/>
          <p:nvPr/>
        </p:nvSpPr>
        <p:spPr>
          <a:xfrm>
            <a:off x="9163199" y="3939183"/>
            <a:ext cx="2711351" cy="9525"/>
          </a:xfrm>
          <a:prstGeom prst="rect">
            <a:avLst/>
          </a:prstGeom>
          <a:solidFill>
            <a:srgbClr val="2A3450"/>
          </a:solidFill>
          <a:ln/>
        </p:spPr>
      </p:sp>
      <p:sp>
        <p:nvSpPr>
          <p:cNvPr id="32" name="Text 30"/>
          <p:cNvSpPr/>
          <p:nvPr/>
        </p:nvSpPr>
        <p:spPr>
          <a:xfrm>
            <a:off x="9196158" y="3634383"/>
            <a:ext cx="256409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88D1B0"/>
                </a:solidFill>
                <a:latin typeface="Arial" pitchFamily="34" charset="0"/>
                <a:ea typeface="Arial" pitchFamily="34" charset="-122"/>
                <a:cs typeface="Arial" pitchFamily="34" charset="-120"/>
              </a:rPr>
              <a:t>$64K · +100%</a:t>
            </a:r>
            <a:endParaRPr lang="en-US" sz="1200" dirty="0"/>
          </a:p>
        </p:txBody>
      </p:sp>
      <p:sp>
        <p:nvSpPr>
          <p:cNvPr id="33" name="Shape 31"/>
          <p:cNvSpPr/>
          <p:nvPr/>
        </p:nvSpPr>
        <p:spPr>
          <a:xfrm>
            <a:off x="11874550" y="3939183"/>
            <a:ext cx="5499050" cy="9525"/>
          </a:xfrm>
          <a:prstGeom prst="rect">
            <a:avLst/>
          </a:prstGeom>
          <a:solidFill>
            <a:srgbClr val="2A3450"/>
          </a:solidFill>
          <a:ln/>
        </p:spPr>
      </p:sp>
      <p:sp>
        <p:nvSpPr>
          <p:cNvPr id="34" name="Text 32"/>
          <p:cNvSpPr/>
          <p:nvPr/>
        </p:nvSpPr>
        <p:spPr>
          <a:xfrm>
            <a:off x="11988850" y="3634383"/>
            <a:ext cx="5435422"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Lean in — top First-Touch driver</a:t>
            </a:r>
            <a:endParaRPr lang="en-US" sz="1200" dirty="0"/>
          </a:p>
        </p:txBody>
      </p:sp>
      <p:sp>
        <p:nvSpPr>
          <p:cNvPr id="35" name="Shape 33"/>
          <p:cNvSpPr/>
          <p:nvPr/>
        </p:nvSpPr>
        <p:spPr>
          <a:xfrm>
            <a:off x="914400" y="4386858"/>
            <a:ext cx="2854375" cy="9525"/>
          </a:xfrm>
          <a:prstGeom prst="rect">
            <a:avLst/>
          </a:prstGeom>
          <a:solidFill>
            <a:srgbClr val="2A3450"/>
          </a:solidFill>
          <a:ln/>
        </p:spPr>
      </p:sp>
      <p:sp>
        <p:nvSpPr>
          <p:cNvPr id="36" name="Text 34"/>
          <p:cNvSpPr/>
          <p:nvPr/>
        </p:nvSpPr>
        <p:spPr>
          <a:xfrm>
            <a:off x="1028700" y="4082058"/>
            <a:ext cx="2711406"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6sense Display</a:t>
            </a:r>
            <a:endParaRPr lang="en-US" sz="1200" dirty="0"/>
          </a:p>
        </p:txBody>
      </p:sp>
      <p:sp>
        <p:nvSpPr>
          <p:cNvPr id="37" name="Shape 35"/>
          <p:cNvSpPr/>
          <p:nvPr/>
        </p:nvSpPr>
        <p:spPr>
          <a:xfrm>
            <a:off x="3768775" y="4386858"/>
            <a:ext cx="2412802" cy="9525"/>
          </a:xfrm>
          <a:prstGeom prst="rect">
            <a:avLst/>
          </a:prstGeom>
          <a:solidFill>
            <a:srgbClr val="2A3450"/>
          </a:solidFill>
          <a:ln/>
        </p:spPr>
      </p:sp>
      <p:sp>
        <p:nvSpPr>
          <p:cNvPr id="38" name="Text 36"/>
          <p:cNvSpPr/>
          <p:nvPr/>
        </p:nvSpPr>
        <p:spPr>
          <a:xfrm>
            <a:off x="3806875" y="4082058"/>
            <a:ext cx="2260402"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$48K</a:t>
            </a:r>
            <a:endParaRPr lang="en-US" sz="1200" dirty="0"/>
          </a:p>
        </p:txBody>
      </p:sp>
      <p:sp>
        <p:nvSpPr>
          <p:cNvPr id="39" name="Shape 37"/>
          <p:cNvSpPr/>
          <p:nvPr/>
        </p:nvSpPr>
        <p:spPr>
          <a:xfrm>
            <a:off x="6181576" y="4386858"/>
            <a:ext cx="2981623" cy="9525"/>
          </a:xfrm>
          <a:prstGeom prst="rect">
            <a:avLst/>
          </a:prstGeom>
          <a:solidFill>
            <a:srgbClr val="2A3450"/>
          </a:solidFill>
          <a:ln/>
        </p:spPr>
      </p:sp>
      <p:sp>
        <p:nvSpPr>
          <p:cNvPr id="40" name="Text 38"/>
          <p:cNvSpPr/>
          <p:nvPr/>
        </p:nvSpPr>
        <p:spPr>
          <a:xfrm>
            <a:off x="6206427" y="4082058"/>
            <a:ext cx="284247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88D1B0"/>
                </a:solidFill>
                <a:latin typeface="Arial" pitchFamily="34" charset="0"/>
                <a:ea typeface="Arial" pitchFamily="34" charset="-122"/>
                <a:cs typeface="Arial" pitchFamily="34" charset="-120"/>
              </a:rPr>
              <a:t>$62K · +30%</a:t>
            </a:r>
            <a:endParaRPr lang="en-US" sz="1200" dirty="0"/>
          </a:p>
        </p:txBody>
      </p:sp>
      <p:sp>
        <p:nvSpPr>
          <p:cNvPr id="41" name="Shape 39"/>
          <p:cNvSpPr/>
          <p:nvPr/>
        </p:nvSpPr>
        <p:spPr>
          <a:xfrm>
            <a:off x="9163199" y="4386858"/>
            <a:ext cx="2711351" cy="9525"/>
          </a:xfrm>
          <a:prstGeom prst="rect">
            <a:avLst/>
          </a:prstGeom>
          <a:solidFill>
            <a:srgbClr val="2A3450"/>
          </a:solidFill>
          <a:ln/>
        </p:spPr>
      </p:sp>
      <p:sp>
        <p:nvSpPr>
          <p:cNvPr id="42" name="Text 40"/>
          <p:cNvSpPr/>
          <p:nvPr/>
        </p:nvSpPr>
        <p:spPr>
          <a:xfrm>
            <a:off x="9196158" y="4082058"/>
            <a:ext cx="256409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88D1B0"/>
                </a:solidFill>
                <a:latin typeface="Arial" pitchFamily="34" charset="0"/>
                <a:ea typeface="Arial" pitchFamily="34" charset="-122"/>
                <a:cs typeface="Arial" pitchFamily="34" charset="-120"/>
              </a:rPr>
              <a:t>$96K · +100%</a:t>
            </a:r>
            <a:endParaRPr lang="en-US" sz="1200" dirty="0"/>
          </a:p>
        </p:txBody>
      </p:sp>
      <p:sp>
        <p:nvSpPr>
          <p:cNvPr id="43" name="Shape 41"/>
          <p:cNvSpPr/>
          <p:nvPr/>
        </p:nvSpPr>
        <p:spPr>
          <a:xfrm>
            <a:off x="11874550" y="4386858"/>
            <a:ext cx="5499050" cy="9525"/>
          </a:xfrm>
          <a:prstGeom prst="rect">
            <a:avLst/>
          </a:prstGeom>
          <a:solidFill>
            <a:srgbClr val="2A3450"/>
          </a:solidFill>
          <a:ln/>
        </p:spPr>
      </p:sp>
      <p:sp>
        <p:nvSpPr>
          <p:cNvPr id="44" name="Text 42"/>
          <p:cNvSpPr/>
          <p:nvPr/>
        </p:nvSpPr>
        <p:spPr>
          <a:xfrm>
            <a:off x="11988850" y="4082058"/>
            <a:ext cx="5435422"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Lean in — closes deals</a:t>
            </a:r>
            <a:endParaRPr lang="en-US" sz="1200" dirty="0"/>
          </a:p>
        </p:txBody>
      </p:sp>
      <p:sp>
        <p:nvSpPr>
          <p:cNvPr id="45" name="Shape 43"/>
          <p:cNvSpPr/>
          <p:nvPr/>
        </p:nvSpPr>
        <p:spPr>
          <a:xfrm>
            <a:off x="914400" y="4834533"/>
            <a:ext cx="2854375" cy="9525"/>
          </a:xfrm>
          <a:prstGeom prst="rect">
            <a:avLst/>
          </a:prstGeom>
          <a:solidFill>
            <a:srgbClr val="2A3450"/>
          </a:solidFill>
          <a:ln/>
        </p:spPr>
      </p:sp>
      <p:sp>
        <p:nvSpPr>
          <p:cNvPr id="46" name="Text 44"/>
          <p:cNvSpPr/>
          <p:nvPr/>
        </p:nvSpPr>
        <p:spPr>
          <a:xfrm>
            <a:off x="1028700" y="4529733"/>
            <a:ext cx="2711406"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Web / Inbound</a:t>
            </a:r>
            <a:endParaRPr lang="en-US" sz="1200" dirty="0"/>
          </a:p>
        </p:txBody>
      </p:sp>
      <p:sp>
        <p:nvSpPr>
          <p:cNvPr id="47" name="Shape 45"/>
          <p:cNvSpPr/>
          <p:nvPr/>
        </p:nvSpPr>
        <p:spPr>
          <a:xfrm>
            <a:off x="3768775" y="4834533"/>
            <a:ext cx="2412802" cy="9525"/>
          </a:xfrm>
          <a:prstGeom prst="rect">
            <a:avLst/>
          </a:prstGeom>
          <a:solidFill>
            <a:srgbClr val="2A3450"/>
          </a:solidFill>
          <a:ln/>
        </p:spPr>
      </p:sp>
      <p:sp>
        <p:nvSpPr>
          <p:cNvPr id="48" name="Text 46"/>
          <p:cNvSpPr/>
          <p:nvPr/>
        </p:nvSpPr>
        <p:spPr>
          <a:xfrm>
            <a:off x="3806875" y="4529733"/>
            <a:ext cx="2260402"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$18K</a:t>
            </a:r>
            <a:endParaRPr lang="en-US" sz="1200" dirty="0"/>
          </a:p>
        </p:txBody>
      </p:sp>
      <p:sp>
        <p:nvSpPr>
          <p:cNvPr id="49" name="Shape 47"/>
          <p:cNvSpPr/>
          <p:nvPr/>
        </p:nvSpPr>
        <p:spPr>
          <a:xfrm>
            <a:off x="6181576" y="4834533"/>
            <a:ext cx="2981623" cy="9525"/>
          </a:xfrm>
          <a:prstGeom prst="rect">
            <a:avLst/>
          </a:prstGeom>
          <a:solidFill>
            <a:srgbClr val="2A3450"/>
          </a:solidFill>
          <a:ln/>
        </p:spPr>
      </p:sp>
      <p:sp>
        <p:nvSpPr>
          <p:cNvPr id="50" name="Text 48"/>
          <p:cNvSpPr/>
          <p:nvPr/>
        </p:nvSpPr>
        <p:spPr>
          <a:xfrm>
            <a:off x="6206427" y="4529733"/>
            <a:ext cx="284247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$18K · 0%</a:t>
            </a:r>
            <a:endParaRPr lang="en-US" sz="1200" dirty="0"/>
          </a:p>
        </p:txBody>
      </p:sp>
      <p:sp>
        <p:nvSpPr>
          <p:cNvPr id="51" name="Shape 49"/>
          <p:cNvSpPr/>
          <p:nvPr/>
        </p:nvSpPr>
        <p:spPr>
          <a:xfrm>
            <a:off x="9163199" y="4834533"/>
            <a:ext cx="2711351" cy="9525"/>
          </a:xfrm>
          <a:prstGeom prst="rect">
            <a:avLst/>
          </a:prstGeom>
          <a:solidFill>
            <a:srgbClr val="2A3450"/>
          </a:solidFill>
          <a:ln/>
        </p:spPr>
      </p:sp>
      <p:sp>
        <p:nvSpPr>
          <p:cNvPr id="52" name="Text 50"/>
          <p:cNvSpPr/>
          <p:nvPr/>
        </p:nvSpPr>
        <p:spPr>
          <a:xfrm>
            <a:off x="9196158" y="4529733"/>
            <a:ext cx="256409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88D1B0"/>
                </a:solidFill>
                <a:latin typeface="Arial" pitchFamily="34" charset="0"/>
                <a:ea typeface="Arial" pitchFamily="34" charset="-122"/>
                <a:cs typeface="Arial" pitchFamily="34" charset="-120"/>
              </a:rPr>
              <a:t>$22K · +22%</a:t>
            </a:r>
            <a:endParaRPr lang="en-US" sz="1200" dirty="0"/>
          </a:p>
        </p:txBody>
      </p:sp>
      <p:sp>
        <p:nvSpPr>
          <p:cNvPr id="53" name="Shape 51"/>
          <p:cNvSpPr/>
          <p:nvPr/>
        </p:nvSpPr>
        <p:spPr>
          <a:xfrm>
            <a:off x="11874550" y="4834533"/>
            <a:ext cx="5499050" cy="9525"/>
          </a:xfrm>
          <a:prstGeom prst="rect">
            <a:avLst/>
          </a:prstGeom>
          <a:solidFill>
            <a:srgbClr val="2A3450"/>
          </a:solidFill>
          <a:ln/>
        </p:spPr>
      </p:sp>
      <p:sp>
        <p:nvSpPr>
          <p:cNvPr id="54" name="Text 52"/>
          <p:cNvSpPr/>
          <p:nvPr/>
        </p:nvSpPr>
        <p:spPr>
          <a:xfrm>
            <a:off x="11988850" y="4529733"/>
            <a:ext cx="5435422"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Hold; invest in de-anonymization</a:t>
            </a:r>
            <a:endParaRPr lang="en-US" sz="1200" dirty="0"/>
          </a:p>
        </p:txBody>
      </p:sp>
      <p:sp>
        <p:nvSpPr>
          <p:cNvPr id="55" name="Shape 53"/>
          <p:cNvSpPr/>
          <p:nvPr/>
        </p:nvSpPr>
        <p:spPr>
          <a:xfrm>
            <a:off x="914400" y="5282208"/>
            <a:ext cx="2854375" cy="9525"/>
          </a:xfrm>
          <a:prstGeom prst="rect">
            <a:avLst/>
          </a:prstGeom>
          <a:solidFill>
            <a:srgbClr val="2A3450"/>
          </a:solidFill>
          <a:ln/>
        </p:spPr>
      </p:sp>
      <p:sp>
        <p:nvSpPr>
          <p:cNvPr id="56" name="Text 54"/>
          <p:cNvSpPr/>
          <p:nvPr/>
        </p:nvSpPr>
        <p:spPr>
          <a:xfrm>
            <a:off x="1028700" y="4977408"/>
            <a:ext cx="2711406"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Events</a:t>
            </a:r>
            <a:endParaRPr lang="en-US" sz="1200" dirty="0"/>
          </a:p>
        </p:txBody>
      </p:sp>
      <p:sp>
        <p:nvSpPr>
          <p:cNvPr id="57" name="Shape 55"/>
          <p:cNvSpPr/>
          <p:nvPr/>
        </p:nvSpPr>
        <p:spPr>
          <a:xfrm>
            <a:off x="3768775" y="5282208"/>
            <a:ext cx="2412802" cy="9525"/>
          </a:xfrm>
          <a:prstGeom prst="rect">
            <a:avLst/>
          </a:prstGeom>
          <a:solidFill>
            <a:srgbClr val="2A3450"/>
          </a:solidFill>
          <a:ln/>
        </p:spPr>
      </p:sp>
      <p:sp>
        <p:nvSpPr>
          <p:cNvPr id="58" name="Text 56"/>
          <p:cNvSpPr/>
          <p:nvPr/>
        </p:nvSpPr>
        <p:spPr>
          <a:xfrm>
            <a:off x="3806875" y="4977408"/>
            <a:ext cx="2260402"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$12K</a:t>
            </a:r>
            <a:endParaRPr lang="en-US" sz="1200" dirty="0"/>
          </a:p>
        </p:txBody>
      </p:sp>
      <p:sp>
        <p:nvSpPr>
          <p:cNvPr id="59" name="Shape 57"/>
          <p:cNvSpPr/>
          <p:nvPr/>
        </p:nvSpPr>
        <p:spPr>
          <a:xfrm>
            <a:off x="6181576" y="5282208"/>
            <a:ext cx="2981623" cy="9525"/>
          </a:xfrm>
          <a:prstGeom prst="rect">
            <a:avLst/>
          </a:prstGeom>
          <a:solidFill>
            <a:srgbClr val="2A3450"/>
          </a:solidFill>
          <a:ln/>
        </p:spPr>
      </p:sp>
      <p:sp>
        <p:nvSpPr>
          <p:cNvPr id="60" name="Text 58"/>
          <p:cNvSpPr/>
          <p:nvPr/>
        </p:nvSpPr>
        <p:spPr>
          <a:xfrm>
            <a:off x="6206427" y="4977408"/>
            <a:ext cx="284247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68FA8"/>
                </a:solidFill>
                <a:latin typeface="Arial" pitchFamily="34" charset="0"/>
                <a:ea typeface="Arial" pitchFamily="34" charset="-122"/>
                <a:cs typeface="Arial" pitchFamily="34" charset="-120"/>
              </a:rPr>
              <a:t>$4K · -67%</a:t>
            </a:r>
            <a:endParaRPr lang="en-US" sz="1200" dirty="0"/>
          </a:p>
        </p:txBody>
      </p:sp>
      <p:sp>
        <p:nvSpPr>
          <p:cNvPr id="61" name="Shape 59"/>
          <p:cNvSpPr/>
          <p:nvPr/>
        </p:nvSpPr>
        <p:spPr>
          <a:xfrm>
            <a:off x="9163199" y="5282208"/>
            <a:ext cx="2711351" cy="9525"/>
          </a:xfrm>
          <a:prstGeom prst="rect">
            <a:avLst/>
          </a:prstGeom>
          <a:solidFill>
            <a:srgbClr val="2A3450"/>
          </a:solidFill>
          <a:ln/>
        </p:spPr>
      </p:sp>
      <p:sp>
        <p:nvSpPr>
          <p:cNvPr id="62" name="Text 60"/>
          <p:cNvSpPr/>
          <p:nvPr/>
        </p:nvSpPr>
        <p:spPr>
          <a:xfrm>
            <a:off x="9196158" y="4977408"/>
            <a:ext cx="256409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68FA8"/>
                </a:solidFill>
                <a:latin typeface="Arial" pitchFamily="34" charset="0"/>
                <a:ea typeface="Arial" pitchFamily="34" charset="-122"/>
                <a:cs typeface="Arial" pitchFamily="34" charset="-120"/>
              </a:rPr>
              <a:t>$2K · -83%</a:t>
            </a:r>
            <a:endParaRPr lang="en-US" sz="1200" dirty="0"/>
          </a:p>
        </p:txBody>
      </p:sp>
      <p:sp>
        <p:nvSpPr>
          <p:cNvPr id="63" name="Shape 61"/>
          <p:cNvSpPr/>
          <p:nvPr/>
        </p:nvSpPr>
        <p:spPr>
          <a:xfrm>
            <a:off x="11874550" y="5282208"/>
            <a:ext cx="5499050" cy="9525"/>
          </a:xfrm>
          <a:prstGeom prst="rect">
            <a:avLst/>
          </a:prstGeom>
          <a:solidFill>
            <a:srgbClr val="2A3450"/>
          </a:solidFill>
          <a:ln/>
        </p:spPr>
      </p:sp>
      <p:sp>
        <p:nvSpPr>
          <p:cNvPr id="64" name="Text 62"/>
          <p:cNvSpPr/>
          <p:nvPr/>
        </p:nvSpPr>
        <p:spPr>
          <a:xfrm>
            <a:off x="11988850" y="4977408"/>
            <a:ext cx="5435422"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Cut — low ROI in this dataset</a:t>
            </a:r>
            <a:endParaRPr lang="en-US" sz="1200" dirty="0"/>
          </a:p>
        </p:txBody>
      </p:sp>
      <p:sp>
        <p:nvSpPr>
          <p:cNvPr id="65" name="Shape 63"/>
          <p:cNvSpPr/>
          <p:nvPr/>
        </p:nvSpPr>
        <p:spPr>
          <a:xfrm>
            <a:off x="914400" y="5729883"/>
            <a:ext cx="2854375" cy="9525"/>
          </a:xfrm>
          <a:prstGeom prst="rect">
            <a:avLst/>
          </a:prstGeom>
          <a:solidFill>
            <a:srgbClr val="2A3450"/>
          </a:solidFill>
          <a:ln/>
        </p:spPr>
      </p:sp>
      <p:sp>
        <p:nvSpPr>
          <p:cNvPr id="66" name="Text 64"/>
          <p:cNvSpPr/>
          <p:nvPr/>
        </p:nvSpPr>
        <p:spPr>
          <a:xfrm>
            <a:off x="1028700" y="5425083"/>
            <a:ext cx="2711406"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Other Paid</a:t>
            </a:r>
            <a:endParaRPr lang="en-US" sz="1200" dirty="0"/>
          </a:p>
        </p:txBody>
      </p:sp>
      <p:sp>
        <p:nvSpPr>
          <p:cNvPr id="67" name="Shape 65"/>
          <p:cNvSpPr/>
          <p:nvPr/>
        </p:nvSpPr>
        <p:spPr>
          <a:xfrm>
            <a:off x="3768775" y="5729883"/>
            <a:ext cx="2412802" cy="9525"/>
          </a:xfrm>
          <a:prstGeom prst="rect">
            <a:avLst/>
          </a:prstGeom>
          <a:solidFill>
            <a:srgbClr val="2A3450"/>
          </a:solidFill>
          <a:ln/>
        </p:spPr>
      </p:sp>
      <p:sp>
        <p:nvSpPr>
          <p:cNvPr id="68" name="Text 66"/>
          <p:cNvSpPr/>
          <p:nvPr/>
        </p:nvSpPr>
        <p:spPr>
          <a:xfrm>
            <a:off x="3806875" y="5425083"/>
            <a:ext cx="2260402"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CEEF2"/>
                </a:solidFill>
                <a:latin typeface="Arial" pitchFamily="34" charset="0"/>
                <a:ea typeface="Arial" pitchFamily="34" charset="-122"/>
                <a:cs typeface="Arial" pitchFamily="34" charset="-120"/>
              </a:rPr>
              <a:t>$9K</a:t>
            </a:r>
            <a:endParaRPr lang="en-US" sz="1200" dirty="0"/>
          </a:p>
        </p:txBody>
      </p:sp>
      <p:sp>
        <p:nvSpPr>
          <p:cNvPr id="69" name="Shape 67"/>
          <p:cNvSpPr/>
          <p:nvPr/>
        </p:nvSpPr>
        <p:spPr>
          <a:xfrm>
            <a:off x="6181576" y="5729883"/>
            <a:ext cx="2981623" cy="9525"/>
          </a:xfrm>
          <a:prstGeom prst="rect">
            <a:avLst/>
          </a:prstGeom>
          <a:solidFill>
            <a:srgbClr val="2A3450"/>
          </a:solidFill>
          <a:ln/>
        </p:spPr>
      </p:sp>
      <p:sp>
        <p:nvSpPr>
          <p:cNvPr id="70" name="Text 68"/>
          <p:cNvSpPr/>
          <p:nvPr/>
        </p:nvSpPr>
        <p:spPr>
          <a:xfrm>
            <a:off x="6206427" y="5425083"/>
            <a:ext cx="284247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68FA8"/>
                </a:solidFill>
                <a:latin typeface="Arial" pitchFamily="34" charset="0"/>
                <a:ea typeface="Arial" pitchFamily="34" charset="-122"/>
                <a:cs typeface="Arial" pitchFamily="34" charset="-120"/>
              </a:rPr>
              <a:t>$2K · -78%</a:t>
            </a:r>
            <a:endParaRPr lang="en-US" sz="1200" dirty="0"/>
          </a:p>
        </p:txBody>
      </p:sp>
      <p:sp>
        <p:nvSpPr>
          <p:cNvPr id="71" name="Shape 69"/>
          <p:cNvSpPr/>
          <p:nvPr/>
        </p:nvSpPr>
        <p:spPr>
          <a:xfrm>
            <a:off x="9163199" y="5729883"/>
            <a:ext cx="2711351" cy="9525"/>
          </a:xfrm>
          <a:prstGeom prst="rect">
            <a:avLst/>
          </a:prstGeom>
          <a:solidFill>
            <a:srgbClr val="2A3450"/>
          </a:solidFill>
          <a:ln/>
        </p:spPr>
      </p:sp>
      <p:sp>
        <p:nvSpPr>
          <p:cNvPr id="72" name="Text 70"/>
          <p:cNvSpPr/>
          <p:nvPr/>
        </p:nvSpPr>
        <p:spPr>
          <a:xfrm>
            <a:off x="9196158" y="5425083"/>
            <a:ext cx="2564091" cy="209550"/>
          </a:xfrm>
          <a:prstGeom prst="rect">
            <a:avLst/>
          </a:prstGeom>
          <a:noFill/>
          <a:ln/>
        </p:spPr>
        <p:txBody>
          <a:bodyPr wrap="square" lIns="25400" tIns="25400" rIns="25400" bIns="25400" rtlCol="0" anchor="ctr">
            <a:normAutofit/>
          </a:bodyPr>
          <a:lstStyle/>
          <a:p>
            <a:pPr algn="r" indent="0" marL="0">
              <a:buNone/>
            </a:pPr>
            <a:r>
              <a:rPr lang="en-US" sz="1200" dirty="0">
                <a:solidFill>
                  <a:srgbClr val="E68FA8"/>
                </a:solidFill>
                <a:latin typeface="Arial" pitchFamily="34" charset="0"/>
                <a:ea typeface="Arial" pitchFamily="34" charset="-122"/>
                <a:cs typeface="Arial" pitchFamily="34" charset="-120"/>
              </a:rPr>
              <a:t>$0 · -100%</a:t>
            </a:r>
            <a:endParaRPr lang="en-US" sz="1200" dirty="0"/>
          </a:p>
        </p:txBody>
      </p:sp>
      <p:sp>
        <p:nvSpPr>
          <p:cNvPr id="73" name="Shape 71"/>
          <p:cNvSpPr/>
          <p:nvPr/>
        </p:nvSpPr>
        <p:spPr>
          <a:xfrm>
            <a:off x="11874550" y="5729883"/>
            <a:ext cx="5499050" cy="9525"/>
          </a:xfrm>
          <a:prstGeom prst="rect">
            <a:avLst/>
          </a:prstGeom>
          <a:solidFill>
            <a:srgbClr val="2A3450"/>
          </a:solidFill>
          <a:ln/>
        </p:spPr>
      </p:sp>
      <p:sp>
        <p:nvSpPr>
          <p:cNvPr id="74" name="Text 72"/>
          <p:cNvSpPr/>
          <p:nvPr/>
        </p:nvSpPr>
        <p:spPr>
          <a:xfrm>
            <a:off x="11988850" y="5425083"/>
            <a:ext cx="5435422" cy="209550"/>
          </a:xfrm>
          <a:prstGeom prst="rect">
            <a:avLst/>
          </a:prstGeom>
          <a:noFill/>
          <a:ln/>
        </p:spPr>
        <p:txBody>
          <a:bodyPr wrap="square" lIns="25400" tIns="25400" rIns="25400" bIns="25400" rtlCol="0" anchor="ctr">
            <a:normAutofit/>
          </a:bodyPr>
          <a:lstStyle/>
          <a:p>
            <a:pPr algn="l" indent="0" marL="0">
              <a:buNone/>
            </a:pPr>
            <a:r>
              <a:rPr lang="en-US" sz="1200" dirty="0">
                <a:solidFill>
                  <a:srgbClr val="ECEEF2"/>
                </a:solidFill>
                <a:latin typeface="Arial" pitchFamily="34" charset="0"/>
                <a:ea typeface="Arial" pitchFamily="34" charset="-122"/>
                <a:cs typeface="Arial" pitchFamily="34" charset="-120"/>
              </a:rPr>
              <a:t>Reallocate to top channels</a:t>
            </a:r>
            <a:endParaRPr lang="en-US" sz="1200" dirty="0"/>
          </a:p>
        </p:txBody>
      </p:sp>
      <p:sp>
        <p:nvSpPr>
          <p:cNvPr id="75" name="Shape 73"/>
          <p:cNvSpPr/>
          <p:nvPr/>
        </p:nvSpPr>
        <p:spPr>
          <a:xfrm>
            <a:off x="914400" y="5739408"/>
            <a:ext cx="16459200" cy="476250"/>
          </a:xfrm>
          <a:prstGeom prst="rect">
            <a:avLst/>
          </a:prstGeom>
          <a:solidFill>
            <a:srgbClr val="111729"/>
          </a:solidFill>
          <a:ln/>
        </p:spPr>
      </p:sp>
      <p:sp>
        <p:nvSpPr>
          <p:cNvPr id="76" name="Shape 74"/>
          <p:cNvSpPr/>
          <p:nvPr/>
        </p:nvSpPr>
        <p:spPr>
          <a:xfrm>
            <a:off x="914400" y="6206133"/>
            <a:ext cx="2854375" cy="9525"/>
          </a:xfrm>
          <a:prstGeom prst="rect">
            <a:avLst/>
          </a:prstGeom>
          <a:solidFill>
            <a:srgbClr val="2A3450"/>
          </a:solidFill>
          <a:ln/>
        </p:spPr>
      </p:sp>
      <p:sp>
        <p:nvSpPr>
          <p:cNvPr id="77" name="Text 75"/>
          <p:cNvSpPr/>
          <p:nvPr/>
        </p:nvSpPr>
        <p:spPr>
          <a:xfrm>
            <a:off x="1028700" y="5872758"/>
            <a:ext cx="2711406" cy="238125"/>
          </a:xfrm>
          <a:prstGeom prst="rect">
            <a:avLst/>
          </a:prstGeom>
          <a:noFill/>
          <a:ln/>
        </p:spPr>
        <p:txBody>
          <a:bodyPr wrap="square" lIns="25400" tIns="25400" rIns="25400" bIns="25400" rtlCol="0" anchor="ctr">
            <a:normAutofit/>
          </a:bodyPr>
          <a:lstStyle/>
          <a:p>
            <a:pPr algn="l" indent="0" marL="0">
              <a:buNone/>
            </a:pPr>
            <a:r>
              <a:rPr lang="en-US" sz="1200" b="1" dirty="0">
                <a:solidFill>
                  <a:srgbClr val="ECEEF2"/>
                </a:solidFill>
                <a:latin typeface="Arial" pitchFamily="34" charset="0"/>
                <a:ea typeface="Arial" pitchFamily="34" charset="-122"/>
                <a:cs typeface="Arial" pitchFamily="34" charset="-120"/>
              </a:rPr>
              <a:t>Total</a:t>
            </a:r>
            <a:endParaRPr lang="en-US" sz="1200" dirty="0"/>
          </a:p>
        </p:txBody>
      </p:sp>
      <p:sp>
        <p:nvSpPr>
          <p:cNvPr id="78" name="Shape 76"/>
          <p:cNvSpPr/>
          <p:nvPr/>
        </p:nvSpPr>
        <p:spPr>
          <a:xfrm>
            <a:off x="3768775" y="6206133"/>
            <a:ext cx="2412802" cy="9525"/>
          </a:xfrm>
          <a:prstGeom prst="rect">
            <a:avLst/>
          </a:prstGeom>
          <a:solidFill>
            <a:srgbClr val="2A3450"/>
          </a:solidFill>
          <a:ln/>
        </p:spPr>
      </p:sp>
      <p:sp>
        <p:nvSpPr>
          <p:cNvPr id="79" name="Text 77"/>
          <p:cNvSpPr/>
          <p:nvPr/>
        </p:nvSpPr>
        <p:spPr>
          <a:xfrm>
            <a:off x="3806875" y="5872758"/>
            <a:ext cx="2260402" cy="238125"/>
          </a:xfrm>
          <a:prstGeom prst="rect">
            <a:avLst/>
          </a:prstGeom>
          <a:noFill/>
          <a:ln/>
        </p:spPr>
        <p:txBody>
          <a:bodyPr wrap="square" lIns="25400" tIns="25400" rIns="25400" bIns="25400" rtlCol="0" anchor="ctr">
            <a:normAutofit/>
          </a:bodyPr>
          <a:lstStyle/>
          <a:p>
            <a:pPr algn="r" indent="0" marL="0">
              <a:buNone/>
            </a:pPr>
            <a:r>
              <a:rPr lang="en-US" sz="1200" b="1" dirty="0">
                <a:solidFill>
                  <a:srgbClr val="ECEEF2"/>
                </a:solidFill>
                <a:latin typeface="Arial" pitchFamily="34" charset="0"/>
                <a:ea typeface="Arial" pitchFamily="34" charset="-122"/>
                <a:cs typeface="Arial" pitchFamily="34" charset="-120"/>
              </a:rPr>
              <a:t>$119K</a:t>
            </a:r>
            <a:endParaRPr lang="en-US" sz="1200" dirty="0"/>
          </a:p>
        </p:txBody>
      </p:sp>
      <p:sp>
        <p:nvSpPr>
          <p:cNvPr id="80" name="Shape 78"/>
          <p:cNvSpPr/>
          <p:nvPr/>
        </p:nvSpPr>
        <p:spPr>
          <a:xfrm>
            <a:off x="6181576" y="6206133"/>
            <a:ext cx="2981623" cy="9525"/>
          </a:xfrm>
          <a:prstGeom prst="rect">
            <a:avLst/>
          </a:prstGeom>
          <a:solidFill>
            <a:srgbClr val="2A3450"/>
          </a:solidFill>
          <a:ln/>
        </p:spPr>
      </p:sp>
      <p:sp>
        <p:nvSpPr>
          <p:cNvPr id="81" name="Text 79"/>
          <p:cNvSpPr/>
          <p:nvPr/>
        </p:nvSpPr>
        <p:spPr>
          <a:xfrm>
            <a:off x="6206427" y="5872758"/>
            <a:ext cx="2842471" cy="238125"/>
          </a:xfrm>
          <a:prstGeom prst="rect">
            <a:avLst/>
          </a:prstGeom>
          <a:noFill/>
          <a:ln/>
        </p:spPr>
        <p:txBody>
          <a:bodyPr wrap="square" lIns="25400" tIns="25400" rIns="25400" bIns="25400" rtlCol="0" anchor="ctr">
            <a:normAutofit/>
          </a:bodyPr>
          <a:lstStyle/>
          <a:p>
            <a:pPr algn="r" indent="0" marL="0">
              <a:buNone/>
            </a:pPr>
            <a:r>
              <a:rPr lang="en-US" sz="1200" b="1" dirty="0">
                <a:solidFill>
                  <a:srgbClr val="ECEEF2"/>
                </a:solidFill>
                <a:latin typeface="Arial" pitchFamily="34" charset="0"/>
                <a:ea typeface="Arial" pitchFamily="34" charset="-122"/>
                <a:cs typeface="Arial" pitchFamily="34" charset="-120"/>
              </a:rPr>
              <a:t>$124K</a:t>
            </a:r>
            <a:endParaRPr lang="en-US" sz="1200" dirty="0"/>
          </a:p>
        </p:txBody>
      </p:sp>
      <p:sp>
        <p:nvSpPr>
          <p:cNvPr id="82" name="Shape 80"/>
          <p:cNvSpPr/>
          <p:nvPr/>
        </p:nvSpPr>
        <p:spPr>
          <a:xfrm>
            <a:off x="9163199" y="6206133"/>
            <a:ext cx="2711351" cy="9525"/>
          </a:xfrm>
          <a:prstGeom prst="rect">
            <a:avLst/>
          </a:prstGeom>
          <a:solidFill>
            <a:srgbClr val="2A3450"/>
          </a:solidFill>
          <a:ln/>
        </p:spPr>
      </p:sp>
      <p:sp>
        <p:nvSpPr>
          <p:cNvPr id="83" name="Text 81"/>
          <p:cNvSpPr/>
          <p:nvPr/>
        </p:nvSpPr>
        <p:spPr>
          <a:xfrm>
            <a:off x="9196158" y="5872758"/>
            <a:ext cx="2564091" cy="238125"/>
          </a:xfrm>
          <a:prstGeom prst="rect">
            <a:avLst/>
          </a:prstGeom>
          <a:noFill/>
          <a:ln/>
        </p:spPr>
        <p:txBody>
          <a:bodyPr wrap="square" lIns="25400" tIns="25400" rIns="25400" bIns="25400" rtlCol="0" anchor="ctr">
            <a:normAutofit/>
          </a:bodyPr>
          <a:lstStyle/>
          <a:p>
            <a:pPr algn="r" indent="0" marL="0">
              <a:buNone/>
            </a:pPr>
            <a:r>
              <a:rPr lang="en-US" sz="1200" b="1" dirty="0">
                <a:solidFill>
                  <a:srgbClr val="ECEEF2"/>
                </a:solidFill>
                <a:latin typeface="Arial" pitchFamily="34" charset="0"/>
                <a:ea typeface="Arial" pitchFamily="34" charset="-122"/>
                <a:cs typeface="Arial" pitchFamily="34" charset="-120"/>
              </a:rPr>
              <a:t>$184K</a:t>
            </a:r>
            <a:endParaRPr lang="en-US" sz="1200" dirty="0"/>
          </a:p>
        </p:txBody>
      </p:sp>
      <p:sp>
        <p:nvSpPr>
          <p:cNvPr id="84" name="Shape 82"/>
          <p:cNvSpPr/>
          <p:nvPr/>
        </p:nvSpPr>
        <p:spPr>
          <a:xfrm>
            <a:off x="11874550" y="6206133"/>
            <a:ext cx="5499050" cy="9525"/>
          </a:xfrm>
          <a:prstGeom prst="rect">
            <a:avLst/>
          </a:prstGeom>
          <a:solidFill>
            <a:srgbClr val="2A3450"/>
          </a:solidFill>
          <a:ln/>
        </p:spPr>
      </p:sp>
      <p:sp>
        <p:nvSpPr>
          <p:cNvPr id="85" name="Shape 83"/>
          <p:cNvSpPr/>
          <p:nvPr/>
        </p:nvSpPr>
        <p:spPr>
          <a:xfrm>
            <a:off x="914400" y="8306395"/>
            <a:ext cx="16459200" cy="9525"/>
          </a:xfrm>
          <a:prstGeom prst="rect">
            <a:avLst/>
          </a:prstGeom>
          <a:solidFill>
            <a:srgbClr val="2A3450"/>
          </a:solidFill>
          <a:ln/>
        </p:spPr>
      </p:sp>
      <p:sp>
        <p:nvSpPr>
          <p:cNvPr id="86" name="Shape 84"/>
          <p:cNvSpPr/>
          <p:nvPr/>
        </p:nvSpPr>
        <p:spPr>
          <a:xfrm>
            <a:off x="914400" y="6506170"/>
            <a:ext cx="16459200" cy="9525"/>
          </a:xfrm>
          <a:prstGeom prst="rect">
            <a:avLst/>
          </a:prstGeom>
          <a:solidFill>
            <a:srgbClr val="2A3450"/>
          </a:solidFill>
          <a:ln/>
        </p:spPr>
      </p:sp>
      <p:sp>
        <p:nvSpPr>
          <p:cNvPr id="87" name="Shape 85"/>
          <p:cNvSpPr/>
          <p:nvPr/>
        </p:nvSpPr>
        <p:spPr>
          <a:xfrm>
            <a:off x="6391275" y="6515695"/>
            <a:ext cx="9525" cy="1790700"/>
          </a:xfrm>
          <a:prstGeom prst="rect">
            <a:avLst/>
          </a:prstGeom>
          <a:solidFill>
            <a:srgbClr val="2A3450"/>
          </a:solidFill>
          <a:ln/>
        </p:spPr>
      </p:sp>
      <p:sp>
        <p:nvSpPr>
          <p:cNvPr id="88" name="Text 86"/>
          <p:cNvSpPr/>
          <p:nvPr/>
        </p:nvSpPr>
        <p:spPr>
          <a:xfrm>
            <a:off x="1181100" y="6744295"/>
            <a:ext cx="5091779"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7C8493"/>
                </a:solidFill>
                <a:latin typeface="Arial" pitchFamily="34" charset="0"/>
                <a:ea typeface="Arial" pitchFamily="34" charset="-122"/>
                <a:cs typeface="Arial" pitchFamily="34" charset="-120"/>
              </a:rPr>
              <a:t>STATUS QUO</a:t>
            </a:r>
            <a:endParaRPr lang="en-US" sz="900" dirty="0"/>
          </a:p>
        </p:txBody>
      </p:sp>
      <p:sp>
        <p:nvSpPr>
          <p:cNvPr id="89" name="Text 87"/>
          <p:cNvSpPr/>
          <p:nvPr/>
        </p:nvSpPr>
        <p:spPr>
          <a:xfrm>
            <a:off x="1181100" y="6972895"/>
            <a:ext cx="5091779" cy="495300"/>
          </a:xfrm>
          <a:prstGeom prst="rect">
            <a:avLst/>
          </a:prstGeom>
          <a:noFill/>
          <a:ln/>
        </p:spPr>
        <p:txBody>
          <a:bodyPr wrap="square" lIns="25400" tIns="25400" rIns="25400" bIns="25400" rtlCol="0" anchor="t">
            <a:normAutofit/>
          </a:bodyPr>
          <a:lstStyle/>
          <a:p>
            <a:pPr algn="l" indent="0" marL="0">
              <a:buNone/>
            </a:pPr>
            <a:r>
              <a:rPr lang="en-US" sz="3600" spc="-72" kern="0" dirty="0">
                <a:solidFill>
                  <a:srgbClr val="ECEEF2"/>
                </a:solidFill>
                <a:latin typeface="Arial" pitchFamily="34" charset="0"/>
                <a:ea typeface="Arial" pitchFamily="34" charset="-122"/>
                <a:cs typeface="Arial" pitchFamily="34" charset="-120"/>
              </a:rPr>
              <a:t>Baseline</a:t>
            </a:r>
            <a:endParaRPr lang="en-US" sz="3600" dirty="0"/>
          </a:p>
        </p:txBody>
      </p:sp>
      <p:sp>
        <p:nvSpPr>
          <p:cNvPr id="90" name="Text 88"/>
          <p:cNvSpPr/>
          <p:nvPr/>
        </p:nvSpPr>
        <p:spPr>
          <a:xfrm>
            <a:off x="1181100" y="7525345"/>
            <a:ext cx="5091779"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B7BCC8"/>
                </a:solidFill>
                <a:latin typeface="Arial" pitchFamily="34" charset="0"/>
                <a:ea typeface="Arial" pitchFamily="34" charset="-122"/>
                <a:cs typeface="Arial" pitchFamily="34" charset="-120"/>
              </a:rPr>
              <a:t>Hold 2024 mix. No reallocation, no growth.</a:t>
            </a:r>
            <a:endParaRPr lang="en-US" sz="1500" dirty="0"/>
          </a:p>
        </p:txBody>
      </p:sp>
      <p:sp>
        <p:nvSpPr>
          <p:cNvPr id="91" name="Shape 89"/>
          <p:cNvSpPr/>
          <p:nvPr/>
        </p:nvSpPr>
        <p:spPr>
          <a:xfrm>
            <a:off x="11877675" y="6515695"/>
            <a:ext cx="9525" cy="1790700"/>
          </a:xfrm>
          <a:prstGeom prst="rect">
            <a:avLst/>
          </a:prstGeom>
          <a:solidFill>
            <a:srgbClr val="2A3450"/>
          </a:solidFill>
          <a:ln/>
        </p:spPr>
      </p:sp>
      <p:sp>
        <p:nvSpPr>
          <p:cNvPr id="92" name="Text 90"/>
          <p:cNvSpPr/>
          <p:nvPr/>
        </p:nvSpPr>
        <p:spPr>
          <a:xfrm>
            <a:off x="6667500" y="6744295"/>
            <a:ext cx="5091779"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ROI-OPTIMIZED · RECOMMENDED</a:t>
            </a:r>
            <a:endParaRPr lang="en-US" sz="900" dirty="0"/>
          </a:p>
        </p:txBody>
      </p:sp>
      <p:sp>
        <p:nvSpPr>
          <p:cNvPr id="93" name="Text 91"/>
          <p:cNvSpPr/>
          <p:nvPr/>
        </p:nvSpPr>
        <p:spPr>
          <a:xfrm>
            <a:off x="6667500" y="6972895"/>
            <a:ext cx="5091779" cy="495300"/>
          </a:xfrm>
          <a:prstGeom prst="rect">
            <a:avLst/>
          </a:prstGeom>
          <a:noFill/>
          <a:ln/>
        </p:spPr>
        <p:txBody>
          <a:bodyPr wrap="square" lIns="25400" tIns="25400" rIns="25400" bIns="25400" rtlCol="0" anchor="t">
            <a:normAutofit/>
          </a:bodyPr>
          <a:lstStyle/>
          <a:p>
            <a:pPr algn="l" indent="0" marL="0">
              <a:buNone/>
            </a:pPr>
            <a:r>
              <a:rPr lang="en-US" sz="3600" spc="-72" kern="0" dirty="0">
                <a:solidFill>
                  <a:srgbClr val="82A6D9"/>
                </a:solidFill>
                <a:latin typeface="Arial" pitchFamily="34" charset="0"/>
                <a:ea typeface="Arial" pitchFamily="34" charset="-122"/>
                <a:cs typeface="Arial" pitchFamily="34" charset="-120"/>
              </a:rPr>
              <a:t>+15-25%</a:t>
            </a:r>
            <a:endParaRPr lang="en-US" sz="3600" dirty="0"/>
          </a:p>
        </p:txBody>
      </p:sp>
      <p:sp>
        <p:nvSpPr>
          <p:cNvPr id="94" name="Text 92"/>
          <p:cNvSpPr/>
          <p:nvPr/>
        </p:nvSpPr>
        <p:spPr>
          <a:xfrm>
            <a:off x="6667500" y="7525345"/>
            <a:ext cx="5091779"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B7BCC8"/>
                </a:solidFill>
                <a:latin typeface="Arial" pitchFamily="34" charset="0"/>
                <a:ea typeface="Arial" pitchFamily="34" charset="-122"/>
                <a:cs typeface="Arial" pitchFamily="34" charset="-120"/>
              </a:rPr>
              <a:t>Same total spend, better mix. Lift email + 6sense; cut events &amp; "other".</a:t>
            </a:r>
            <a:endParaRPr lang="en-US" sz="1500" dirty="0"/>
          </a:p>
        </p:txBody>
      </p:sp>
      <p:sp>
        <p:nvSpPr>
          <p:cNvPr id="95" name="Text 93"/>
          <p:cNvSpPr/>
          <p:nvPr/>
        </p:nvSpPr>
        <p:spPr>
          <a:xfrm>
            <a:off x="12153900" y="6744295"/>
            <a:ext cx="5101590"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8D1B0"/>
                </a:solidFill>
                <a:latin typeface="Arial" pitchFamily="34" charset="0"/>
                <a:ea typeface="Arial" pitchFamily="34" charset="-122"/>
                <a:cs typeface="Arial" pitchFamily="34" charset="-120"/>
              </a:rPr>
              <a:t>GROWTH MODE</a:t>
            </a:r>
            <a:endParaRPr lang="en-US" sz="900" dirty="0"/>
          </a:p>
        </p:txBody>
      </p:sp>
      <p:sp>
        <p:nvSpPr>
          <p:cNvPr id="96" name="Text 94"/>
          <p:cNvSpPr/>
          <p:nvPr/>
        </p:nvSpPr>
        <p:spPr>
          <a:xfrm>
            <a:off x="12153900" y="6972895"/>
            <a:ext cx="5101590" cy="495300"/>
          </a:xfrm>
          <a:prstGeom prst="rect">
            <a:avLst/>
          </a:prstGeom>
          <a:noFill/>
          <a:ln/>
        </p:spPr>
        <p:txBody>
          <a:bodyPr wrap="square" lIns="25400" tIns="25400" rIns="25400" bIns="25400" rtlCol="0" anchor="t">
            <a:normAutofit/>
          </a:bodyPr>
          <a:lstStyle/>
          <a:p>
            <a:pPr algn="l" indent="0" marL="0">
              <a:buNone/>
            </a:pPr>
            <a:r>
              <a:rPr lang="en-US" sz="3600" spc="-72" kern="0" dirty="0">
                <a:solidFill>
                  <a:srgbClr val="88D1B0"/>
                </a:solidFill>
                <a:latin typeface="Arial" pitchFamily="34" charset="0"/>
                <a:ea typeface="Arial" pitchFamily="34" charset="-122"/>
                <a:cs typeface="Arial" pitchFamily="34" charset="-120"/>
              </a:rPr>
              <a:t>+30-45%</a:t>
            </a:r>
            <a:endParaRPr lang="en-US" sz="3600" dirty="0"/>
          </a:p>
        </p:txBody>
      </p:sp>
      <p:sp>
        <p:nvSpPr>
          <p:cNvPr id="97" name="Text 95"/>
          <p:cNvSpPr/>
          <p:nvPr/>
        </p:nvSpPr>
        <p:spPr>
          <a:xfrm>
            <a:off x="12153900" y="7525345"/>
            <a:ext cx="5101590" cy="31432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B7BCC8"/>
                </a:solidFill>
                <a:latin typeface="Arial" pitchFamily="34" charset="0"/>
                <a:ea typeface="Arial" pitchFamily="34" charset="-122"/>
                <a:cs typeface="Arial" pitchFamily="34" charset="-120"/>
              </a:rPr>
              <a:t>Double email + 6sense. Higher risk, higher ceiling.</a:t>
            </a:r>
            <a:endParaRPr lang="en-US" sz="1500" dirty="0"/>
          </a:p>
        </p:txBody>
      </p:sp>
      <p:sp>
        <p:nvSpPr>
          <p:cNvPr id="98" name="Text 96"/>
          <p:cNvSpPr/>
          <p:nvPr/>
        </p:nvSpPr>
        <p:spPr>
          <a:xfrm>
            <a:off x="762000" y="9791700"/>
            <a:ext cx="1321594"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16 / BUDGET</a:t>
            </a:r>
            <a:endParaRPr lang="en-US" sz="900" dirty="0"/>
          </a:p>
        </p:txBody>
      </p:sp>
      <p:sp>
        <p:nvSpPr>
          <p:cNvPr id="99" name="Text 97"/>
          <p:cNvSpPr/>
          <p:nvPr/>
        </p:nvSpPr>
        <p:spPr>
          <a:xfrm>
            <a:off x="15807333" y="9791700"/>
            <a:ext cx="1794867"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QUARTERLY VIEW · USD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309820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17 / 21 · ML WIN PROBABILITY MODEL</a:t>
            </a:r>
            <a:endParaRPr lang="en-US" sz="975" dirty="0"/>
          </a:p>
        </p:txBody>
      </p:sp>
      <p:sp>
        <p:nvSpPr>
          <p:cNvPr id="11" name="Text 9"/>
          <p:cNvSpPr/>
          <p:nvPr/>
        </p:nvSpPr>
        <p:spPr>
          <a:xfrm>
            <a:off x="16657886" y="361950"/>
            <a:ext cx="94431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V</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17</a:t>
            </a:r>
            <a:endParaRPr lang="en-US" sz="1125" dirty="0"/>
          </a:p>
        </p:txBody>
      </p:sp>
      <p:sp>
        <p:nvSpPr>
          <p:cNvPr id="13" name="Text 11"/>
          <p:cNvSpPr/>
          <p:nvPr/>
        </p:nvSpPr>
        <p:spPr>
          <a:xfrm>
            <a:off x="1275308" y="800100"/>
            <a:ext cx="911721"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MODEL</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Random Forest classifier — AUC 0.807.</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Trained on 2,743 closed deals. Scoring 545 currently open deals for sales prioritization.</a:t>
            </a:r>
            <a:endParaRPr lang="en-US" sz="2100" dirty="0"/>
          </a:p>
        </p:txBody>
      </p:sp>
      <p:sp>
        <p:nvSpPr>
          <p:cNvPr id="16" name="Shape 14"/>
          <p:cNvSpPr/>
          <p:nvPr/>
        </p:nvSpPr>
        <p:spPr>
          <a:xfrm>
            <a:off x="914400" y="4286101"/>
            <a:ext cx="16459200" cy="9525"/>
          </a:xfrm>
          <a:prstGeom prst="rect">
            <a:avLst/>
          </a:prstGeom>
          <a:solidFill>
            <a:srgbClr val="2A3450"/>
          </a:solidFill>
          <a:ln/>
        </p:spPr>
      </p:sp>
      <p:sp>
        <p:nvSpPr>
          <p:cNvPr id="17" name="Shape 15"/>
          <p:cNvSpPr/>
          <p:nvPr/>
        </p:nvSpPr>
        <p:spPr>
          <a:xfrm>
            <a:off x="914400" y="2771626"/>
            <a:ext cx="16459200" cy="9525"/>
          </a:xfrm>
          <a:prstGeom prst="rect">
            <a:avLst/>
          </a:prstGeom>
          <a:solidFill>
            <a:srgbClr val="2A3450"/>
          </a:solidFill>
          <a:ln/>
        </p:spPr>
      </p:sp>
      <p:sp>
        <p:nvSpPr>
          <p:cNvPr id="18" name="Text 16"/>
          <p:cNvSpPr/>
          <p:nvPr/>
        </p:nvSpPr>
        <p:spPr>
          <a:xfrm>
            <a:off x="1181100" y="3009751"/>
            <a:ext cx="3688842"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ALGORITHM</a:t>
            </a:r>
            <a:endParaRPr lang="en-US" sz="825" dirty="0"/>
          </a:p>
        </p:txBody>
      </p:sp>
      <p:sp>
        <p:nvSpPr>
          <p:cNvPr id="19" name="Text 17"/>
          <p:cNvSpPr/>
          <p:nvPr/>
        </p:nvSpPr>
        <p:spPr>
          <a:xfrm>
            <a:off x="1181100" y="3257401"/>
            <a:ext cx="3688842"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spc="-54" kern="0" dirty="0">
                <a:solidFill>
                  <a:srgbClr val="ECEEF2"/>
                </a:solidFill>
                <a:latin typeface="Arial" pitchFamily="34" charset="0"/>
                <a:ea typeface="Arial" pitchFamily="34" charset="-122"/>
                <a:cs typeface="Arial" pitchFamily="34" charset="-120"/>
              </a:rPr>
              <a:t>Random Forest</a:t>
            </a:r>
            <a:endParaRPr lang="en-US" sz="2700" dirty="0"/>
          </a:p>
        </p:txBody>
      </p:sp>
      <p:sp>
        <p:nvSpPr>
          <p:cNvPr id="20" name="Shape 18"/>
          <p:cNvSpPr/>
          <p:nvPr/>
        </p:nvSpPr>
        <p:spPr>
          <a:xfrm>
            <a:off x="5029200" y="2781151"/>
            <a:ext cx="9525" cy="1504950"/>
          </a:xfrm>
          <a:prstGeom prst="rect">
            <a:avLst/>
          </a:prstGeom>
          <a:solidFill>
            <a:srgbClr val="2A3450"/>
          </a:solidFill>
          <a:ln/>
        </p:spPr>
      </p:sp>
      <p:sp>
        <p:nvSpPr>
          <p:cNvPr id="21" name="Text 19"/>
          <p:cNvSpPr/>
          <p:nvPr/>
        </p:nvSpPr>
        <p:spPr>
          <a:xfrm>
            <a:off x="5305425" y="3009751"/>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AUC</a:t>
            </a:r>
            <a:endParaRPr lang="en-US" sz="825" dirty="0"/>
          </a:p>
        </p:txBody>
      </p:sp>
      <p:sp>
        <p:nvSpPr>
          <p:cNvPr id="22" name="Text 20"/>
          <p:cNvSpPr/>
          <p:nvPr/>
        </p:nvSpPr>
        <p:spPr>
          <a:xfrm>
            <a:off x="5305425" y="3257401"/>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0.807</a:t>
            </a:r>
            <a:endParaRPr lang="en-US" sz="4200" dirty="0"/>
          </a:p>
        </p:txBody>
      </p:sp>
      <p:sp>
        <p:nvSpPr>
          <p:cNvPr id="23" name="Text 21"/>
          <p:cNvSpPr/>
          <p:nvPr/>
        </p:nvSpPr>
        <p:spPr>
          <a:xfrm>
            <a:off x="5305425" y="3905101"/>
            <a:ext cx="3679031" cy="1714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88D1B0"/>
                </a:solidFill>
                <a:latin typeface="Arial" pitchFamily="34" charset="0"/>
                <a:ea typeface="Arial" pitchFamily="34" charset="-122"/>
                <a:cs typeface="Arial" pitchFamily="34" charset="-120"/>
              </a:rPr>
              <a:t>strong</a:t>
            </a:r>
            <a:endParaRPr lang="en-US" sz="900" dirty="0"/>
          </a:p>
        </p:txBody>
      </p:sp>
      <p:sp>
        <p:nvSpPr>
          <p:cNvPr id="24" name="Shape 22"/>
          <p:cNvSpPr/>
          <p:nvPr/>
        </p:nvSpPr>
        <p:spPr>
          <a:xfrm>
            <a:off x="9144000" y="2781151"/>
            <a:ext cx="9525" cy="1504950"/>
          </a:xfrm>
          <a:prstGeom prst="rect">
            <a:avLst/>
          </a:prstGeom>
          <a:solidFill>
            <a:srgbClr val="2A3450"/>
          </a:solidFill>
          <a:ln/>
        </p:spPr>
      </p:sp>
      <p:sp>
        <p:nvSpPr>
          <p:cNvPr id="25" name="Text 23"/>
          <p:cNvSpPr/>
          <p:nvPr/>
        </p:nvSpPr>
        <p:spPr>
          <a:xfrm>
            <a:off x="9420225" y="3009751"/>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TRAINING DEALS</a:t>
            </a:r>
            <a:endParaRPr lang="en-US" sz="825" dirty="0"/>
          </a:p>
        </p:txBody>
      </p:sp>
      <p:sp>
        <p:nvSpPr>
          <p:cNvPr id="26" name="Text 24"/>
          <p:cNvSpPr/>
          <p:nvPr/>
        </p:nvSpPr>
        <p:spPr>
          <a:xfrm>
            <a:off x="9420225" y="3257401"/>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2,743</a:t>
            </a:r>
            <a:endParaRPr lang="en-US" sz="4200" dirty="0"/>
          </a:p>
        </p:txBody>
      </p:sp>
      <p:sp>
        <p:nvSpPr>
          <p:cNvPr id="27" name="Shape 25"/>
          <p:cNvSpPr/>
          <p:nvPr/>
        </p:nvSpPr>
        <p:spPr>
          <a:xfrm>
            <a:off x="13258800" y="2781151"/>
            <a:ext cx="9525" cy="1504950"/>
          </a:xfrm>
          <a:prstGeom prst="rect">
            <a:avLst/>
          </a:prstGeom>
          <a:solidFill>
            <a:srgbClr val="2A3450"/>
          </a:solidFill>
          <a:ln/>
        </p:spPr>
      </p:sp>
      <p:sp>
        <p:nvSpPr>
          <p:cNvPr id="28" name="Text 26"/>
          <p:cNvSpPr/>
          <p:nvPr/>
        </p:nvSpPr>
        <p:spPr>
          <a:xfrm>
            <a:off x="13535025" y="3009751"/>
            <a:ext cx="3679031" cy="152400"/>
          </a:xfrm>
          <a:prstGeom prst="rect">
            <a:avLst/>
          </a:prstGeom>
          <a:noFill/>
          <a:ln/>
        </p:spPr>
        <p:txBody>
          <a:bodyPr wrap="square" lIns="25400" tIns="25400" rIns="25400" bIns="25400" rtlCol="0" anchor="t">
            <a:normAutofit/>
          </a:bodyPr>
          <a:lstStyle/>
          <a:p>
            <a:pPr algn="l" indent="0" marL="0">
              <a:buNone/>
            </a:pPr>
            <a:r>
              <a:rPr lang="en-US" sz="825" spc="165" kern="0" dirty="0">
                <a:solidFill>
                  <a:srgbClr val="7C8493"/>
                </a:solidFill>
                <a:latin typeface="Arial" pitchFamily="34" charset="0"/>
                <a:ea typeface="Arial" pitchFamily="34" charset="-122"/>
                <a:cs typeface="Arial" pitchFamily="34" charset="-120"/>
              </a:rPr>
              <a:t>SCORED OPEN</a:t>
            </a:r>
            <a:endParaRPr lang="en-US" sz="825" dirty="0"/>
          </a:p>
        </p:txBody>
      </p:sp>
      <p:sp>
        <p:nvSpPr>
          <p:cNvPr id="29" name="Text 27"/>
          <p:cNvSpPr/>
          <p:nvPr/>
        </p:nvSpPr>
        <p:spPr>
          <a:xfrm>
            <a:off x="13535025" y="3257401"/>
            <a:ext cx="3679031"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spc="-84" kern="0" dirty="0">
                <a:solidFill>
                  <a:srgbClr val="ECEEF2"/>
                </a:solidFill>
                <a:latin typeface="Arial" pitchFamily="34" charset="0"/>
                <a:ea typeface="Arial" pitchFamily="34" charset="-122"/>
                <a:cs typeface="Arial" pitchFamily="34" charset="-120"/>
              </a:rPr>
              <a:t>545</a:t>
            </a:r>
            <a:endParaRPr lang="en-US" sz="4200" dirty="0"/>
          </a:p>
        </p:txBody>
      </p:sp>
      <p:sp>
        <p:nvSpPr>
          <p:cNvPr id="30" name="Text 28"/>
          <p:cNvSpPr/>
          <p:nvPr/>
        </p:nvSpPr>
        <p:spPr>
          <a:xfrm>
            <a:off x="914400" y="4638526"/>
            <a:ext cx="1754832"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FEATURE IMPORTANCE</a:t>
            </a:r>
            <a:endParaRPr lang="en-US" sz="900" dirty="0"/>
          </a:p>
        </p:txBody>
      </p:sp>
      <p:sp>
        <p:nvSpPr>
          <p:cNvPr id="31" name="Text 29"/>
          <p:cNvSpPr/>
          <p:nvPr/>
        </p:nvSpPr>
        <p:spPr>
          <a:xfrm>
            <a:off x="7954714" y="4638526"/>
            <a:ext cx="1417886"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RELATIVE WEIGHT</a:t>
            </a:r>
            <a:endParaRPr lang="en-US" sz="900" dirty="0"/>
          </a:p>
        </p:txBody>
      </p:sp>
      <p:pic>
        <p:nvPicPr>
          <p:cNvPr id="32" name="Image 0" descr="preencoded.png">    </p:cNvPr>
          <p:cNvPicPr>
            <a:picLocks noChangeAspect="1"/>
          </p:cNvPicPr>
          <p:nvPr/>
        </p:nvPicPr>
        <p:blipFill>
          <a:blip r:embed="rId1"/>
          <a:stretch>
            <a:fillRect/>
          </a:stretch>
        </p:blipFill>
        <p:spPr>
          <a:xfrm>
            <a:off x="914400" y="4905226"/>
            <a:ext cx="8382000" cy="4657874"/>
          </a:xfrm>
          <a:prstGeom prst="rect">
            <a:avLst/>
          </a:prstGeom>
        </p:spPr>
      </p:pic>
      <p:sp>
        <p:nvSpPr>
          <p:cNvPr id="33" name="Text 30"/>
          <p:cNvSpPr/>
          <p:nvPr/>
        </p:nvSpPr>
        <p:spPr>
          <a:xfrm>
            <a:off x="9753600" y="4638526"/>
            <a:ext cx="2795757"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WIN PROBABILITY · 545 OPEN DEALS</a:t>
            </a:r>
            <a:endParaRPr lang="en-US" sz="900" dirty="0"/>
          </a:p>
        </p:txBody>
      </p:sp>
      <p:sp>
        <p:nvSpPr>
          <p:cNvPr id="34" name="Text 31"/>
          <p:cNvSpPr/>
          <p:nvPr/>
        </p:nvSpPr>
        <p:spPr>
          <a:xfrm>
            <a:off x="16320195" y="4638526"/>
            <a:ext cx="1129605"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DISTRIBUTION</a:t>
            </a:r>
            <a:endParaRPr lang="en-US" sz="900" dirty="0"/>
          </a:p>
        </p:txBody>
      </p:sp>
      <p:pic>
        <p:nvPicPr>
          <p:cNvPr id="35" name="Image 1" descr="preencoded.png">    </p:cNvPr>
          <p:cNvPicPr>
            <a:picLocks noChangeAspect="1"/>
          </p:cNvPicPr>
          <p:nvPr/>
        </p:nvPicPr>
        <p:blipFill>
          <a:blip r:embed="rId2"/>
          <a:stretch>
            <a:fillRect/>
          </a:stretch>
        </p:blipFill>
        <p:spPr>
          <a:xfrm>
            <a:off x="9753600" y="4905226"/>
            <a:ext cx="7620000" cy="4372124"/>
          </a:xfrm>
          <a:prstGeom prst="rect">
            <a:avLst/>
          </a:prstGeom>
        </p:spPr>
      </p:pic>
      <p:sp>
        <p:nvSpPr>
          <p:cNvPr id="36" name="Text 32"/>
          <p:cNvSpPr/>
          <p:nvPr/>
        </p:nvSpPr>
        <p:spPr>
          <a:xfrm>
            <a:off x="9753600" y="9391650"/>
            <a:ext cx="1763613"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C8493"/>
                </a:solidFill>
                <a:latin typeface="Arial" pitchFamily="34" charset="0"/>
                <a:ea typeface="Arial" pitchFamily="34" charset="-122"/>
                <a:cs typeface="Arial" pitchFamily="34" charset="-120"/>
              </a:rPr>
              <a:t>← AT-RISK · &lt;30%</a:t>
            </a:r>
            <a:endParaRPr lang="en-US" sz="1200" dirty="0"/>
          </a:p>
        </p:txBody>
      </p:sp>
      <p:sp>
        <p:nvSpPr>
          <p:cNvPr id="37" name="Text 33"/>
          <p:cNvSpPr/>
          <p:nvPr/>
        </p:nvSpPr>
        <p:spPr>
          <a:xfrm>
            <a:off x="15349389" y="9391650"/>
            <a:ext cx="2100411" cy="20955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7C8493"/>
                </a:solidFill>
                <a:latin typeface="Arial" pitchFamily="34" charset="0"/>
                <a:ea typeface="Arial" pitchFamily="34" charset="-122"/>
                <a:cs typeface="Arial" pitchFamily="34" charset="-120"/>
              </a:rPr>
              <a:t>HOT DEALS · &gt;70% →</a:t>
            </a:r>
            <a:endParaRPr lang="en-US" sz="1200" dirty="0"/>
          </a:p>
        </p:txBody>
      </p:sp>
      <p:sp>
        <p:nvSpPr>
          <p:cNvPr id="38" name="Text 34"/>
          <p:cNvSpPr/>
          <p:nvPr/>
        </p:nvSpPr>
        <p:spPr>
          <a:xfrm>
            <a:off x="762000" y="9791700"/>
            <a:ext cx="1233488"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17 / MODEL</a:t>
            </a:r>
            <a:endParaRPr lang="en-US" sz="900" dirty="0"/>
          </a:p>
        </p:txBody>
      </p:sp>
      <p:sp>
        <p:nvSpPr>
          <p:cNvPr id="39" name="Text 35"/>
          <p:cNvSpPr/>
          <p:nvPr/>
        </p:nvSpPr>
        <p:spPr>
          <a:xfrm>
            <a:off x="15565487" y="9791700"/>
            <a:ext cx="2036713"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RF · 100 TREES · DEPTH 12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0E1C"/>
          </a:solidFill>
          <a:ln/>
        </p:spPr>
      </p:sp>
      <p:sp>
        <p:nvSpPr>
          <p:cNvPr id="3" name="Shape 1"/>
          <p:cNvSpPr/>
          <p:nvPr/>
        </p:nvSpPr>
        <p:spPr>
          <a:xfrm>
            <a:off x="381000" y="342900"/>
            <a:ext cx="228600" cy="9525"/>
          </a:xfrm>
          <a:prstGeom prst="rect">
            <a:avLst/>
          </a:prstGeom>
          <a:solidFill>
            <a:srgbClr val="3A476B"/>
          </a:solidFill>
          <a:ln/>
        </p:spPr>
      </p:sp>
      <p:sp>
        <p:nvSpPr>
          <p:cNvPr id="4" name="Shape 2"/>
          <p:cNvSpPr/>
          <p:nvPr/>
        </p:nvSpPr>
        <p:spPr>
          <a:xfrm>
            <a:off x="381000" y="342900"/>
            <a:ext cx="9525" cy="228600"/>
          </a:xfrm>
          <a:prstGeom prst="rect">
            <a:avLst/>
          </a:prstGeom>
          <a:solidFill>
            <a:srgbClr val="3A476B"/>
          </a:solidFill>
          <a:ln/>
        </p:spPr>
      </p:sp>
      <p:sp>
        <p:nvSpPr>
          <p:cNvPr id="5" name="Shape 3"/>
          <p:cNvSpPr/>
          <p:nvPr/>
        </p:nvSpPr>
        <p:spPr>
          <a:xfrm>
            <a:off x="17678400" y="342900"/>
            <a:ext cx="228600" cy="9525"/>
          </a:xfrm>
          <a:prstGeom prst="rect">
            <a:avLst/>
          </a:prstGeom>
          <a:solidFill>
            <a:srgbClr val="3A476B"/>
          </a:solidFill>
          <a:ln/>
        </p:spPr>
      </p:sp>
      <p:sp>
        <p:nvSpPr>
          <p:cNvPr id="6" name="Shape 4"/>
          <p:cNvSpPr/>
          <p:nvPr/>
        </p:nvSpPr>
        <p:spPr>
          <a:xfrm>
            <a:off x="17897475" y="342900"/>
            <a:ext cx="9525" cy="228600"/>
          </a:xfrm>
          <a:prstGeom prst="rect">
            <a:avLst/>
          </a:prstGeom>
          <a:solidFill>
            <a:srgbClr val="3A476B"/>
          </a:solidFill>
          <a:ln/>
        </p:spPr>
      </p:sp>
      <p:sp>
        <p:nvSpPr>
          <p:cNvPr id="7" name="Shape 5"/>
          <p:cNvSpPr/>
          <p:nvPr/>
        </p:nvSpPr>
        <p:spPr>
          <a:xfrm>
            <a:off x="381000" y="9934575"/>
            <a:ext cx="228600" cy="9525"/>
          </a:xfrm>
          <a:prstGeom prst="rect">
            <a:avLst/>
          </a:prstGeom>
          <a:solidFill>
            <a:srgbClr val="3A476B"/>
          </a:solidFill>
          <a:ln/>
        </p:spPr>
      </p:sp>
      <p:sp>
        <p:nvSpPr>
          <p:cNvPr id="8" name="Shape 6"/>
          <p:cNvSpPr/>
          <p:nvPr/>
        </p:nvSpPr>
        <p:spPr>
          <a:xfrm>
            <a:off x="381000" y="9715500"/>
            <a:ext cx="9525" cy="228600"/>
          </a:xfrm>
          <a:prstGeom prst="rect">
            <a:avLst/>
          </a:prstGeom>
          <a:solidFill>
            <a:srgbClr val="3A476B"/>
          </a:solidFill>
          <a:ln/>
        </p:spPr>
      </p:sp>
      <p:sp>
        <p:nvSpPr>
          <p:cNvPr id="9" name="Shape 7"/>
          <p:cNvSpPr/>
          <p:nvPr/>
        </p:nvSpPr>
        <p:spPr>
          <a:xfrm>
            <a:off x="17678400" y="9934575"/>
            <a:ext cx="228600" cy="9525"/>
          </a:xfrm>
          <a:prstGeom prst="rect">
            <a:avLst/>
          </a:prstGeom>
          <a:solidFill>
            <a:srgbClr val="3A476B"/>
          </a:solidFill>
          <a:ln/>
        </p:spPr>
      </p:sp>
      <p:sp>
        <p:nvSpPr>
          <p:cNvPr id="10" name="Shape 8"/>
          <p:cNvSpPr/>
          <p:nvPr/>
        </p:nvSpPr>
        <p:spPr>
          <a:xfrm>
            <a:off x="17897475" y="9715500"/>
            <a:ext cx="9525" cy="228600"/>
          </a:xfrm>
          <a:prstGeom prst="rect">
            <a:avLst/>
          </a:prstGeom>
          <a:solidFill>
            <a:srgbClr val="3A476B"/>
          </a:solidFill>
          <a:ln/>
        </p:spPr>
      </p:sp>
      <p:sp>
        <p:nvSpPr>
          <p:cNvPr id="11" name="Text 9"/>
          <p:cNvSpPr/>
          <p:nvPr/>
        </p:nvSpPr>
        <p:spPr>
          <a:xfrm>
            <a:off x="762000" y="371475"/>
            <a:ext cx="2876543"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18 / 21 · ACCOUNT COVERAGE GAP</a:t>
            </a:r>
            <a:endParaRPr lang="en-US" sz="975" dirty="0"/>
          </a:p>
        </p:txBody>
      </p:sp>
      <p:sp>
        <p:nvSpPr>
          <p:cNvPr id="12" name="Text 10"/>
          <p:cNvSpPr/>
          <p:nvPr/>
        </p:nvSpPr>
        <p:spPr>
          <a:xfrm>
            <a:off x="16309628" y="361950"/>
            <a:ext cx="1292572"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 KEY FINDING</a:t>
            </a:r>
            <a:endParaRPr lang="en-US" sz="975" dirty="0"/>
          </a:p>
        </p:txBody>
      </p:sp>
      <p:sp>
        <p:nvSpPr>
          <p:cNvPr id="13" name="Text 11"/>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18</a:t>
            </a:r>
            <a:endParaRPr lang="en-US" sz="1125" dirty="0"/>
          </a:p>
        </p:txBody>
      </p:sp>
      <p:sp>
        <p:nvSpPr>
          <p:cNvPr id="14" name="Text 12"/>
          <p:cNvSpPr/>
          <p:nvPr/>
        </p:nvSpPr>
        <p:spPr>
          <a:xfrm>
            <a:off x="1275308" y="800100"/>
            <a:ext cx="2878229"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#1 GROWTH OPPORTUNITY</a:t>
            </a:r>
            <a:endParaRPr lang="en-US" sz="1125" dirty="0"/>
          </a:p>
        </p:txBody>
      </p:sp>
      <p:sp>
        <p:nvSpPr>
          <p:cNvPr id="15" name="Text 13"/>
          <p:cNvSpPr/>
          <p:nvPr/>
        </p:nvSpPr>
        <p:spPr>
          <a:xfrm>
            <a:off x="914400" y="1247775"/>
            <a:ext cx="16952976" cy="238125"/>
          </a:xfrm>
          <a:prstGeom prst="rect">
            <a:avLst/>
          </a:prstGeom>
          <a:noFill/>
          <a:ln/>
        </p:spPr>
        <p:txBody>
          <a:bodyPr wrap="square" lIns="25400" tIns="25400" rIns="25400" bIns="25400" rtlCol="0" anchor="t">
            <a:normAutofit/>
          </a:bodyPr>
          <a:lstStyle/>
          <a:p>
            <a:pPr algn="l" indent="0" marL="0">
              <a:buNone/>
            </a:pPr>
            <a:r>
              <a:rPr lang="en-US" sz="1350" spc="297" kern="0" dirty="0">
                <a:solidFill>
                  <a:srgbClr val="7C8493"/>
                </a:solidFill>
                <a:latin typeface="Arial" pitchFamily="34" charset="0"/>
                <a:ea typeface="Arial" pitchFamily="34" charset="-122"/>
                <a:cs typeface="Arial" pitchFamily="34" charset="-120"/>
              </a:rPr>
              <a:t>OF 4,797 TARGET ACCOUNTS</a:t>
            </a:r>
            <a:endParaRPr lang="en-US" sz="1350" dirty="0"/>
          </a:p>
        </p:txBody>
      </p:sp>
      <p:sp>
        <p:nvSpPr>
          <p:cNvPr id="16" name="Text 14"/>
          <p:cNvSpPr/>
          <p:nvPr/>
        </p:nvSpPr>
        <p:spPr>
          <a:xfrm>
            <a:off x="914400" y="1676400"/>
            <a:ext cx="16952976" cy="2305050"/>
          </a:xfrm>
          <a:prstGeom prst="rect">
            <a:avLst/>
          </a:prstGeom>
          <a:noFill/>
          <a:ln/>
        </p:spPr>
        <p:txBody>
          <a:bodyPr wrap="square" lIns="25400" tIns="25400" rIns="25400" bIns="25400" rtlCol="0" anchor="t">
            <a:normAutofit/>
          </a:bodyPr>
          <a:lstStyle/>
          <a:p>
            <a:pPr algn="l" indent="0" marL="0">
              <a:lnSpc>
                <a:spcPct val="85000"/>
              </a:lnSpc>
              <a:buNone/>
            </a:pPr>
            <a:r>
              <a:rPr lang="en-US" sz="21000" spc="-840" kern="0" dirty="0">
                <a:solidFill>
                  <a:srgbClr val="82A6D9"/>
                </a:solidFill>
                <a:latin typeface="Arial" pitchFamily="34" charset="0"/>
                <a:ea typeface="Arial" pitchFamily="34" charset="-122"/>
                <a:cs typeface="Arial" pitchFamily="34" charset="-120"/>
              </a:rPr>
              <a:t>67.9</a:t>
            </a:r>
            <a:pPr algn="l" indent="0" marL="0">
              <a:lnSpc>
                <a:spcPct val="85000"/>
              </a:lnSpc>
              <a:buNone/>
            </a:pPr>
            <a:r>
              <a:rPr lang="en-US" sz="12000" spc="-840" kern="0" dirty="0">
                <a:solidFill>
                  <a:srgbClr val="7C8493"/>
                </a:solidFill>
                <a:latin typeface="Arial" pitchFamily="34" charset="0"/>
                <a:ea typeface="Arial" pitchFamily="34" charset="-122"/>
                <a:cs typeface="Arial" pitchFamily="34" charset="-120"/>
              </a:rPr>
              <a:t>%</a:t>
            </a:r>
            <a:endParaRPr lang="en-US" sz="21000" dirty="0"/>
          </a:p>
        </p:txBody>
      </p:sp>
      <p:sp>
        <p:nvSpPr>
          <p:cNvPr id="17" name="Text 15"/>
          <p:cNvSpPr/>
          <p:nvPr/>
        </p:nvSpPr>
        <p:spPr>
          <a:xfrm>
            <a:off x="914400" y="4248150"/>
            <a:ext cx="13735050" cy="635496"/>
          </a:xfrm>
          <a:prstGeom prst="rect">
            <a:avLst/>
          </a:prstGeom>
          <a:noFill/>
          <a:ln/>
        </p:spPr>
        <p:txBody>
          <a:bodyPr wrap="square" lIns="25400" tIns="25400" rIns="25400" bIns="25400" rtlCol="0" anchor="t">
            <a:normAutofit/>
          </a:bodyPr>
          <a:lstStyle/>
          <a:p>
            <a:pPr algn="l" indent="0" marL="0">
              <a:lnSpc>
                <a:spcPct val="112000"/>
              </a:lnSpc>
              <a:buNone/>
            </a:pPr>
            <a:r>
              <a:rPr lang="en-US" sz="4200" spc="-84" kern="0" dirty="0">
                <a:solidFill>
                  <a:srgbClr val="ECEEF2"/>
                </a:solidFill>
                <a:latin typeface="Arial" pitchFamily="34" charset="0"/>
                <a:ea typeface="Arial" pitchFamily="34" charset="-122"/>
                <a:cs typeface="Arial" pitchFamily="34" charset="-120"/>
              </a:rPr>
              <a:t>have </a:t>
            </a:r>
            <a:pPr algn="l" indent="0" marL="0">
              <a:lnSpc>
                <a:spcPct val="112000"/>
              </a:lnSpc>
              <a:buNone/>
            </a:pPr>
            <a:r>
              <a:rPr lang="en-US" sz="4200" spc="-84" kern="0" dirty="0">
                <a:solidFill>
                  <a:srgbClr val="82A6D9"/>
                </a:solidFill>
                <a:latin typeface="Arial" pitchFamily="34" charset="0"/>
                <a:ea typeface="Arial" pitchFamily="34" charset="-122"/>
                <a:cs typeface="Arial" pitchFamily="34" charset="-120"/>
              </a:rPr>
              <a:t>never </a:t>
            </a:r>
            <a:pPr algn="l" indent="0" marL="0">
              <a:lnSpc>
                <a:spcPct val="112000"/>
              </a:lnSpc>
              <a:buNone/>
            </a:pPr>
            <a:r>
              <a:rPr lang="en-US" sz="4200" spc="-84" kern="0" dirty="0">
                <a:solidFill>
                  <a:srgbClr val="ECEEF2"/>
                </a:solidFill>
                <a:latin typeface="Arial" pitchFamily="34" charset="0"/>
                <a:ea typeface="Arial" pitchFamily="34" charset="-122"/>
                <a:cs typeface="Arial" pitchFamily="34" charset="-120"/>
              </a:rPr>
              <a:t>received a single marketing touchpoint.</a:t>
            </a:r>
            <a:endParaRPr lang="en-US" sz="4200" dirty="0"/>
          </a:p>
        </p:txBody>
      </p:sp>
      <p:sp>
        <p:nvSpPr>
          <p:cNvPr id="18" name="Text 16"/>
          <p:cNvSpPr/>
          <p:nvPr/>
        </p:nvSpPr>
        <p:spPr>
          <a:xfrm>
            <a:off x="914400" y="7139285"/>
            <a:ext cx="16952976"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COVERAGE DISTRIBUTION</a:t>
            </a:r>
            <a:endParaRPr lang="en-US" sz="900" dirty="0"/>
          </a:p>
        </p:txBody>
      </p:sp>
      <p:pic>
        <p:nvPicPr>
          <p:cNvPr id="19" name="Image 0" descr="preencoded.png">    </p:cNvPr>
          <p:cNvPicPr>
            <a:picLocks noChangeAspect="1"/>
          </p:cNvPicPr>
          <p:nvPr/>
        </p:nvPicPr>
        <p:blipFill>
          <a:blip r:embed="rId1"/>
          <a:stretch>
            <a:fillRect/>
          </a:stretch>
        </p:blipFill>
        <p:spPr>
          <a:xfrm>
            <a:off x="914400" y="7444085"/>
            <a:ext cx="16459200" cy="871240"/>
          </a:xfrm>
          <a:prstGeom prst="rect">
            <a:avLst/>
          </a:prstGeom>
        </p:spPr>
      </p:pic>
      <p:sp>
        <p:nvSpPr>
          <p:cNvPr id="20" name="Shape 17"/>
          <p:cNvSpPr/>
          <p:nvPr/>
        </p:nvSpPr>
        <p:spPr>
          <a:xfrm>
            <a:off x="914400" y="8543925"/>
            <a:ext cx="16459200" cy="9525"/>
          </a:xfrm>
          <a:prstGeom prst="rect">
            <a:avLst/>
          </a:prstGeom>
          <a:solidFill>
            <a:srgbClr val="2A3450"/>
          </a:solidFill>
          <a:ln/>
        </p:spPr>
      </p:sp>
      <p:sp>
        <p:nvSpPr>
          <p:cNvPr id="21" name="Shape 18"/>
          <p:cNvSpPr/>
          <p:nvPr/>
        </p:nvSpPr>
        <p:spPr>
          <a:xfrm>
            <a:off x="5019675" y="8553450"/>
            <a:ext cx="9525" cy="1009650"/>
          </a:xfrm>
          <a:prstGeom prst="rect">
            <a:avLst/>
          </a:prstGeom>
          <a:solidFill>
            <a:srgbClr val="2A3450"/>
          </a:solidFill>
          <a:ln/>
        </p:spPr>
      </p:sp>
      <p:sp>
        <p:nvSpPr>
          <p:cNvPr id="22" name="Text 19"/>
          <p:cNvSpPr/>
          <p:nvPr/>
        </p:nvSpPr>
        <p:spPr>
          <a:xfrm>
            <a:off x="914400" y="8724900"/>
            <a:ext cx="4032218"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7C8493"/>
                </a:solidFill>
                <a:latin typeface="Arial" pitchFamily="34" charset="0"/>
                <a:ea typeface="Arial" pitchFamily="34" charset="-122"/>
                <a:cs typeface="Arial" pitchFamily="34" charset="-120"/>
              </a:rPr>
              <a:t>UNREACHED</a:t>
            </a:r>
            <a:endParaRPr lang="en-US" sz="900" dirty="0"/>
          </a:p>
        </p:txBody>
      </p:sp>
      <p:sp>
        <p:nvSpPr>
          <p:cNvPr id="23" name="Text 20"/>
          <p:cNvSpPr/>
          <p:nvPr/>
        </p:nvSpPr>
        <p:spPr>
          <a:xfrm>
            <a:off x="914400" y="8934450"/>
            <a:ext cx="4032218"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E68FA8"/>
                </a:solidFill>
                <a:latin typeface="Arial" pitchFamily="34" charset="0"/>
                <a:ea typeface="Arial" pitchFamily="34" charset="-122"/>
                <a:cs typeface="Arial" pitchFamily="34" charset="-120"/>
              </a:rPr>
              <a:t>3,256</a:t>
            </a:r>
            <a:endParaRPr lang="en-US" sz="3000" dirty="0"/>
          </a:p>
        </p:txBody>
      </p:sp>
      <p:sp>
        <p:nvSpPr>
          <p:cNvPr id="24" name="Text 21"/>
          <p:cNvSpPr/>
          <p:nvPr/>
        </p:nvSpPr>
        <p:spPr>
          <a:xfrm>
            <a:off x="914400" y="9372600"/>
            <a:ext cx="4032218" cy="228600"/>
          </a:xfrm>
          <a:prstGeom prst="rect">
            <a:avLst/>
          </a:prstGeom>
          <a:noFill/>
          <a:ln/>
        </p:spPr>
        <p:txBody>
          <a:bodyPr wrap="square" lIns="25400" tIns="25400" rIns="25400" bIns="25400" rtlCol="0" anchor="t">
            <a:normAutofit/>
          </a:bodyPr>
          <a:lstStyle/>
          <a:p>
            <a:pPr algn="l" indent="0" marL="0">
              <a:buNone/>
            </a:pPr>
            <a:r>
              <a:rPr lang="en-US" sz="1275" spc="153" kern="0" dirty="0">
                <a:solidFill>
                  <a:srgbClr val="7C8493"/>
                </a:solidFill>
                <a:latin typeface="Arial" pitchFamily="34" charset="0"/>
                <a:ea typeface="Arial" pitchFamily="34" charset="-122"/>
                <a:cs typeface="Arial" pitchFamily="34" charset="-120"/>
              </a:rPr>
              <a:t>1.0× BASELINE</a:t>
            </a:r>
            <a:endParaRPr lang="en-US" sz="1275" dirty="0"/>
          </a:p>
        </p:txBody>
      </p:sp>
      <p:sp>
        <p:nvSpPr>
          <p:cNvPr id="25" name="Shape 22"/>
          <p:cNvSpPr/>
          <p:nvPr/>
        </p:nvSpPr>
        <p:spPr>
          <a:xfrm>
            <a:off x="9134475" y="8553450"/>
            <a:ext cx="9525" cy="1009650"/>
          </a:xfrm>
          <a:prstGeom prst="rect">
            <a:avLst/>
          </a:prstGeom>
          <a:solidFill>
            <a:srgbClr val="2A3450"/>
          </a:solidFill>
          <a:ln/>
        </p:spPr>
      </p:sp>
      <p:sp>
        <p:nvSpPr>
          <p:cNvPr id="26" name="Text 23"/>
          <p:cNvSpPr/>
          <p:nvPr/>
        </p:nvSpPr>
        <p:spPr>
          <a:xfrm>
            <a:off x="5219700" y="8724900"/>
            <a:ext cx="3836003"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7C8493"/>
                </a:solidFill>
                <a:latin typeface="Arial" pitchFamily="34" charset="0"/>
                <a:ea typeface="Arial" pitchFamily="34" charset="-122"/>
                <a:cs typeface="Arial" pitchFamily="34" charset="-120"/>
              </a:rPr>
              <a:t>EMAIL ONLY</a:t>
            </a:r>
            <a:endParaRPr lang="en-US" sz="900" dirty="0"/>
          </a:p>
        </p:txBody>
      </p:sp>
      <p:sp>
        <p:nvSpPr>
          <p:cNvPr id="27" name="Text 24"/>
          <p:cNvSpPr/>
          <p:nvPr/>
        </p:nvSpPr>
        <p:spPr>
          <a:xfrm>
            <a:off x="5219700" y="8934450"/>
            <a:ext cx="3836003"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ECEEF2"/>
                </a:solidFill>
                <a:latin typeface="Arial" pitchFamily="34" charset="0"/>
                <a:ea typeface="Arial" pitchFamily="34" charset="-122"/>
                <a:cs typeface="Arial" pitchFamily="34" charset="-120"/>
              </a:rPr>
              <a:t>812</a:t>
            </a:r>
            <a:endParaRPr lang="en-US" sz="3000" dirty="0"/>
          </a:p>
        </p:txBody>
      </p:sp>
      <p:sp>
        <p:nvSpPr>
          <p:cNvPr id="28" name="Text 25"/>
          <p:cNvSpPr/>
          <p:nvPr/>
        </p:nvSpPr>
        <p:spPr>
          <a:xfrm>
            <a:off x="5219700" y="9372600"/>
            <a:ext cx="3836003" cy="228600"/>
          </a:xfrm>
          <a:prstGeom prst="rect">
            <a:avLst/>
          </a:prstGeom>
          <a:noFill/>
          <a:ln/>
        </p:spPr>
        <p:txBody>
          <a:bodyPr wrap="square" lIns="25400" tIns="25400" rIns="25400" bIns="25400" rtlCol="0" anchor="t">
            <a:normAutofit/>
          </a:bodyPr>
          <a:lstStyle/>
          <a:p>
            <a:pPr algn="l" indent="0" marL="0">
              <a:buNone/>
            </a:pPr>
            <a:r>
              <a:rPr lang="en-US" sz="1275" spc="153" kern="0" dirty="0">
                <a:solidFill>
                  <a:srgbClr val="88D1B0"/>
                </a:solidFill>
                <a:latin typeface="Arial" pitchFamily="34" charset="0"/>
                <a:ea typeface="Arial" pitchFamily="34" charset="-122"/>
                <a:cs typeface="Arial" pitchFamily="34" charset="-120"/>
              </a:rPr>
              <a:t>1.4× OPP RATE</a:t>
            </a:r>
            <a:endParaRPr lang="en-US" sz="1275" dirty="0"/>
          </a:p>
        </p:txBody>
      </p:sp>
      <p:sp>
        <p:nvSpPr>
          <p:cNvPr id="29" name="Shape 26"/>
          <p:cNvSpPr/>
          <p:nvPr/>
        </p:nvSpPr>
        <p:spPr>
          <a:xfrm>
            <a:off x="13249275" y="8553450"/>
            <a:ext cx="9525" cy="1009650"/>
          </a:xfrm>
          <a:prstGeom prst="rect">
            <a:avLst/>
          </a:prstGeom>
          <a:solidFill>
            <a:srgbClr val="2A3450"/>
          </a:solidFill>
          <a:ln/>
        </p:spPr>
      </p:sp>
      <p:sp>
        <p:nvSpPr>
          <p:cNvPr id="30" name="Text 27"/>
          <p:cNvSpPr/>
          <p:nvPr/>
        </p:nvSpPr>
        <p:spPr>
          <a:xfrm>
            <a:off x="9334500" y="8724900"/>
            <a:ext cx="3836003"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7C8493"/>
                </a:solidFill>
                <a:latin typeface="Arial" pitchFamily="34" charset="0"/>
                <a:ea typeface="Arial" pitchFamily="34" charset="-122"/>
                <a:cs typeface="Arial" pitchFamily="34" charset="-120"/>
              </a:rPr>
              <a:t>6SENSE ONLY</a:t>
            </a:r>
            <a:endParaRPr lang="en-US" sz="900" dirty="0"/>
          </a:p>
        </p:txBody>
      </p:sp>
      <p:sp>
        <p:nvSpPr>
          <p:cNvPr id="31" name="Text 28"/>
          <p:cNvSpPr/>
          <p:nvPr/>
        </p:nvSpPr>
        <p:spPr>
          <a:xfrm>
            <a:off x="9334500" y="8934450"/>
            <a:ext cx="3836003"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ECEEF2"/>
                </a:solidFill>
                <a:latin typeface="Arial" pitchFamily="34" charset="0"/>
                <a:ea typeface="Arial" pitchFamily="34" charset="-122"/>
                <a:cs typeface="Arial" pitchFamily="34" charset="-120"/>
              </a:rPr>
              <a:t>478</a:t>
            </a:r>
            <a:endParaRPr lang="en-US" sz="3000" dirty="0"/>
          </a:p>
        </p:txBody>
      </p:sp>
      <p:sp>
        <p:nvSpPr>
          <p:cNvPr id="32" name="Text 29"/>
          <p:cNvSpPr/>
          <p:nvPr/>
        </p:nvSpPr>
        <p:spPr>
          <a:xfrm>
            <a:off x="9334500" y="9372600"/>
            <a:ext cx="3836003" cy="228600"/>
          </a:xfrm>
          <a:prstGeom prst="rect">
            <a:avLst/>
          </a:prstGeom>
          <a:noFill/>
          <a:ln/>
        </p:spPr>
        <p:txBody>
          <a:bodyPr wrap="square" lIns="25400" tIns="25400" rIns="25400" bIns="25400" rtlCol="0" anchor="t">
            <a:normAutofit/>
          </a:bodyPr>
          <a:lstStyle/>
          <a:p>
            <a:pPr algn="l" indent="0" marL="0">
              <a:buNone/>
            </a:pPr>
            <a:r>
              <a:rPr lang="en-US" sz="1275" spc="153" kern="0" dirty="0">
                <a:solidFill>
                  <a:srgbClr val="88D1B0"/>
                </a:solidFill>
                <a:latin typeface="Arial" pitchFamily="34" charset="0"/>
                <a:ea typeface="Arial" pitchFamily="34" charset="-122"/>
                <a:cs typeface="Arial" pitchFamily="34" charset="-120"/>
              </a:rPr>
              <a:t>1.7× OPP RATE</a:t>
            </a:r>
            <a:endParaRPr lang="en-US" sz="1275" dirty="0"/>
          </a:p>
        </p:txBody>
      </p:sp>
      <p:sp>
        <p:nvSpPr>
          <p:cNvPr id="33" name="Text 30"/>
          <p:cNvSpPr/>
          <p:nvPr/>
        </p:nvSpPr>
        <p:spPr>
          <a:xfrm>
            <a:off x="13449300" y="8724900"/>
            <a:ext cx="3845814"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EMAIL + 6SENSE</a:t>
            </a:r>
            <a:endParaRPr lang="en-US" sz="900" dirty="0"/>
          </a:p>
        </p:txBody>
      </p:sp>
      <p:sp>
        <p:nvSpPr>
          <p:cNvPr id="34" name="Text 31"/>
          <p:cNvSpPr/>
          <p:nvPr/>
        </p:nvSpPr>
        <p:spPr>
          <a:xfrm>
            <a:off x="13449300" y="8934450"/>
            <a:ext cx="3845814"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82A6D9"/>
                </a:solidFill>
                <a:latin typeface="Arial" pitchFamily="34" charset="0"/>
                <a:ea typeface="Arial" pitchFamily="34" charset="-122"/>
                <a:cs typeface="Arial" pitchFamily="34" charset="-120"/>
              </a:rPr>
              <a:t>251</a:t>
            </a:r>
            <a:endParaRPr lang="en-US" sz="3000" dirty="0"/>
          </a:p>
        </p:txBody>
      </p:sp>
      <p:sp>
        <p:nvSpPr>
          <p:cNvPr id="35" name="Text 32"/>
          <p:cNvSpPr/>
          <p:nvPr/>
        </p:nvSpPr>
        <p:spPr>
          <a:xfrm>
            <a:off x="13449300" y="9372600"/>
            <a:ext cx="3845814" cy="228600"/>
          </a:xfrm>
          <a:prstGeom prst="rect">
            <a:avLst/>
          </a:prstGeom>
          <a:noFill/>
          <a:ln/>
        </p:spPr>
        <p:txBody>
          <a:bodyPr wrap="square" lIns="25400" tIns="25400" rIns="25400" bIns="25400" rtlCol="0" anchor="t">
            <a:normAutofit/>
          </a:bodyPr>
          <a:lstStyle/>
          <a:p>
            <a:pPr algn="l" indent="0" marL="0">
              <a:buNone/>
            </a:pPr>
            <a:r>
              <a:rPr lang="en-US" sz="1275" spc="153" kern="0" dirty="0">
                <a:solidFill>
                  <a:srgbClr val="88D1B0"/>
                </a:solidFill>
                <a:latin typeface="Arial" pitchFamily="34" charset="0"/>
                <a:ea typeface="Arial" pitchFamily="34" charset="-122"/>
                <a:cs typeface="Arial" pitchFamily="34" charset="-120"/>
              </a:rPr>
              <a:t>2.4× OPP RATE</a:t>
            </a:r>
            <a:endParaRPr lang="en-US" sz="1275" dirty="0"/>
          </a:p>
        </p:txBody>
      </p:sp>
      <p:sp>
        <p:nvSpPr>
          <p:cNvPr id="36" name="Text 33"/>
          <p:cNvSpPr/>
          <p:nvPr/>
        </p:nvSpPr>
        <p:spPr>
          <a:xfrm>
            <a:off x="762000" y="9791700"/>
            <a:ext cx="1529655"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18 / COVERAGE</a:t>
            </a:r>
            <a:endParaRPr lang="en-US" sz="900" dirty="0"/>
          </a:p>
        </p:txBody>
      </p:sp>
      <p:sp>
        <p:nvSpPr>
          <p:cNvPr id="37" name="Text 34"/>
          <p:cNvSpPr/>
          <p:nvPr/>
        </p:nvSpPr>
        <p:spPr>
          <a:xfrm>
            <a:off x="15838884" y="9791700"/>
            <a:ext cx="1763316"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BASE: 4,797 ACCOUNTS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71475"/>
            <a:ext cx="3084408"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19 / 21 · PIPELINE COHORT ANALYSIS</a:t>
            </a:r>
            <a:endParaRPr lang="en-US" sz="975" dirty="0"/>
          </a:p>
        </p:txBody>
      </p:sp>
      <p:sp>
        <p:nvSpPr>
          <p:cNvPr id="11" name="Text 9"/>
          <p:cNvSpPr/>
          <p:nvPr/>
        </p:nvSpPr>
        <p:spPr>
          <a:xfrm>
            <a:off x="15799147" y="361950"/>
            <a:ext cx="1803053" cy="20002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 STRATEGIC SIGNAL</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19</a:t>
            </a:r>
            <a:endParaRPr lang="en-US" sz="1125" dirty="0"/>
          </a:p>
        </p:txBody>
      </p:sp>
      <p:sp>
        <p:nvSpPr>
          <p:cNvPr id="13" name="Text 11"/>
          <p:cNvSpPr/>
          <p:nvPr/>
        </p:nvSpPr>
        <p:spPr>
          <a:xfrm>
            <a:off x="1275308" y="800100"/>
            <a:ext cx="118392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COHORTS</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Pipeline up. Win rate down. Quality is losing.</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Pipeline volume per quarter (bars) vs. win rate per quarter (line). The most important strategic signal in the dataset.</a:t>
            </a:r>
            <a:endParaRPr lang="en-US" sz="2100" dirty="0"/>
          </a:p>
        </p:txBody>
      </p:sp>
      <p:sp>
        <p:nvSpPr>
          <p:cNvPr id="16" name="Text 14"/>
          <p:cNvSpPr/>
          <p:nvPr/>
        </p:nvSpPr>
        <p:spPr>
          <a:xfrm>
            <a:off x="914400" y="2733526"/>
            <a:ext cx="3811323"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7C8493"/>
                </a:solidFill>
                <a:latin typeface="Arial" pitchFamily="34" charset="0"/>
                <a:ea typeface="Arial" pitchFamily="34" charset="-122"/>
                <a:cs typeface="Arial" pitchFamily="34" charset="-120"/>
              </a:rPr>
              <a:t>PIPELINE $ &amp; WIN RATE BY QUARTER · 2022—2024</a:t>
            </a:r>
            <a:endParaRPr lang="en-US" sz="900" dirty="0"/>
          </a:p>
        </p:txBody>
      </p:sp>
      <p:sp>
        <p:nvSpPr>
          <p:cNvPr id="17" name="Text 15"/>
          <p:cNvSpPr/>
          <p:nvPr/>
        </p:nvSpPr>
        <p:spPr>
          <a:xfrm>
            <a:off x="16894373" y="2733526"/>
            <a:ext cx="555427" cy="171450"/>
          </a:xfrm>
          <a:prstGeom prst="rect">
            <a:avLst/>
          </a:prstGeom>
          <a:noFill/>
          <a:ln/>
        </p:spPr>
        <p:txBody>
          <a:bodyPr wrap="square" lIns="25400" tIns="25400" rIns="25400" bIns="25400" rtlCol="0" anchor="t">
            <a:normAutofit/>
          </a:bodyPr>
          <a:lstStyle/>
          <a:p>
            <a:pPr algn="l" indent="0" marL="0">
              <a:buNone/>
            </a:pPr>
            <a:r>
              <a:rPr lang="en-US" sz="900" spc="162" kern="0" dirty="0">
                <a:solidFill>
                  <a:srgbClr val="555C6B"/>
                </a:solidFill>
                <a:latin typeface="Arial" pitchFamily="34" charset="0"/>
                <a:ea typeface="Arial" pitchFamily="34" charset="-122"/>
                <a:cs typeface="Arial" pitchFamily="34" charset="-120"/>
              </a:rPr>
              <a:t>$M / %</a:t>
            </a:r>
            <a:endParaRPr lang="en-US" sz="900" dirty="0"/>
          </a:p>
        </p:txBody>
      </p:sp>
      <p:pic>
        <p:nvPicPr>
          <p:cNvPr id="18" name="Image 0" descr="preencoded.png">    </p:cNvPr>
          <p:cNvPicPr>
            <a:picLocks noChangeAspect="1"/>
          </p:cNvPicPr>
          <p:nvPr/>
        </p:nvPicPr>
        <p:blipFill>
          <a:blip r:embed="rId1"/>
          <a:stretch>
            <a:fillRect/>
          </a:stretch>
        </p:blipFill>
        <p:spPr>
          <a:xfrm>
            <a:off x="914400" y="3000226"/>
            <a:ext cx="16459200" cy="5279082"/>
          </a:xfrm>
          <a:prstGeom prst="rect">
            <a:avLst/>
          </a:prstGeom>
        </p:spPr>
      </p:pic>
      <p:sp>
        <p:nvSpPr>
          <p:cNvPr id="19" name="Text 16"/>
          <p:cNvSpPr/>
          <p:nvPr/>
        </p:nvSpPr>
        <p:spPr>
          <a:xfrm>
            <a:off x="914400" y="8393609"/>
            <a:ext cx="945505" cy="17145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B7BCC8"/>
                </a:solidFill>
                <a:latin typeface="Arial" pitchFamily="34" charset="0"/>
                <a:ea typeface="Arial" pitchFamily="34" charset="-122"/>
                <a:cs typeface="Arial" pitchFamily="34" charset="-120"/>
              </a:rPr>
              <a:t>Pipeline $M</a:t>
            </a:r>
            <a:endParaRPr lang="en-US" sz="900" dirty="0"/>
          </a:p>
        </p:txBody>
      </p:sp>
      <p:sp>
        <p:nvSpPr>
          <p:cNvPr id="20" name="Text 17"/>
          <p:cNvSpPr/>
          <p:nvPr/>
        </p:nvSpPr>
        <p:spPr>
          <a:xfrm>
            <a:off x="1993255" y="8393609"/>
            <a:ext cx="942529" cy="17145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B7BCC8"/>
                </a:solidFill>
                <a:latin typeface="Arial" pitchFamily="34" charset="0"/>
                <a:ea typeface="Arial" pitchFamily="34" charset="-122"/>
                <a:cs typeface="Arial" pitchFamily="34" charset="-120"/>
              </a:rPr>
              <a:t>Win Rate %</a:t>
            </a:r>
            <a:endParaRPr lang="en-US" sz="900" dirty="0"/>
          </a:p>
        </p:txBody>
      </p:sp>
      <p:sp>
        <p:nvSpPr>
          <p:cNvPr id="21" name="Text 18"/>
          <p:cNvSpPr/>
          <p:nvPr/>
        </p:nvSpPr>
        <p:spPr>
          <a:xfrm>
            <a:off x="3069134" y="8393609"/>
            <a:ext cx="1375172" cy="171450"/>
          </a:xfrm>
          <a:prstGeom prst="rect">
            <a:avLst/>
          </a:prstGeom>
          <a:noFill/>
          <a:ln/>
        </p:spPr>
        <p:txBody>
          <a:bodyPr wrap="square" lIns="25400" tIns="25400" rIns="25400" bIns="25400" rtlCol="0" anchor="t">
            <a:normAutofit/>
          </a:bodyPr>
          <a:lstStyle/>
          <a:p>
            <a:pPr algn="l" indent="0" marL="0">
              <a:buNone/>
            </a:pPr>
            <a:r>
              <a:rPr lang="en-US" sz="900" spc="72" kern="0" dirty="0">
                <a:solidFill>
                  <a:srgbClr val="B7BCC8"/>
                </a:solidFill>
                <a:latin typeface="Arial" pitchFamily="34" charset="0"/>
                <a:ea typeface="Arial" pitchFamily="34" charset="-122"/>
                <a:cs typeface="Arial" pitchFamily="34" charset="-120"/>
              </a:rPr>
              <a:t>Marketing Share %</a:t>
            </a:r>
            <a:endParaRPr lang="en-US" sz="900" dirty="0"/>
          </a:p>
        </p:txBody>
      </p:sp>
      <p:sp>
        <p:nvSpPr>
          <p:cNvPr id="22" name="Shape 19"/>
          <p:cNvSpPr/>
          <p:nvPr/>
        </p:nvSpPr>
        <p:spPr>
          <a:xfrm>
            <a:off x="914400" y="8736509"/>
            <a:ext cx="16459200" cy="9525"/>
          </a:xfrm>
          <a:prstGeom prst="rect">
            <a:avLst/>
          </a:prstGeom>
          <a:solidFill>
            <a:srgbClr val="2A3450"/>
          </a:solidFill>
          <a:ln/>
        </p:spPr>
      </p:sp>
      <p:sp>
        <p:nvSpPr>
          <p:cNvPr id="23" name="Text 20"/>
          <p:cNvSpPr/>
          <p:nvPr/>
        </p:nvSpPr>
        <p:spPr>
          <a:xfrm>
            <a:off x="914400" y="8955584"/>
            <a:ext cx="2171700" cy="645616"/>
          </a:xfrm>
          <a:prstGeom prst="rect">
            <a:avLst/>
          </a:prstGeom>
          <a:noFill/>
          <a:ln/>
        </p:spPr>
        <p:txBody>
          <a:bodyPr wrap="square" lIns="25400" tIns="25400" rIns="25400" bIns="25400" rtlCol="0" anchor="t">
            <a:normAutofit/>
          </a:bodyPr>
          <a:lstStyle/>
          <a:p>
            <a:pPr algn="l" indent="0" marL="0">
              <a:buNone/>
            </a:pPr>
            <a:r>
              <a:rPr lang="en-US" sz="900" spc="198" kern="0" dirty="0">
                <a:solidFill>
                  <a:srgbClr val="82A6D9"/>
                </a:solidFill>
                <a:latin typeface="Arial" pitchFamily="34" charset="0"/>
                <a:ea typeface="Arial" pitchFamily="34" charset="-122"/>
                <a:cs typeface="Arial" pitchFamily="34" charset="-120"/>
              </a:rPr>
              <a:t>DIAGNOSIS</a:t>
            </a:r>
            <a:endParaRPr lang="en-US" sz="900" dirty="0"/>
          </a:p>
        </p:txBody>
      </p:sp>
      <p:sp>
        <p:nvSpPr>
          <p:cNvPr id="24" name="Text 21"/>
          <p:cNvSpPr/>
          <p:nvPr/>
        </p:nvSpPr>
        <p:spPr>
          <a:xfrm>
            <a:off x="3352800" y="8955584"/>
            <a:ext cx="1444142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Win rate dropped from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~37% in 2022 to ~15% in 2024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 Either ICP targeting expanded too broadly, or deals are entering the funnel before they're qualified. Recommend quarterly ICP audit and tighter qualification criteria at deal entry.</a:t>
            </a:r>
            <a:endParaRPr lang="en-US" sz="1650" dirty="0"/>
          </a:p>
        </p:txBody>
      </p:sp>
      <p:sp>
        <p:nvSpPr>
          <p:cNvPr id="25" name="Text 22"/>
          <p:cNvSpPr/>
          <p:nvPr/>
        </p:nvSpPr>
        <p:spPr>
          <a:xfrm>
            <a:off x="762000" y="9791700"/>
            <a:ext cx="1433066"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19 / COHORTS</a:t>
            </a:r>
            <a:endParaRPr lang="en-US" sz="900" dirty="0"/>
          </a:p>
        </p:txBody>
      </p:sp>
      <p:sp>
        <p:nvSpPr>
          <p:cNvPr id="26" name="Text 23"/>
          <p:cNvSpPr/>
          <p:nvPr/>
        </p:nvSpPr>
        <p:spPr>
          <a:xfrm>
            <a:off x="15731430" y="9791700"/>
            <a:ext cx="1870770"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QUARTERLY · 2022—2024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357908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20 / 21 · ABM TARGETING PRIORITY MATRIX</a:t>
            </a:r>
            <a:endParaRPr lang="en-US" sz="975" dirty="0"/>
          </a:p>
        </p:txBody>
      </p:sp>
      <p:sp>
        <p:nvSpPr>
          <p:cNvPr id="11" name="Text 9"/>
          <p:cNvSpPr/>
          <p:nvPr/>
        </p:nvSpPr>
        <p:spPr>
          <a:xfrm>
            <a:off x="16601331" y="361950"/>
            <a:ext cx="1000869"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VI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20</a:t>
            </a:r>
            <a:endParaRPr lang="en-US" sz="1125" dirty="0"/>
          </a:p>
        </p:txBody>
      </p:sp>
      <p:sp>
        <p:nvSpPr>
          <p:cNvPr id="13" name="Text 11"/>
          <p:cNvSpPr/>
          <p:nvPr/>
        </p:nvSpPr>
        <p:spPr>
          <a:xfrm>
            <a:off x="1275308" y="800100"/>
            <a:ext cx="1181249"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PRIORITY</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Where to concentrate ABM investment.</a:t>
            </a:r>
            <a:endParaRPr lang="en-US" sz="5700" dirty="0"/>
          </a:p>
        </p:txBody>
      </p:sp>
      <p:sp>
        <p:nvSpPr>
          <p:cNvPr id="15" name="Text 13"/>
          <p:cNvSpPr/>
          <p:nvPr/>
        </p:nvSpPr>
        <p:spPr>
          <a:xfrm>
            <a:off x="914400" y="2095798"/>
            <a:ext cx="14716125" cy="390079"/>
          </a:xfrm>
          <a:prstGeom prst="rect">
            <a:avLst/>
          </a:prstGeom>
          <a:noFill/>
          <a:ln/>
        </p:spPr>
        <p:txBody>
          <a:bodyPr wrap="square" lIns="25400" tIns="25400" rIns="25400" bIns="25400" rtlCol="0" anchor="t">
            <a:normAutofit/>
          </a:bodyPr>
          <a:lstStyle/>
          <a:p>
            <a:pPr algn="l" indent="0" marL="0">
              <a:lnSpc>
                <a:spcPct val="132000"/>
              </a:lnSpc>
              <a:buNone/>
            </a:pPr>
            <a:r>
              <a:rPr lang="en-US" sz="2100" spc="-11" kern="0" dirty="0">
                <a:solidFill>
                  <a:srgbClr val="B7BCC8"/>
                </a:solidFill>
                <a:latin typeface="Arial" pitchFamily="34" charset="0"/>
                <a:ea typeface="Arial" pitchFamily="34" charset="-122"/>
                <a:cs typeface="Arial" pitchFamily="34" charset="-120"/>
              </a:rPr>
              <a:t>Win rate heatmap — Segment × 6sense Profile Fit. Darker = higher win rate.</a:t>
            </a:r>
            <a:endParaRPr lang="en-US" sz="2100" dirty="0"/>
          </a:p>
        </p:txBody>
      </p:sp>
      <p:sp>
        <p:nvSpPr>
          <p:cNvPr id="16" name="Shape 14"/>
          <p:cNvSpPr/>
          <p:nvPr/>
        </p:nvSpPr>
        <p:spPr>
          <a:xfrm>
            <a:off x="914400" y="2790676"/>
            <a:ext cx="16459200" cy="3276600"/>
          </a:xfrm>
          <a:prstGeom prst="rect">
            <a:avLst/>
          </a:prstGeom>
          <a:ln w="9525">
            <a:solidFill>
              <a:srgbClr val="2A3450"/>
            </a:solidFill>
            <a:prstDash val="solid"/>
          </a:ln>
        </p:spPr>
      </p:sp>
      <p:sp>
        <p:nvSpPr>
          <p:cNvPr id="17" name="Shape 15"/>
          <p:cNvSpPr/>
          <p:nvPr/>
        </p:nvSpPr>
        <p:spPr>
          <a:xfrm>
            <a:off x="923925" y="2800201"/>
            <a:ext cx="2095500" cy="542925"/>
          </a:xfrm>
          <a:prstGeom prst="rect">
            <a:avLst/>
          </a:prstGeom>
          <a:solidFill>
            <a:srgbClr val="0A0E1C"/>
          </a:solidFill>
          <a:ln/>
        </p:spPr>
      </p:sp>
      <p:sp>
        <p:nvSpPr>
          <p:cNvPr id="18" name="Shape 16"/>
          <p:cNvSpPr/>
          <p:nvPr/>
        </p:nvSpPr>
        <p:spPr>
          <a:xfrm>
            <a:off x="923925" y="3333601"/>
            <a:ext cx="2095500" cy="9525"/>
          </a:xfrm>
          <a:prstGeom prst="rect">
            <a:avLst/>
          </a:prstGeom>
          <a:solidFill>
            <a:srgbClr val="2A3450"/>
          </a:solidFill>
          <a:ln/>
        </p:spPr>
      </p:sp>
      <p:sp>
        <p:nvSpPr>
          <p:cNvPr id="19" name="Shape 17"/>
          <p:cNvSpPr/>
          <p:nvPr/>
        </p:nvSpPr>
        <p:spPr>
          <a:xfrm>
            <a:off x="3009900" y="2800201"/>
            <a:ext cx="9525" cy="542925"/>
          </a:xfrm>
          <a:prstGeom prst="rect">
            <a:avLst/>
          </a:prstGeom>
          <a:solidFill>
            <a:srgbClr val="2A3450"/>
          </a:solidFill>
          <a:ln/>
        </p:spPr>
      </p:sp>
      <p:sp>
        <p:nvSpPr>
          <p:cNvPr id="20" name="Shape 18"/>
          <p:cNvSpPr/>
          <p:nvPr/>
        </p:nvSpPr>
        <p:spPr>
          <a:xfrm>
            <a:off x="3019425" y="2800201"/>
            <a:ext cx="4781550" cy="542925"/>
          </a:xfrm>
          <a:prstGeom prst="rect">
            <a:avLst/>
          </a:prstGeom>
          <a:solidFill>
            <a:srgbClr val="111729"/>
          </a:solidFill>
          <a:ln/>
        </p:spPr>
      </p:sp>
      <p:sp>
        <p:nvSpPr>
          <p:cNvPr id="21" name="Shape 19"/>
          <p:cNvSpPr/>
          <p:nvPr/>
        </p:nvSpPr>
        <p:spPr>
          <a:xfrm>
            <a:off x="3019425" y="3333601"/>
            <a:ext cx="4781550" cy="9525"/>
          </a:xfrm>
          <a:prstGeom prst="rect">
            <a:avLst/>
          </a:prstGeom>
          <a:solidFill>
            <a:srgbClr val="2A3450"/>
          </a:solidFill>
          <a:ln/>
        </p:spPr>
      </p:sp>
      <p:sp>
        <p:nvSpPr>
          <p:cNvPr id="22" name="Shape 20"/>
          <p:cNvSpPr/>
          <p:nvPr/>
        </p:nvSpPr>
        <p:spPr>
          <a:xfrm>
            <a:off x="7791450" y="2800201"/>
            <a:ext cx="9525" cy="542925"/>
          </a:xfrm>
          <a:prstGeom prst="rect">
            <a:avLst/>
          </a:prstGeom>
          <a:solidFill>
            <a:srgbClr val="2A3450"/>
          </a:solidFill>
          <a:ln/>
        </p:spPr>
      </p:sp>
      <p:sp>
        <p:nvSpPr>
          <p:cNvPr id="23" name="Text 21"/>
          <p:cNvSpPr/>
          <p:nvPr/>
        </p:nvSpPr>
        <p:spPr>
          <a:xfrm>
            <a:off x="3119152" y="3009751"/>
            <a:ext cx="4572572" cy="152400"/>
          </a:xfrm>
          <a:prstGeom prst="rect">
            <a:avLst/>
          </a:prstGeom>
          <a:noFill/>
          <a:ln/>
        </p:spPr>
        <p:txBody>
          <a:bodyPr wrap="square" lIns="25400" tIns="25400" rIns="25400" bIns="25400" rtlCol="0" anchor="t">
            <a:normAutofit/>
          </a:bodyPr>
          <a:lstStyle/>
          <a:p>
            <a:pPr algn="ctr" indent="0" marL="0">
              <a:buNone/>
            </a:pPr>
            <a:r>
              <a:rPr lang="en-US" sz="825" spc="182" kern="0" dirty="0">
                <a:solidFill>
                  <a:srgbClr val="7C8493"/>
                </a:solidFill>
                <a:latin typeface="Arial" pitchFamily="34" charset="0"/>
                <a:ea typeface="Arial" pitchFamily="34" charset="-122"/>
                <a:cs typeface="Arial" pitchFamily="34" charset="-120"/>
              </a:rPr>
              <a:t>STRONG FIT</a:t>
            </a:r>
            <a:endParaRPr lang="en-US" sz="825" dirty="0"/>
          </a:p>
        </p:txBody>
      </p:sp>
      <p:sp>
        <p:nvSpPr>
          <p:cNvPr id="24" name="Shape 22"/>
          <p:cNvSpPr/>
          <p:nvPr/>
        </p:nvSpPr>
        <p:spPr>
          <a:xfrm>
            <a:off x="7800975" y="2800201"/>
            <a:ext cx="4781550" cy="542925"/>
          </a:xfrm>
          <a:prstGeom prst="rect">
            <a:avLst/>
          </a:prstGeom>
          <a:solidFill>
            <a:srgbClr val="111729"/>
          </a:solidFill>
          <a:ln/>
        </p:spPr>
      </p:sp>
      <p:sp>
        <p:nvSpPr>
          <p:cNvPr id="25" name="Shape 23"/>
          <p:cNvSpPr/>
          <p:nvPr/>
        </p:nvSpPr>
        <p:spPr>
          <a:xfrm>
            <a:off x="7800975" y="3333601"/>
            <a:ext cx="4781550" cy="9525"/>
          </a:xfrm>
          <a:prstGeom prst="rect">
            <a:avLst/>
          </a:prstGeom>
          <a:solidFill>
            <a:srgbClr val="2A3450"/>
          </a:solidFill>
          <a:ln/>
        </p:spPr>
      </p:sp>
      <p:sp>
        <p:nvSpPr>
          <p:cNvPr id="26" name="Shape 24"/>
          <p:cNvSpPr/>
          <p:nvPr/>
        </p:nvSpPr>
        <p:spPr>
          <a:xfrm>
            <a:off x="12573000" y="2800201"/>
            <a:ext cx="9525" cy="542925"/>
          </a:xfrm>
          <a:prstGeom prst="rect">
            <a:avLst/>
          </a:prstGeom>
          <a:solidFill>
            <a:srgbClr val="2A3450"/>
          </a:solidFill>
          <a:ln/>
        </p:spPr>
      </p:sp>
      <p:sp>
        <p:nvSpPr>
          <p:cNvPr id="27" name="Text 25"/>
          <p:cNvSpPr/>
          <p:nvPr/>
        </p:nvSpPr>
        <p:spPr>
          <a:xfrm>
            <a:off x="7900702" y="3009751"/>
            <a:ext cx="4572572" cy="152400"/>
          </a:xfrm>
          <a:prstGeom prst="rect">
            <a:avLst/>
          </a:prstGeom>
          <a:noFill/>
          <a:ln/>
        </p:spPr>
        <p:txBody>
          <a:bodyPr wrap="square" lIns="25400" tIns="25400" rIns="25400" bIns="25400" rtlCol="0" anchor="t">
            <a:normAutofit/>
          </a:bodyPr>
          <a:lstStyle/>
          <a:p>
            <a:pPr algn="ctr" indent="0" marL="0">
              <a:buNone/>
            </a:pPr>
            <a:r>
              <a:rPr lang="en-US" sz="825" spc="182" kern="0" dirty="0">
                <a:solidFill>
                  <a:srgbClr val="7C8493"/>
                </a:solidFill>
                <a:latin typeface="Arial" pitchFamily="34" charset="0"/>
                <a:ea typeface="Arial" pitchFamily="34" charset="-122"/>
                <a:cs typeface="Arial" pitchFamily="34" charset="-120"/>
              </a:rPr>
              <a:t>MODERATE FIT</a:t>
            </a:r>
            <a:endParaRPr lang="en-US" sz="825" dirty="0"/>
          </a:p>
        </p:txBody>
      </p:sp>
      <p:sp>
        <p:nvSpPr>
          <p:cNvPr id="28" name="Shape 26"/>
          <p:cNvSpPr/>
          <p:nvPr/>
        </p:nvSpPr>
        <p:spPr>
          <a:xfrm>
            <a:off x="12582525" y="2800201"/>
            <a:ext cx="4781550" cy="542925"/>
          </a:xfrm>
          <a:prstGeom prst="rect">
            <a:avLst/>
          </a:prstGeom>
          <a:solidFill>
            <a:srgbClr val="111729"/>
          </a:solidFill>
          <a:ln/>
        </p:spPr>
      </p:sp>
      <p:sp>
        <p:nvSpPr>
          <p:cNvPr id="29" name="Shape 27"/>
          <p:cNvSpPr/>
          <p:nvPr/>
        </p:nvSpPr>
        <p:spPr>
          <a:xfrm>
            <a:off x="12582525" y="3333601"/>
            <a:ext cx="4781550" cy="9525"/>
          </a:xfrm>
          <a:prstGeom prst="rect">
            <a:avLst/>
          </a:prstGeom>
          <a:solidFill>
            <a:srgbClr val="2A3450"/>
          </a:solidFill>
          <a:ln/>
        </p:spPr>
      </p:sp>
      <p:sp>
        <p:nvSpPr>
          <p:cNvPr id="30" name="Text 28"/>
          <p:cNvSpPr/>
          <p:nvPr/>
        </p:nvSpPr>
        <p:spPr>
          <a:xfrm>
            <a:off x="12682252" y="3009751"/>
            <a:ext cx="4582097" cy="152400"/>
          </a:xfrm>
          <a:prstGeom prst="rect">
            <a:avLst/>
          </a:prstGeom>
          <a:noFill/>
          <a:ln/>
        </p:spPr>
        <p:txBody>
          <a:bodyPr wrap="square" lIns="25400" tIns="25400" rIns="25400" bIns="25400" rtlCol="0" anchor="t">
            <a:normAutofit/>
          </a:bodyPr>
          <a:lstStyle/>
          <a:p>
            <a:pPr algn="ctr" indent="0" marL="0">
              <a:buNone/>
            </a:pPr>
            <a:r>
              <a:rPr lang="en-US" sz="825" spc="182" kern="0" dirty="0">
                <a:solidFill>
                  <a:srgbClr val="7C8493"/>
                </a:solidFill>
                <a:latin typeface="Arial" pitchFamily="34" charset="0"/>
                <a:ea typeface="Arial" pitchFamily="34" charset="-122"/>
                <a:cs typeface="Arial" pitchFamily="34" charset="-120"/>
              </a:rPr>
              <a:t>WEAK FIT</a:t>
            </a:r>
            <a:endParaRPr lang="en-US" sz="825" dirty="0"/>
          </a:p>
        </p:txBody>
      </p:sp>
      <p:sp>
        <p:nvSpPr>
          <p:cNvPr id="31" name="Shape 29"/>
          <p:cNvSpPr/>
          <p:nvPr/>
        </p:nvSpPr>
        <p:spPr>
          <a:xfrm>
            <a:off x="923925" y="3343126"/>
            <a:ext cx="2095500" cy="904875"/>
          </a:xfrm>
          <a:prstGeom prst="rect">
            <a:avLst/>
          </a:prstGeom>
          <a:solidFill>
            <a:srgbClr val="111729"/>
          </a:solidFill>
          <a:ln/>
        </p:spPr>
      </p:sp>
      <p:sp>
        <p:nvSpPr>
          <p:cNvPr id="32" name="Shape 30"/>
          <p:cNvSpPr/>
          <p:nvPr/>
        </p:nvSpPr>
        <p:spPr>
          <a:xfrm>
            <a:off x="923925" y="4238476"/>
            <a:ext cx="2095500" cy="9525"/>
          </a:xfrm>
          <a:prstGeom prst="rect">
            <a:avLst/>
          </a:prstGeom>
          <a:solidFill>
            <a:srgbClr val="2A3450"/>
          </a:solidFill>
          <a:ln/>
        </p:spPr>
      </p:sp>
      <p:sp>
        <p:nvSpPr>
          <p:cNvPr id="33" name="Shape 31"/>
          <p:cNvSpPr/>
          <p:nvPr/>
        </p:nvSpPr>
        <p:spPr>
          <a:xfrm>
            <a:off x="3009900" y="3343126"/>
            <a:ext cx="9525" cy="904875"/>
          </a:xfrm>
          <a:prstGeom prst="rect">
            <a:avLst/>
          </a:prstGeom>
          <a:solidFill>
            <a:srgbClr val="2A3450"/>
          </a:solidFill>
          <a:ln/>
        </p:spPr>
      </p:sp>
      <p:sp>
        <p:nvSpPr>
          <p:cNvPr id="34" name="Text 32"/>
          <p:cNvSpPr/>
          <p:nvPr/>
        </p:nvSpPr>
        <p:spPr>
          <a:xfrm>
            <a:off x="1095375" y="3552676"/>
            <a:ext cx="1819275" cy="5143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ECEEF2"/>
                </a:solidFill>
                <a:highlight>
                  <a:srgbClr val="111729"/>
                </a:highlight>
                <a:latin typeface="Arial" pitchFamily="34" charset="0"/>
                <a:ea typeface="Arial" pitchFamily="34" charset="-122"/>
                <a:cs typeface="Arial" pitchFamily="34" charset="-120"/>
              </a:rPr>
              <a:t>ENTERPRISE </a:t>
            </a:r>
            <a:pPr algn="l" indent="0" marL="0">
              <a:buNone/>
            </a:pPr>
            <a:r>
              <a:rPr lang="en-US" sz="1200" spc="54" kern="0" dirty="0">
                <a:solidFill>
                  <a:srgbClr val="7C8493"/>
                </a:solidFill>
                <a:latin typeface="Arial" pitchFamily="34" charset="0"/>
                <a:ea typeface="Arial" pitchFamily="34" charset="-122"/>
                <a:cs typeface="Arial" pitchFamily="34" charset="-120"/>
              </a:rPr>
              <a:t>$15K AVG</a:t>
            </a:r>
            <a:endParaRPr lang="en-US" sz="900" dirty="0"/>
          </a:p>
        </p:txBody>
      </p:sp>
      <p:sp>
        <p:nvSpPr>
          <p:cNvPr id="35" name="Shape 33"/>
          <p:cNvSpPr/>
          <p:nvPr/>
        </p:nvSpPr>
        <p:spPr>
          <a:xfrm>
            <a:off x="3019425" y="3343126"/>
            <a:ext cx="4781550" cy="904875"/>
          </a:xfrm>
          <a:prstGeom prst="rect">
            <a:avLst/>
          </a:prstGeom>
          <a:solidFill>
            <a:srgbClr val="E8B765">
              <a:alpha val="42000"/>
            </a:srgbClr>
          </a:solidFill>
          <a:ln/>
        </p:spPr>
      </p:sp>
      <p:sp>
        <p:nvSpPr>
          <p:cNvPr id="36" name="Shape 34"/>
          <p:cNvSpPr/>
          <p:nvPr/>
        </p:nvSpPr>
        <p:spPr>
          <a:xfrm>
            <a:off x="3019425" y="4238476"/>
            <a:ext cx="4781550" cy="9525"/>
          </a:xfrm>
          <a:prstGeom prst="rect">
            <a:avLst/>
          </a:prstGeom>
          <a:solidFill>
            <a:srgbClr val="2A3450"/>
          </a:solidFill>
          <a:ln/>
        </p:spPr>
      </p:sp>
      <p:sp>
        <p:nvSpPr>
          <p:cNvPr id="37" name="Shape 35"/>
          <p:cNvSpPr/>
          <p:nvPr/>
        </p:nvSpPr>
        <p:spPr>
          <a:xfrm>
            <a:off x="7791450" y="3343126"/>
            <a:ext cx="9525" cy="904875"/>
          </a:xfrm>
          <a:prstGeom prst="rect">
            <a:avLst/>
          </a:prstGeom>
          <a:solidFill>
            <a:srgbClr val="2A3450"/>
          </a:solidFill>
          <a:ln/>
        </p:spPr>
      </p:sp>
      <p:sp>
        <p:nvSpPr>
          <p:cNvPr id="38" name="Text 36"/>
          <p:cNvSpPr/>
          <p:nvPr/>
        </p:nvSpPr>
        <p:spPr>
          <a:xfrm>
            <a:off x="3124438" y="3552676"/>
            <a:ext cx="4561999"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ECEEF2"/>
                </a:solidFill>
                <a:latin typeface="Arial" pitchFamily="34" charset="0"/>
                <a:ea typeface="Arial" pitchFamily="34" charset="-122"/>
                <a:cs typeface="Arial" pitchFamily="34" charset="-120"/>
              </a:rPr>
              <a:t>35%</a:t>
            </a:r>
            <a:endParaRPr lang="en-US" sz="2400" dirty="0"/>
          </a:p>
        </p:txBody>
      </p:sp>
      <p:sp>
        <p:nvSpPr>
          <p:cNvPr id="39" name="Text 37"/>
          <p:cNvSpPr/>
          <p:nvPr/>
        </p:nvSpPr>
        <p:spPr>
          <a:xfrm>
            <a:off x="3124438" y="3914626"/>
            <a:ext cx="4561999"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TIER 1 · EXEC PERSONALIZATION</a:t>
            </a:r>
            <a:endParaRPr lang="en-US" sz="825" dirty="0"/>
          </a:p>
        </p:txBody>
      </p:sp>
      <p:sp>
        <p:nvSpPr>
          <p:cNvPr id="40" name="Shape 38"/>
          <p:cNvSpPr/>
          <p:nvPr/>
        </p:nvSpPr>
        <p:spPr>
          <a:xfrm>
            <a:off x="7800975" y="3343126"/>
            <a:ext cx="4781550" cy="904875"/>
          </a:xfrm>
          <a:prstGeom prst="rect">
            <a:avLst/>
          </a:prstGeom>
          <a:solidFill>
            <a:srgbClr val="E8B765">
              <a:alpha val="22000"/>
            </a:srgbClr>
          </a:solidFill>
          <a:ln/>
        </p:spPr>
      </p:sp>
      <p:sp>
        <p:nvSpPr>
          <p:cNvPr id="41" name="Shape 39"/>
          <p:cNvSpPr/>
          <p:nvPr/>
        </p:nvSpPr>
        <p:spPr>
          <a:xfrm>
            <a:off x="7800975" y="4238476"/>
            <a:ext cx="4781550" cy="9525"/>
          </a:xfrm>
          <a:prstGeom prst="rect">
            <a:avLst/>
          </a:prstGeom>
          <a:solidFill>
            <a:srgbClr val="2A3450"/>
          </a:solidFill>
          <a:ln/>
        </p:spPr>
      </p:sp>
      <p:sp>
        <p:nvSpPr>
          <p:cNvPr id="42" name="Shape 40"/>
          <p:cNvSpPr/>
          <p:nvPr/>
        </p:nvSpPr>
        <p:spPr>
          <a:xfrm>
            <a:off x="12573000" y="3343126"/>
            <a:ext cx="9525" cy="904875"/>
          </a:xfrm>
          <a:prstGeom prst="rect">
            <a:avLst/>
          </a:prstGeom>
          <a:solidFill>
            <a:srgbClr val="2A3450"/>
          </a:solidFill>
          <a:ln/>
        </p:spPr>
      </p:sp>
      <p:sp>
        <p:nvSpPr>
          <p:cNvPr id="43" name="Text 41"/>
          <p:cNvSpPr/>
          <p:nvPr/>
        </p:nvSpPr>
        <p:spPr>
          <a:xfrm>
            <a:off x="7905988" y="3552676"/>
            <a:ext cx="4561999"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ECEEF2"/>
                </a:solidFill>
                <a:latin typeface="Arial" pitchFamily="34" charset="0"/>
                <a:ea typeface="Arial" pitchFamily="34" charset="-122"/>
                <a:cs typeface="Arial" pitchFamily="34" charset="-120"/>
              </a:rPr>
              <a:t>28%</a:t>
            </a:r>
            <a:endParaRPr lang="en-US" sz="2400" dirty="0"/>
          </a:p>
        </p:txBody>
      </p:sp>
      <p:sp>
        <p:nvSpPr>
          <p:cNvPr id="44" name="Text 42"/>
          <p:cNvSpPr/>
          <p:nvPr/>
        </p:nvSpPr>
        <p:spPr>
          <a:xfrm>
            <a:off x="7905988" y="3914626"/>
            <a:ext cx="4561999"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TIER 2 · STANDARD ABM</a:t>
            </a:r>
            <a:endParaRPr lang="en-US" sz="825" dirty="0"/>
          </a:p>
        </p:txBody>
      </p:sp>
      <p:sp>
        <p:nvSpPr>
          <p:cNvPr id="45" name="Shape 43"/>
          <p:cNvSpPr/>
          <p:nvPr/>
        </p:nvSpPr>
        <p:spPr>
          <a:xfrm>
            <a:off x="12582525" y="3343126"/>
            <a:ext cx="4781550" cy="904875"/>
          </a:xfrm>
          <a:prstGeom prst="rect">
            <a:avLst/>
          </a:prstGeom>
          <a:solidFill>
            <a:srgbClr val="D58A8A">
              <a:alpha val="20000"/>
            </a:srgbClr>
          </a:solidFill>
          <a:ln/>
        </p:spPr>
      </p:sp>
      <p:sp>
        <p:nvSpPr>
          <p:cNvPr id="46" name="Shape 44"/>
          <p:cNvSpPr/>
          <p:nvPr/>
        </p:nvSpPr>
        <p:spPr>
          <a:xfrm>
            <a:off x="12582525" y="4238476"/>
            <a:ext cx="4781550" cy="9525"/>
          </a:xfrm>
          <a:prstGeom prst="rect">
            <a:avLst/>
          </a:prstGeom>
          <a:solidFill>
            <a:srgbClr val="2A3450"/>
          </a:solidFill>
          <a:ln/>
        </p:spPr>
      </p:sp>
      <p:sp>
        <p:nvSpPr>
          <p:cNvPr id="47" name="Text 45"/>
          <p:cNvSpPr/>
          <p:nvPr/>
        </p:nvSpPr>
        <p:spPr>
          <a:xfrm>
            <a:off x="12687395" y="3552676"/>
            <a:ext cx="4571810"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7C8493"/>
                </a:solidFill>
                <a:latin typeface="Arial" pitchFamily="34" charset="0"/>
                <a:ea typeface="Arial" pitchFamily="34" charset="-122"/>
                <a:cs typeface="Arial" pitchFamily="34" charset="-120"/>
              </a:rPr>
              <a:t>19%</a:t>
            </a:r>
            <a:endParaRPr lang="en-US" sz="2400" dirty="0"/>
          </a:p>
        </p:txBody>
      </p:sp>
      <p:sp>
        <p:nvSpPr>
          <p:cNvPr id="48" name="Text 46"/>
          <p:cNvSpPr/>
          <p:nvPr/>
        </p:nvSpPr>
        <p:spPr>
          <a:xfrm>
            <a:off x="12687395" y="3914626"/>
            <a:ext cx="4571810"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EXCLUDE</a:t>
            </a:r>
            <a:endParaRPr lang="en-US" sz="825" dirty="0"/>
          </a:p>
        </p:txBody>
      </p:sp>
      <p:sp>
        <p:nvSpPr>
          <p:cNvPr id="49" name="Shape 47"/>
          <p:cNvSpPr/>
          <p:nvPr/>
        </p:nvSpPr>
        <p:spPr>
          <a:xfrm>
            <a:off x="923925" y="4248001"/>
            <a:ext cx="2095500" cy="904875"/>
          </a:xfrm>
          <a:prstGeom prst="rect">
            <a:avLst/>
          </a:prstGeom>
          <a:solidFill>
            <a:srgbClr val="111729"/>
          </a:solidFill>
          <a:ln/>
        </p:spPr>
      </p:sp>
      <p:sp>
        <p:nvSpPr>
          <p:cNvPr id="50" name="Shape 48"/>
          <p:cNvSpPr/>
          <p:nvPr/>
        </p:nvSpPr>
        <p:spPr>
          <a:xfrm>
            <a:off x="923925" y="5143351"/>
            <a:ext cx="2095500" cy="9525"/>
          </a:xfrm>
          <a:prstGeom prst="rect">
            <a:avLst/>
          </a:prstGeom>
          <a:solidFill>
            <a:srgbClr val="2A3450"/>
          </a:solidFill>
          <a:ln/>
        </p:spPr>
      </p:sp>
      <p:sp>
        <p:nvSpPr>
          <p:cNvPr id="51" name="Shape 49"/>
          <p:cNvSpPr/>
          <p:nvPr/>
        </p:nvSpPr>
        <p:spPr>
          <a:xfrm>
            <a:off x="3009900" y="4248001"/>
            <a:ext cx="9525" cy="904875"/>
          </a:xfrm>
          <a:prstGeom prst="rect">
            <a:avLst/>
          </a:prstGeom>
          <a:solidFill>
            <a:srgbClr val="2A3450"/>
          </a:solidFill>
          <a:ln/>
        </p:spPr>
      </p:sp>
      <p:sp>
        <p:nvSpPr>
          <p:cNvPr id="52" name="Text 50"/>
          <p:cNvSpPr/>
          <p:nvPr/>
        </p:nvSpPr>
        <p:spPr>
          <a:xfrm>
            <a:off x="1095375" y="4457551"/>
            <a:ext cx="1819275" cy="5143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ECEEF2"/>
                </a:solidFill>
                <a:highlight>
                  <a:srgbClr val="111729"/>
                </a:highlight>
                <a:latin typeface="Arial" pitchFamily="34" charset="0"/>
                <a:ea typeface="Arial" pitchFamily="34" charset="-122"/>
                <a:cs typeface="Arial" pitchFamily="34" charset="-120"/>
              </a:rPr>
              <a:t>COMMERCIAL </a:t>
            </a:r>
            <a:pPr algn="l" indent="0" marL="0">
              <a:buNone/>
            </a:pPr>
            <a:r>
              <a:rPr lang="en-US" sz="1200" spc="54" kern="0" dirty="0">
                <a:solidFill>
                  <a:srgbClr val="7C8493"/>
                </a:solidFill>
                <a:latin typeface="Arial" pitchFamily="34" charset="0"/>
                <a:ea typeface="Arial" pitchFamily="34" charset="-122"/>
                <a:cs typeface="Arial" pitchFamily="34" charset="-120"/>
              </a:rPr>
              <a:t>$8K AVG</a:t>
            </a:r>
            <a:endParaRPr lang="en-US" sz="900" dirty="0"/>
          </a:p>
        </p:txBody>
      </p:sp>
      <p:sp>
        <p:nvSpPr>
          <p:cNvPr id="53" name="Shape 51"/>
          <p:cNvSpPr/>
          <p:nvPr/>
        </p:nvSpPr>
        <p:spPr>
          <a:xfrm>
            <a:off x="3019425" y="4248001"/>
            <a:ext cx="4781550" cy="904875"/>
          </a:xfrm>
          <a:prstGeom prst="rect">
            <a:avLst/>
          </a:prstGeom>
          <a:solidFill>
            <a:srgbClr val="E8B765">
              <a:alpha val="55000"/>
            </a:srgbClr>
          </a:solidFill>
          <a:ln/>
        </p:spPr>
      </p:sp>
      <p:sp>
        <p:nvSpPr>
          <p:cNvPr id="54" name="Shape 52"/>
          <p:cNvSpPr/>
          <p:nvPr/>
        </p:nvSpPr>
        <p:spPr>
          <a:xfrm>
            <a:off x="3019425" y="5143351"/>
            <a:ext cx="4781550" cy="9525"/>
          </a:xfrm>
          <a:prstGeom prst="rect">
            <a:avLst/>
          </a:prstGeom>
          <a:solidFill>
            <a:srgbClr val="2A3450"/>
          </a:solidFill>
          <a:ln/>
        </p:spPr>
      </p:sp>
      <p:sp>
        <p:nvSpPr>
          <p:cNvPr id="55" name="Shape 53"/>
          <p:cNvSpPr/>
          <p:nvPr/>
        </p:nvSpPr>
        <p:spPr>
          <a:xfrm>
            <a:off x="7791450" y="4248001"/>
            <a:ext cx="9525" cy="904875"/>
          </a:xfrm>
          <a:prstGeom prst="rect">
            <a:avLst/>
          </a:prstGeom>
          <a:solidFill>
            <a:srgbClr val="2A3450"/>
          </a:solidFill>
          <a:ln/>
        </p:spPr>
      </p:sp>
      <p:sp>
        <p:nvSpPr>
          <p:cNvPr id="56" name="Text 54"/>
          <p:cNvSpPr/>
          <p:nvPr/>
        </p:nvSpPr>
        <p:spPr>
          <a:xfrm>
            <a:off x="3124438" y="4457551"/>
            <a:ext cx="4561999"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82A6D9"/>
                </a:solidFill>
                <a:latin typeface="Arial" pitchFamily="34" charset="0"/>
                <a:ea typeface="Arial" pitchFamily="34" charset="-122"/>
                <a:cs typeface="Arial" pitchFamily="34" charset="-120"/>
              </a:rPr>
              <a:t>47%</a:t>
            </a:r>
            <a:endParaRPr lang="en-US" sz="2400" dirty="0"/>
          </a:p>
        </p:txBody>
      </p:sp>
      <p:sp>
        <p:nvSpPr>
          <p:cNvPr id="57" name="Text 55"/>
          <p:cNvSpPr/>
          <p:nvPr/>
        </p:nvSpPr>
        <p:spPr>
          <a:xfrm>
            <a:off x="3124438" y="4819501"/>
            <a:ext cx="4561999"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TIER 1 · VOLUME MOTION</a:t>
            </a:r>
            <a:endParaRPr lang="en-US" sz="825" dirty="0"/>
          </a:p>
        </p:txBody>
      </p:sp>
      <p:sp>
        <p:nvSpPr>
          <p:cNvPr id="58" name="Shape 56"/>
          <p:cNvSpPr/>
          <p:nvPr/>
        </p:nvSpPr>
        <p:spPr>
          <a:xfrm>
            <a:off x="7800975" y="4248001"/>
            <a:ext cx="4781550" cy="904875"/>
          </a:xfrm>
          <a:prstGeom prst="rect">
            <a:avLst/>
          </a:prstGeom>
          <a:solidFill>
            <a:srgbClr val="E8B765">
              <a:alpha val="28000"/>
            </a:srgbClr>
          </a:solidFill>
          <a:ln/>
        </p:spPr>
      </p:sp>
      <p:sp>
        <p:nvSpPr>
          <p:cNvPr id="59" name="Shape 57"/>
          <p:cNvSpPr/>
          <p:nvPr/>
        </p:nvSpPr>
        <p:spPr>
          <a:xfrm>
            <a:off x="7800975" y="5143351"/>
            <a:ext cx="4781550" cy="9525"/>
          </a:xfrm>
          <a:prstGeom prst="rect">
            <a:avLst/>
          </a:prstGeom>
          <a:solidFill>
            <a:srgbClr val="2A3450"/>
          </a:solidFill>
          <a:ln/>
        </p:spPr>
      </p:sp>
      <p:sp>
        <p:nvSpPr>
          <p:cNvPr id="60" name="Shape 58"/>
          <p:cNvSpPr/>
          <p:nvPr/>
        </p:nvSpPr>
        <p:spPr>
          <a:xfrm>
            <a:off x="12573000" y="4248001"/>
            <a:ext cx="9525" cy="904875"/>
          </a:xfrm>
          <a:prstGeom prst="rect">
            <a:avLst/>
          </a:prstGeom>
          <a:solidFill>
            <a:srgbClr val="2A3450"/>
          </a:solidFill>
          <a:ln/>
        </p:spPr>
      </p:sp>
      <p:sp>
        <p:nvSpPr>
          <p:cNvPr id="61" name="Text 59"/>
          <p:cNvSpPr/>
          <p:nvPr/>
        </p:nvSpPr>
        <p:spPr>
          <a:xfrm>
            <a:off x="7905988" y="4457551"/>
            <a:ext cx="4561999"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ECEEF2"/>
                </a:solidFill>
                <a:latin typeface="Arial" pitchFamily="34" charset="0"/>
                <a:ea typeface="Arial" pitchFamily="34" charset="-122"/>
                <a:cs typeface="Arial" pitchFamily="34" charset="-120"/>
              </a:rPr>
              <a:t>31%</a:t>
            </a:r>
            <a:endParaRPr lang="en-US" sz="2400" dirty="0"/>
          </a:p>
        </p:txBody>
      </p:sp>
      <p:sp>
        <p:nvSpPr>
          <p:cNvPr id="62" name="Text 60"/>
          <p:cNvSpPr/>
          <p:nvPr/>
        </p:nvSpPr>
        <p:spPr>
          <a:xfrm>
            <a:off x="7905988" y="4819501"/>
            <a:ext cx="4561999"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TIER 2 · STANDARD ABM</a:t>
            </a:r>
            <a:endParaRPr lang="en-US" sz="825" dirty="0"/>
          </a:p>
        </p:txBody>
      </p:sp>
      <p:sp>
        <p:nvSpPr>
          <p:cNvPr id="63" name="Shape 61"/>
          <p:cNvSpPr/>
          <p:nvPr/>
        </p:nvSpPr>
        <p:spPr>
          <a:xfrm>
            <a:off x="12582525" y="4248001"/>
            <a:ext cx="4781550" cy="904875"/>
          </a:xfrm>
          <a:prstGeom prst="rect">
            <a:avLst/>
          </a:prstGeom>
          <a:solidFill>
            <a:srgbClr val="D58A8A">
              <a:alpha val="20000"/>
            </a:srgbClr>
          </a:solidFill>
          <a:ln/>
        </p:spPr>
      </p:sp>
      <p:sp>
        <p:nvSpPr>
          <p:cNvPr id="64" name="Shape 62"/>
          <p:cNvSpPr/>
          <p:nvPr/>
        </p:nvSpPr>
        <p:spPr>
          <a:xfrm>
            <a:off x="12582525" y="5143351"/>
            <a:ext cx="4781550" cy="9525"/>
          </a:xfrm>
          <a:prstGeom prst="rect">
            <a:avLst/>
          </a:prstGeom>
          <a:solidFill>
            <a:srgbClr val="2A3450"/>
          </a:solidFill>
          <a:ln/>
        </p:spPr>
      </p:sp>
      <p:sp>
        <p:nvSpPr>
          <p:cNvPr id="65" name="Text 63"/>
          <p:cNvSpPr/>
          <p:nvPr/>
        </p:nvSpPr>
        <p:spPr>
          <a:xfrm>
            <a:off x="12687395" y="4457551"/>
            <a:ext cx="4571810"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7C8493"/>
                </a:solidFill>
                <a:latin typeface="Arial" pitchFamily="34" charset="0"/>
                <a:ea typeface="Arial" pitchFamily="34" charset="-122"/>
                <a:cs typeface="Arial" pitchFamily="34" charset="-120"/>
              </a:rPr>
              <a:t>22%</a:t>
            </a:r>
            <a:endParaRPr lang="en-US" sz="2400" dirty="0"/>
          </a:p>
        </p:txBody>
      </p:sp>
      <p:sp>
        <p:nvSpPr>
          <p:cNvPr id="66" name="Text 64"/>
          <p:cNvSpPr/>
          <p:nvPr/>
        </p:nvSpPr>
        <p:spPr>
          <a:xfrm>
            <a:off x="12687395" y="4819501"/>
            <a:ext cx="4571810"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EXCLUDE</a:t>
            </a:r>
            <a:endParaRPr lang="en-US" sz="825" dirty="0"/>
          </a:p>
        </p:txBody>
      </p:sp>
      <p:sp>
        <p:nvSpPr>
          <p:cNvPr id="67" name="Shape 65"/>
          <p:cNvSpPr/>
          <p:nvPr/>
        </p:nvSpPr>
        <p:spPr>
          <a:xfrm>
            <a:off x="923925" y="5152876"/>
            <a:ext cx="2095500" cy="904875"/>
          </a:xfrm>
          <a:prstGeom prst="rect">
            <a:avLst/>
          </a:prstGeom>
          <a:solidFill>
            <a:srgbClr val="111729"/>
          </a:solidFill>
          <a:ln/>
        </p:spPr>
      </p:sp>
      <p:sp>
        <p:nvSpPr>
          <p:cNvPr id="68" name="Shape 66"/>
          <p:cNvSpPr/>
          <p:nvPr/>
        </p:nvSpPr>
        <p:spPr>
          <a:xfrm>
            <a:off x="923925" y="6048226"/>
            <a:ext cx="2095500" cy="9525"/>
          </a:xfrm>
          <a:prstGeom prst="rect">
            <a:avLst/>
          </a:prstGeom>
          <a:solidFill>
            <a:srgbClr val="2A3450"/>
          </a:solidFill>
          <a:ln/>
        </p:spPr>
      </p:sp>
      <p:sp>
        <p:nvSpPr>
          <p:cNvPr id="69" name="Shape 67"/>
          <p:cNvSpPr/>
          <p:nvPr/>
        </p:nvSpPr>
        <p:spPr>
          <a:xfrm>
            <a:off x="3009900" y="5152876"/>
            <a:ext cx="9525" cy="904875"/>
          </a:xfrm>
          <a:prstGeom prst="rect">
            <a:avLst/>
          </a:prstGeom>
          <a:solidFill>
            <a:srgbClr val="2A3450"/>
          </a:solidFill>
          <a:ln/>
        </p:spPr>
      </p:sp>
      <p:sp>
        <p:nvSpPr>
          <p:cNvPr id="70" name="Text 68"/>
          <p:cNvSpPr/>
          <p:nvPr/>
        </p:nvSpPr>
        <p:spPr>
          <a:xfrm>
            <a:off x="1095375" y="5362426"/>
            <a:ext cx="1819275" cy="514350"/>
          </a:xfrm>
          <a:prstGeom prst="rect">
            <a:avLst/>
          </a:prstGeom>
          <a:noFill/>
          <a:ln/>
        </p:spPr>
        <p:txBody>
          <a:bodyPr wrap="square" lIns="25400" tIns="25400" rIns="25400" bIns="25400" rtlCol="0" anchor="t">
            <a:normAutofit/>
          </a:bodyPr>
          <a:lstStyle/>
          <a:p>
            <a:pPr algn="l" indent="0" marL="0">
              <a:buNone/>
            </a:pPr>
            <a:r>
              <a:rPr lang="en-US" sz="900" spc="54" kern="0" dirty="0">
                <a:solidFill>
                  <a:srgbClr val="ECEEF2"/>
                </a:solidFill>
                <a:highlight>
                  <a:srgbClr val="111729"/>
                </a:highlight>
                <a:latin typeface="Arial" pitchFamily="34" charset="0"/>
                <a:ea typeface="Arial" pitchFamily="34" charset="-122"/>
                <a:cs typeface="Arial" pitchFamily="34" charset="-120"/>
              </a:rPr>
              <a:t>MID-MARKET </a:t>
            </a:r>
            <a:pPr algn="l" indent="0" marL="0">
              <a:buNone/>
            </a:pPr>
            <a:r>
              <a:rPr lang="en-US" sz="1200" spc="54" kern="0" dirty="0">
                <a:solidFill>
                  <a:srgbClr val="7C8493"/>
                </a:solidFill>
                <a:latin typeface="Arial" pitchFamily="34" charset="0"/>
                <a:ea typeface="Arial" pitchFamily="34" charset="-122"/>
                <a:cs typeface="Arial" pitchFamily="34" charset="-120"/>
              </a:rPr>
              <a:t>$4K AVG</a:t>
            </a:r>
            <a:endParaRPr lang="en-US" sz="900" dirty="0"/>
          </a:p>
        </p:txBody>
      </p:sp>
      <p:sp>
        <p:nvSpPr>
          <p:cNvPr id="71" name="Shape 69"/>
          <p:cNvSpPr/>
          <p:nvPr/>
        </p:nvSpPr>
        <p:spPr>
          <a:xfrm>
            <a:off x="3019425" y="5152876"/>
            <a:ext cx="4781550" cy="904875"/>
          </a:xfrm>
          <a:prstGeom prst="rect">
            <a:avLst/>
          </a:prstGeom>
          <a:solidFill>
            <a:srgbClr val="E8B765">
              <a:alpha val="34000"/>
            </a:srgbClr>
          </a:solidFill>
          <a:ln/>
        </p:spPr>
      </p:sp>
      <p:sp>
        <p:nvSpPr>
          <p:cNvPr id="72" name="Shape 70"/>
          <p:cNvSpPr/>
          <p:nvPr/>
        </p:nvSpPr>
        <p:spPr>
          <a:xfrm>
            <a:off x="3019425" y="6048226"/>
            <a:ext cx="4781550" cy="9525"/>
          </a:xfrm>
          <a:prstGeom prst="rect">
            <a:avLst/>
          </a:prstGeom>
          <a:solidFill>
            <a:srgbClr val="2A3450"/>
          </a:solidFill>
          <a:ln/>
        </p:spPr>
      </p:sp>
      <p:sp>
        <p:nvSpPr>
          <p:cNvPr id="73" name="Shape 71"/>
          <p:cNvSpPr/>
          <p:nvPr/>
        </p:nvSpPr>
        <p:spPr>
          <a:xfrm>
            <a:off x="7791450" y="5152876"/>
            <a:ext cx="9525" cy="904875"/>
          </a:xfrm>
          <a:prstGeom prst="rect">
            <a:avLst/>
          </a:prstGeom>
          <a:solidFill>
            <a:srgbClr val="2A3450"/>
          </a:solidFill>
          <a:ln/>
        </p:spPr>
      </p:sp>
      <p:sp>
        <p:nvSpPr>
          <p:cNvPr id="74" name="Text 72"/>
          <p:cNvSpPr/>
          <p:nvPr/>
        </p:nvSpPr>
        <p:spPr>
          <a:xfrm>
            <a:off x="3124438" y="5362426"/>
            <a:ext cx="4561999"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ECEEF2"/>
                </a:solidFill>
                <a:latin typeface="Arial" pitchFamily="34" charset="0"/>
                <a:ea typeface="Arial" pitchFamily="34" charset="-122"/>
                <a:cs typeface="Arial" pitchFamily="34" charset="-120"/>
              </a:rPr>
              <a:t>38%</a:t>
            </a:r>
            <a:endParaRPr lang="en-US" sz="2400" dirty="0"/>
          </a:p>
        </p:txBody>
      </p:sp>
      <p:sp>
        <p:nvSpPr>
          <p:cNvPr id="75" name="Text 73"/>
          <p:cNvSpPr/>
          <p:nvPr/>
        </p:nvSpPr>
        <p:spPr>
          <a:xfrm>
            <a:off x="3124438" y="5724376"/>
            <a:ext cx="4561999"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TIER 2 · SELF-SERVE NURTURE</a:t>
            </a:r>
            <a:endParaRPr lang="en-US" sz="825" dirty="0"/>
          </a:p>
        </p:txBody>
      </p:sp>
      <p:sp>
        <p:nvSpPr>
          <p:cNvPr id="76" name="Shape 74"/>
          <p:cNvSpPr/>
          <p:nvPr/>
        </p:nvSpPr>
        <p:spPr>
          <a:xfrm>
            <a:off x="7800975" y="5152876"/>
            <a:ext cx="4781550" cy="904875"/>
          </a:xfrm>
          <a:prstGeom prst="rect">
            <a:avLst/>
          </a:prstGeom>
          <a:solidFill>
            <a:srgbClr val="E8B765">
              <a:alpha val="18000"/>
            </a:srgbClr>
          </a:solidFill>
          <a:ln/>
        </p:spPr>
      </p:sp>
      <p:sp>
        <p:nvSpPr>
          <p:cNvPr id="77" name="Shape 75"/>
          <p:cNvSpPr/>
          <p:nvPr/>
        </p:nvSpPr>
        <p:spPr>
          <a:xfrm>
            <a:off x="7800975" y="6048226"/>
            <a:ext cx="4781550" cy="9525"/>
          </a:xfrm>
          <a:prstGeom prst="rect">
            <a:avLst/>
          </a:prstGeom>
          <a:solidFill>
            <a:srgbClr val="2A3450"/>
          </a:solidFill>
          <a:ln/>
        </p:spPr>
      </p:sp>
      <p:sp>
        <p:nvSpPr>
          <p:cNvPr id="78" name="Shape 76"/>
          <p:cNvSpPr/>
          <p:nvPr/>
        </p:nvSpPr>
        <p:spPr>
          <a:xfrm>
            <a:off x="12573000" y="5152876"/>
            <a:ext cx="9525" cy="904875"/>
          </a:xfrm>
          <a:prstGeom prst="rect">
            <a:avLst/>
          </a:prstGeom>
          <a:solidFill>
            <a:srgbClr val="2A3450"/>
          </a:solidFill>
          <a:ln/>
        </p:spPr>
      </p:sp>
      <p:sp>
        <p:nvSpPr>
          <p:cNvPr id="79" name="Text 77"/>
          <p:cNvSpPr/>
          <p:nvPr/>
        </p:nvSpPr>
        <p:spPr>
          <a:xfrm>
            <a:off x="7905988" y="5362426"/>
            <a:ext cx="4561999"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ECEEF2"/>
                </a:solidFill>
                <a:latin typeface="Arial" pitchFamily="34" charset="0"/>
                <a:ea typeface="Arial" pitchFamily="34" charset="-122"/>
                <a:cs typeface="Arial" pitchFamily="34" charset="-120"/>
              </a:rPr>
              <a:t>24%</a:t>
            </a:r>
            <a:endParaRPr lang="en-US" sz="2400" dirty="0"/>
          </a:p>
        </p:txBody>
      </p:sp>
      <p:sp>
        <p:nvSpPr>
          <p:cNvPr id="80" name="Text 78"/>
          <p:cNvSpPr/>
          <p:nvPr/>
        </p:nvSpPr>
        <p:spPr>
          <a:xfrm>
            <a:off x="7905988" y="5724376"/>
            <a:ext cx="4561999"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EMAIL-LED</a:t>
            </a:r>
            <a:endParaRPr lang="en-US" sz="825" dirty="0"/>
          </a:p>
        </p:txBody>
      </p:sp>
      <p:sp>
        <p:nvSpPr>
          <p:cNvPr id="81" name="Shape 79"/>
          <p:cNvSpPr/>
          <p:nvPr/>
        </p:nvSpPr>
        <p:spPr>
          <a:xfrm>
            <a:off x="12582525" y="5152876"/>
            <a:ext cx="4781550" cy="904875"/>
          </a:xfrm>
          <a:prstGeom prst="rect">
            <a:avLst/>
          </a:prstGeom>
          <a:solidFill>
            <a:srgbClr val="D58A8A">
              <a:alpha val="16000"/>
            </a:srgbClr>
          </a:solidFill>
          <a:ln/>
        </p:spPr>
      </p:sp>
      <p:sp>
        <p:nvSpPr>
          <p:cNvPr id="82" name="Shape 80"/>
          <p:cNvSpPr/>
          <p:nvPr/>
        </p:nvSpPr>
        <p:spPr>
          <a:xfrm>
            <a:off x="12582525" y="6048226"/>
            <a:ext cx="4781550" cy="9525"/>
          </a:xfrm>
          <a:prstGeom prst="rect">
            <a:avLst/>
          </a:prstGeom>
          <a:solidFill>
            <a:srgbClr val="2A3450"/>
          </a:solidFill>
          <a:ln/>
        </p:spPr>
      </p:sp>
      <p:sp>
        <p:nvSpPr>
          <p:cNvPr id="83" name="Text 81"/>
          <p:cNvSpPr/>
          <p:nvPr/>
        </p:nvSpPr>
        <p:spPr>
          <a:xfrm>
            <a:off x="12687395" y="5362426"/>
            <a:ext cx="4571810" cy="342900"/>
          </a:xfrm>
          <a:prstGeom prst="rect">
            <a:avLst/>
          </a:prstGeom>
          <a:noFill/>
          <a:ln/>
        </p:spPr>
        <p:txBody>
          <a:bodyPr wrap="square" lIns="25400" tIns="25400" rIns="25400" bIns="25400" rtlCol="0" anchor="t">
            <a:normAutofit/>
          </a:bodyPr>
          <a:lstStyle/>
          <a:p>
            <a:pPr algn="ctr" indent="0" marL="0">
              <a:buNone/>
            </a:pPr>
            <a:r>
              <a:rPr lang="en-US" sz="2400" spc="-48" kern="0" dirty="0">
                <a:solidFill>
                  <a:srgbClr val="7C8493"/>
                </a:solidFill>
                <a:latin typeface="Arial" pitchFamily="34" charset="0"/>
                <a:ea typeface="Arial" pitchFamily="34" charset="-122"/>
                <a:cs typeface="Arial" pitchFamily="34" charset="-120"/>
              </a:rPr>
              <a:t>15%</a:t>
            </a:r>
            <a:endParaRPr lang="en-US" sz="2400" dirty="0"/>
          </a:p>
        </p:txBody>
      </p:sp>
      <p:sp>
        <p:nvSpPr>
          <p:cNvPr id="84" name="Text 82"/>
          <p:cNvSpPr/>
          <p:nvPr/>
        </p:nvSpPr>
        <p:spPr>
          <a:xfrm>
            <a:off x="12687395" y="5724376"/>
            <a:ext cx="4571810" cy="152400"/>
          </a:xfrm>
          <a:prstGeom prst="rect">
            <a:avLst/>
          </a:prstGeom>
          <a:noFill/>
          <a:ln/>
        </p:spPr>
        <p:txBody>
          <a:bodyPr wrap="square" lIns="25400" tIns="25400" rIns="25400" bIns="25400" rtlCol="0" anchor="t">
            <a:normAutofit/>
          </a:bodyPr>
          <a:lstStyle/>
          <a:p>
            <a:pPr algn="ctr" indent="0" marL="0">
              <a:buNone/>
            </a:pPr>
            <a:r>
              <a:rPr lang="en-US" sz="825" spc="99" kern="0" dirty="0">
                <a:solidFill>
                  <a:srgbClr val="7C8493"/>
                </a:solidFill>
                <a:latin typeface="Arial" pitchFamily="34" charset="0"/>
                <a:ea typeface="Arial" pitchFamily="34" charset="-122"/>
                <a:cs typeface="Arial" pitchFamily="34" charset="-120"/>
              </a:rPr>
              <a:t>EXCLUDE</a:t>
            </a:r>
            <a:endParaRPr lang="en-US" sz="825" dirty="0"/>
          </a:p>
        </p:txBody>
      </p:sp>
      <p:sp>
        <p:nvSpPr>
          <p:cNvPr id="85" name="Shape 83"/>
          <p:cNvSpPr/>
          <p:nvPr/>
        </p:nvSpPr>
        <p:spPr>
          <a:xfrm>
            <a:off x="914400" y="6276826"/>
            <a:ext cx="16459200" cy="9525"/>
          </a:xfrm>
          <a:prstGeom prst="rect">
            <a:avLst/>
          </a:prstGeom>
          <a:solidFill>
            <a:srgbClr val="2A3450"/>
          </a:solidFill>
          <a:ln/>
        </p:spPr>
      </p:sp>
      <p:sp>
        <p:nvSpPr>
          <p:cNvPr id="86" name="Text 84"/>
          <p:cNvSpPr/>
          <p:nvPr/>
        </p:nvSpPr>
        <p:spPr>
          <a:xfrm>
            <a:off x="914400" y="6495901"/>
            <a:ext cx="2171700" cy="645616"/>
          </a:xfrm>
          <a:prstGeom prst="rect">
            <a:avLst/>
          </a:prstGeom>
          <a:noFill/>
          <a:ln/>
        </p:spPr>
        <p:txBody>
          <a:bodyPr wrap="square" lIns="25400" tIns="25400" rIns="25400" bIns="25400" rtlCol="0" anchor="t">
            <a:normAutofit/>
          </a:bodyPr>
          <a:lstStyle/>
          <a:p>
            <a:pPr algn="l" indent="0" marL="0">
              <a:buNone/>
            </a:pPr>
            <a:r>
              <a:rPr lang="en-US" sz="900" spc="198" kern="0" dirty="0">
                <a:solidFill>
                  <a:srgbClr val="82A6D9"/>
                </a:solidFill>
                <a:latin typeface="Arial" pitchFamily="34" charset="0"/>
                <a:ea typeface="Arial" pitchFamily="34" charset="-122"/>
                <a:cs typeface="Arial" pitchFamily="34" charset="-120"/>
              </a:rPr>
              <a:t>ACTION</a:t>
            </a:r>
            <a:endParaRPr lang="en-US" sz="900" dirty="0"/>
          </a:p>
        </p:txBody>
      </p:sp>
      <p:sp>
        <p:nvSpPr>
          <p:cNvPr id="87" name="Text 85"/>
          <p:cNvSpPr/>
          <p:nvPr/>
        </p:nvSpPr>
        <p:spPr>
          <a:xfrm>
            <a:off x="3352800" y="6495901"/>
            <a:ext cx="14441424"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Filter 6sense audience lists to </a:t>
            </a:r>
            <a:pPr algn="l" indent="0" marL="0">
              <a:lnSpc>
                <a:spcPct val="145000"/>
              </a:lnSpc>
              <a:buNone/>
            </a:pPr>
            <a:r>
              <a:rPr lang="en-US" sz="1650" spc="-8" kern="0" dirty="0">
                <a:solidFill>
                  <a:srgbClr val="82A6D9"/>
                </a:solidFill>
                <a:latin typeface="Arial" pitchFamily="34" charset="0"/>
                <a:ea typeface="Arial" pitchFamily="34" charset="-122"/>
                <a:cs typeface="Arial" pitchFamily="34" charset="-120"/>
              </a:rPr>
              <a:t>Strong + Moderate Fit only </a:t>
            </a:r>
            <a:pPr algn="l" indent="0" marL="0">
              <a:lnSpc>
                <a:spcPct val="145000"/>
              </a:lnSpc>
              <a:buNone/>
            </a:pPr>
            <a:r>
              <a:rPr lang="en-US" sz="1650" spc="-8" kern="0" dirty="0">
                <a:solidFill>
                  <a:srgbClr val="ECEEF2"/>
                </a:solidFill>
                <a:latin typeface="Arial" pitchFamily="34" charset="0"/>
                <a:ea typeface="Arial" pitchFamily="34" charset="-122"/>
                <a:cs typeface="Arial" pitchFamily="34" charset="-120"/>
              </a:rPr>
              <a:t>for Tier-1 campaigns. Combine with buying-stage filter (Decision-stage accounts) for a 3-factor priority signal.</a:t>
            </a:r>
            <a:endParaRPr lang="en-US" sz="1650" dirty="0"/>
          </a:p>
        </p:txBody>
      </p:sp>
      <p:sp>
        <p:nvSpPr>
          <p:cNvPr id="88" name="Text 86"/>
          <p:cNvSpPr/>
          <p:nvPr/>
        </p:nvSpPr>
        <p:spPr>
          <a:xfrm>
            <a:off x="762000" y="9791700"/>
            <a:ext cx="1421606"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20 / PRIORITY</a:t>
            </a:r>
            <a:endParaRPr lang="en-US" sz="900" dirty="0"/>
          </a:p>
        </p:txBody>
      </p:sp>
      <p:sp>
        <p:nvSpPr>
          <p:cNvPr id="89" name="Text 87"/>
          <p:cNvSpPr/>
          <p:nvPr/>
        </p:nvSpPr>
        <p:spPr>
          <a:xfrm>
            <a:off x="15300871" y="9791700"/>
            <a:ext cx="2301329"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WIN RATE · BASE: 3,288 DEALS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C"/>
        </a:solidFill>
      </p:bgPr>
    </p:bg>
    <p:spTree>
      <p:nvGrpSpPr>
        <p:cNvPr id="1" name=""/>
        <p:cNvGrpSpPr/>
        <p:nvPr/>
      </p:nvGrpSpPr>
      <p:grpSpPr>
        <a:xfrm>
          <a:off x="0" y="0"/>
          <a:ext cx="0" cy="0"/>
          <a:chOff x="0" y="0"/>
          <a:chExt cx="0" cy="0"/>
        </a:xfrm>
      </p:grpSpPr>
      <p:sp>
        <p:nvSpPr>
          <p:cNvPr id="2" name="Shape 0"/>
          <p:cNvSpPr/>
          <p:nvPr/>
        </p:nvSpPr>
        <p:spPr>
          <a:xfrm>
            <a:off x="381000" y="342900"/>
            <a:ext cx="228600" cy="9525"/>
          </a:xfrm>
          <a:prstGeom prst="rect">
            <a:avLst/>
          </a:prstGeom>
          <a:solidFill>
            <a:srgbClr val="3A476B"/>
          </a:solidFill>
          <a:ln/>
        </p:spPr>
      </p:sp>
      <p:sp>
        <p:nvSpPr>
          <p:cNvPr id="3" name="Shape 1"/>
          <p:cNvSpPr/>
          <p:nvPr/>
        </p:nvSpPr>
        <p:spPr>
          <a:xfrm>
            <a:off x="381000" y="342900"/>
            <a:ext cx="9525" cy="228600"/>
          </a:xfrm>
          <a:prstGeom prst="rect">
            <a:avLst/>
          </a:prstGeom>
          <a:solidFill>
            <a:srgbClr val="3A476B"/>
          </a:solidFill>
          <a:ln/>
        </p:spPr>
      </p:sp>
      <p:sp>
        <p:nvSpPr>
          <p:cNvPr id="4" name="Shape 2"/>
          <p:cNvSpPr/>
          <p:nvPr/>
        </p:nvSpPr>
        <p:spPr>
          <a:xfrm>
            <a:off x="17678400" y="342900"/>
            <a:ext cx="228600" cy="9525"/>
          </a:xfrm>
          <a:prstGeom prst="rect">
            <a:avLst/>
          </a:prstGeom>
          <a:solidFill>
            <a:srgbClr val="3A476B"/>
          </a:solidFill>
          <a:ln/>
        </p:spPr>
      </p:sp>
      <p:sp>
        <p:nvSpPr>
          <p:cNvPr id="5" name="Shape 3"/>
          <p:cNvSpPr/>
          <p:nvPr/>
        </p:nvSpPr>
        <p:spPr>
          <a:xfrm>
            <a:off x="17897475" y="342900"/>
            <a:ext cx="9525" cy="228600"/>
          </a:xfrm>
          <a:prstGeom prst="rect">
            <a:avLst/>
          </a:prstGeom>
          <a:solidFill>
            <a:srgbClr val="3A476B"/>
          </a:solidFill>
          <a:ln/>
        </p:spPr>
      </p:sp>
      <p:sp>
        <p:nvSpPr>
          <p:cNvPr id="6" name="Shape 4"/>
          <p:cNvSpPr/>
          <p:nvPr/>
        </p:nvSpPr>
        <p:spPr>
          <a:xfrm>
            <a:off x="381000" y="9934575"/>
            <a:ext cx="228600" cy="9525"/>
          </a:xfrm>
          <a:prstGeom prst="rect">
            <a:avLst/>
          </a:prstGeom>
          <a:solidFill>
            <a:srgbClr val="3A476B"/>
          </a:solidFill>
          <a:ln/>
        </p:spPr>
      </p:sp>
      <p:sp>
        <p:nvSpPr>
          <p:cNvPr id="7" name="Shape 5"/>
          <p:cNvSpPr/>
          <p:nvPr/>
        </p:nvSpPr>
        <p:spPr>
          <a:xfrm>
            <a:off x="381000" y="9715500"/>
            <a:ext cx="9525" cy="228600"/>
          </a:xfrm>
          <a:prstGeom prst="rect">
            <a:avLst/>
          </a:prstGeom>
          <a:solidFill>
            <a:srgbClr val="3A476B"/>
          </a:solidFill>
          <a:ln/>
        </p:spPr>
      </p:sp>
      <p:sp>
        <p:nvSpPr>
          <p:cNvPr id="8" name="Shape 6"/>
          <p:cNvSpPr/>
          <p:nvPr/>
        </p:nvSpPr>
        <p:spPr>
          <a:xfrm>
            <a:off x="17678400" y="9934575"/>
            <a:ext cx="228600" cy="9525"/>
          </a:xfrm>
          <a:prstGeom prst="rect">
            <a:avLst/>
          </a:prstGeom>
          <a:solidFill>
            <a:srgbClr val="3A476B"/>
          </a:solidFill>
          <a:ln/>
        </p:spPr>
      </p:sp>
      <p:sp>
        <p:nvSpPr>
          <p:cNvPr id="9" name="Shape 7"/>
          <p:cNvSpPr/>
          <p:nvPr/>
        </p:nvSpPr>
        <p:spPr>
          <a:xfrm>
            <a:off x="17897475" y="9715500"/>
            <a:ext cx="9525" cy="228600"/>
          </a:xfrm>
          <a:prstGeom prst="rect">
            <a:avLst/>
          </a:prstGeom>
          <a:solidFill>
            <a:srgbClr val="3A476B"/>
          </a:solidFill>
          <a:ln/>
        </p:spPr>
      </p:sp>
      <p:sp>
        <p:nvSpPr>
          <p:cNvPr id="10" name="Text 8"/>
          <p:cNvSpPr/>
          <p:nvPr/>
        </p:nvSpPr>
        <p:spPr>
          <a:xfrm>
            <a:off x="762000" y="361950"/>
            <a:ext cx="1779091"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7C8493"/>
                </a:solidFill>
                <a:latin typeface="Arial" pitchFamily="34" charset="0"/>
                <a:ea typeface="Arial" pitchFamily="34" charset="-122"/>
                <a:cs typeface="Arial" pitchFamily="34" charset="-120"/>
              </a:rPr>
              <a:t>21 / 21 · NEXT STEPS</a:t>
            </a:r>
            <a:endParaRPr lang="en-US" sz="975" dirty="0"/>
          </a:p>
        </p:txBody>
      </p:sp>
      <p:sp>
        <p:nvSpPr>
          <p:cNvPr id="11" name="Text 9"/>
          <p:cNvSpPr/>
          <p:nvPr/>
        </p:nvSpPr>
        <p:spPr>
          <a:xfrm>
            <a:off x="16601331" y="361950"/>
            <a:ext cx="1000869"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55C6B"/>
                </a:solidFill>
                <a:latin typeface="Arial" pitchFamily="34" charset="0"/>
                <a:ea typeface="Arial" pitchFamily="34" charset="-122"/>
                <a:cs typeface="Arial" pitchFamily="34" charset="-120"/>
              </a:rPr>
              <a:t>SECTION VI</a:t>
            </a:r>
            <a:endParaRPr lang="en-US" sz="975" dirty="0"/>
          </a:p>
        </p:txBody>
      </p:sp>
      <p:sp>
        <p:nvSpPr>
          <p:cNvPr id="12" name="Text 10"/>
          <p:cNvSpPr/>
          <p:nvPr/>
        </p:nvSpPr>
        <p:spPr>
          <a:xfrm>
            <a:off x="914400" y="800100"/>
            <a:ext cx="303758"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555C6B"/>
                </a:solidFill>
                <a:latin typeface="Arial" pitchFamily="34" charset="0"/>
                <a:ea typeface="Arial" pitchFamily="34" charset="-122"/>
                <a:cs typeface="Arial" pitchFamily="34" charset="-120"/>
              </a:rPr>
              <a:t>21</a:t>
            </a:r>
            <a:endParaRPr lang="en-US" sz="1125" dirty="0"/>
          </a:p>
        </p:txBody>
      </p:sp>
      <p:sp>
        <p:nvSpPr>
          <p:cNvPr id="13" name="Text 11"/>
          <p:cNvSpPr/>
          <p:nvPr/>
        </p:nvSpPr>
        <p:spPr>
          <a:xfrm>
            <a:off x="1275308" y="800100"/>
            <a:ext cx="1461641" cy="200025"/>
          </a:xfrm>
          <a:prstGeom prst="rect">
            <a:avLst/>
          </a:prstGeom>
          <a:noFill/>
          <a:ln/>
        </p:spPr>
        <p:txBody>
          <a:bodyPr wrap="square" lIns="25400" tIns="25400" rIns="25400" bIns="25400" rtlCol="0" anchor="t">
            <a:normAutofit/>
          </a:bodyPr>
          <a:lstStyle/>
          <a:p>
            <a:pPr algn="l" indent="0" marL="0">
              <a:buNone/>
            </a:pPr>
            <a:r>
              <a:rPr lang="en-US" sz="1125" spc="270" kern="0" dirty="0">
                <a:solidFill>
                  <a:srgbClr val="82A6D9"/>
                </a:solidFill>
                <a:latin typeface="Arial" pitchFamily="34" charset="0"/>
                <a:ea typeface="Arial" pitchFamily="34" charset="-122"/>
                <a:cs typeface="Arial" pitchFamily="34" charset="-120"/>
              </a:rPr>
              <a:t>· NEXT STEPS</a:t>
            </a:r>
            <a:endParaRPr lang="en-US" sz="1125" dirty="0"/>
          </a:p>
        </p:txBody>
      </p:sp>
      <p:sp>
        <p:nvSpPr>
          <p:cNvPr id="14" name="Text 12"/>
          <p:cNvSpPr/>
          <p:nvPr/>
        </p:nvSpPr>
        <p:spPr>
          <a:xfrm>
            <a:off x="914400" y="1171575"/>
            <a:ext cx="16952976" cy="790873"/>
          </a:xfrm>
          <a:prstGeom prst="rect">
            <a:avLst/>
          </a:prstGeom>
          <a:noFill/>
          <a:ln/>
        </p:spPr>
        <p:txBody>
          <a:bodyPr wrap="square" lIns="25400" tIns="25400" rIns="25400" bIns="25400" rtlCol="0" anchor="t">
            <a:normAutofit/>
          </a:bodyPr>
          <a:lstStyle/>
          <a:p>
            <a:pPr algn="l" indent="0" marL="0">
              <a:lnSpc>
                <a:spcPct val="104000"/>
              </a:lnSpc>
              <a:buNone/>
            </a:pPr>
            <a:r>
              <a:rPr lang="en-US" sz="5700" spc="-114" kern="0" dirty="0">
                <a:solidFill>
                  <a:srgbClr val="ECEEF2"/>
                </a:solidFill>
                <a:latin typeface="Arial" pitchFamily="34" charset="0"/>
                <a:ea typeface="Arial" pitchFamily="34" charset="-122"/>
                <a:cs typeface="Arial" pitchFamily="34" charset="-120"/>
              </a:rPr>
              <a:t>Prioritized actions — 30 days, 90 days, ongoing.</a:t>
            </a:r>
            <a:endParaRPr lang="en-US" sz="5700" dirty="0"/>
          </a:p>
        </p:txBody>
      </p:sp>
      <p:sp>
        <p:nvSpPr>
          <p:cNvPr id="15" name="Shape 13"/>
          <p:cNvSpPr/>
          <p:nvPr/>
        </p:nvSpPr>
        <p:spPr>
          <a:xfrm>
            <a:off x="914400" y="4840784"/>
            <a:ext cx="16459200" cy="9525"/>
          </a:xfrm>
          <a:prstGeom prst="rect">
            <a:avLst/>
          </a:prstGeom>
          <a:solidFill>
            <a:srgbClr val="2A3450"/>
          </a:solidFill>
          <a:ln/>
        </p:spPr>
      </p:sp>
      <p:sp>
        <p:nvSpPr>
          <p:cNvPr id="16" name="Shape 14"/>
          <p:cNvSpPr/>
          <p:nvPr/>
        </p:nvSpPr>
        <p:spPr>
          <a:xfrm>
            <a:off x="914400" y="2324398"/>
            <a:ext cx="16459200" cy="9525"/>
          </a:xfrm>
          <a:prstGeom prst="rect">
            <a:avLst/>
          </a:prstGeom>
          <a:solidFill>
            <a:srgbClr val="2A3450"/>
          </a:solidFill>
          <a:ln/>
        </p:spPr>
      </p:sp>
      <p:sp>
        <p:nvSpPr>
          <p:cNvPr id="17" name="Shape 15"/>
          <p:cNvSpPr/>
          <p:nvPr/>
        </p:nvSpPr>
        <p:spPr>
          <a:xfrm>
            <a:off x="6391275" y="2333923"/>
            <a:ext cx="9525" cy="2506861"/>
          </a:xfrm>
          <a:prstGeom prst="rect">
            <a:avLst/>
          </a:prstGeom>
          <a:solidFill>
            <a:srgbClr val="2A3450"/>
          </a:solidFill>
          <a:ln/>
        </p:spPr>
      </p:sp>
      <p:sp>
        <p:nvSpPr>
          <p:cNvPr id="18" name="Text 16"/>
          <p:cNvSpPr/>
          <p:nvPr/>
        </p:nvSpPr>
        <p:spPr>
          <a:xfrm>
            <a:off x="914400" y="2524423"/>
            <a:ext cx="5405723"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30-DAY QUICK WINS</a:t>
            </a:r>
            <a:endParaRPr lang="en-US" sz="900" dirty="0"/>
          </a:p>
        </p:txBody>
      </p:sp>
      <p:sp>
        <p:nvSpPr>
          <p:cNvPr id="19" name="Text 17"/>
          <p:cNvSpPr/>
          <p:nvPr/>
        </p:nvSpPr>
        <p:spPr>
          <a:xfrm>
            <a:off x="914400" y="2753023"/>
            <a:ext cx="5405723" cy="266700"/>
          </a:xfrm>
          <a:prstGeom prst="rect">
            <a:avLst/>
          </a:prstGeom>
          <a:noFill/>
          <a:ln/>
        </p:spPr>
        <p:txBody>
          <a:bodyPr wrap="square" lIns="25400" tIns="25400" rIns="25400" bIns="25400" rtlCol="0" anchor="t">
            <a:normAutofit/>
          </a:bodyPr>
          <a:lstStyle/>
          <a:p>
            <a:pPr algn="l" indent="0" marL="0">
              <a:buNone/>
            </a:pPr>
            <a:r>
              <a:rPr lang="en-US" sz="1800" spc="-18" kern="0" dirty="0">
                <a:solidFill>
                  <a:srgbClr val="ECEEF2"/>
                </a:solidFill>
                <a:latin typeface="Arial" pitchFamily="34" charset="0"/>
                <a:ea typeface="Arial" pitchFamily="34" charset="-122"/>
                <a:cs typeface="Arial" pitchFamily="34" charset="-120"/>
              </a:rPr>
              <a:t>Data hygiene &amp; low-risk reallocation.</a:t>
            </a:r>
            <a:endParaRPr lang="en-US" sz="1800" dirty="0"/>
          </a:p>
        </p:txBody>
      </p:sp>
      <p:sp>
        <p:nvSpPr>
          <p:cNvPr id="20" name="Text 18"/>
          <p:cNvSpPr/>
          <p:nvPr/>
        </p:nvSpPr>
        <p:spPr>
          <a:xfrm>
            <a:off x="914400" y="313402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21" name="Text 19"/>
          <p:cNvSpPr/>
          <p:nvPr/>
        </p:nvSpPr>
        <p:spPr>
          <a:xfrm>
            <a:off x="1238250" y="3114973"/>
            <a:ext cx="4493477"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Consistent </a:t>
            </a:r>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UTM taxonomy </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across all channels.</a:t>
            </a:r>
            <a:endParaRPr lang="en-US" sz="1650" dirty="0"/>
          </a:p>
        </p:txBody>
      </p:sp>
      <p:sp>
        <p:nvSpPr>
          <p:cNvPr id="22" name="Text 20"/>
          <p:cNvSpPr/>
          <p:nvPr/>
        </p:nvSpPr>
        <p:spPr>
          <a:xfrm>
            <a:off x="914400" y="354166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23" name="Text 21"/>
          <p:cNvSpPr/>
          <p:nvPr/>
        </p:nvSpPr>
        <p:spPr>
          <a:xfrm>
            <a:off x="1238250" y="3522613"/>
            <a:ext cx="3743108"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A/B test top email subject-line patterns.</a:t>
            </a:r>
            <a:endParaRPr lang="en-US" sz="1650" dirty="0"/>
          </a:p>
        </p:txBody>
      </p:sp>
      <p:sp>
        <p:nvSpPr>
          <p:cNvPr id="24" name="Text 22"/>
          <p:cNvSpPr/>
          <p:nvPr/>
        </p:nvSpPr>
        <p:spPr>
          <a:xfrm>
            <a:off x="914400" y="394930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25" name="Text 23"/>
          <p:cNvSpPr/>
          <p:nvPr/>
        </p:nvSpPr>
        <p:spPr>
          <a:xfrm>
            <a:off x="1238250" y="3930253"/>
            <a:ext cx="4121435"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6sense display +20-30% </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toward Strong Fit.</a:t>
            </a:r>
            <a:endParaRPr lang="en-US" sz="1650" dirty="0"/>
          </a:p>
        </p:txBody>
      </p:sp>
      <p:sp>
        <p:nvSpPr>
          <p:cNvPr id="26" name="Text 24"/>
          <p:cNvSpPr/>
          <p:nvPr/>
        </p:nvSpPr>
        <p:spPr>
          <a:xfrm>
            <a:off x="914400" y="435694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27" name="Text 25"/>
          <p:cNvSpPr/>
          <p:nvPr/>
        </p:nvSpPr>
        <p:spPr>
          <a:xfrm>
            <a:off x="1238250" y="4337893"/>
            <a:ext cx="3112920"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Segment-specific landing pages.</a:t>
            </a:r>
            <a:endParaRPr lang="en-US" sz="1650" dirty="0"/>
          </a:p>
        </p:txBody>
      </p:sp>
      <p:sp>
        <p:nvSpPr>
          <p:cNvPr id="28" name="Shape 26"/>
          <p:cNvSpPr/>
          <p:nvPr/>
        </p:nvSpPr>
        <p:spPr>
          <a:xfrm>
            <a:off x="11877675" y="2333923"/>
            <a:ext cx="9525" cy="2506861"/>
          </a:xfrm>
          <a:prstGeom prst="rect">
            <a:avLst/>
          </a:prstGeom>
          <a:solidFill>
            <a:srgbClr val="2A3450"/>
          </a:solidFill>
          <a:ln/>
        </p:spPr>
      </p:sp>
      <p:sp>
        <p:nvSpPr>
          <p:cNvPr id="29" name="Text 27"/>
          <p:cNvSpPr/>
          <p:nvPr/>
        </p:nvSpPr>
        <p:spPr>
          <a:xfrm>
            <a:off x="6629400" y="2524423"/>
            <a:ext cx="5170265"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90-DAY STRATEGIC</a:t>
            </a:r>
            <a:endParaRPr lang="en-US" sz="900" dirty="0"/>
          </a:p>
        </p:txBody>
      </p:sp>
      <p:sp>
        <p:nvSpPr>
          <p:cNvPr id="30" name="Text 28"/>
          <p:cNvSpPr/>
          <p:nvPr/>
        </p:nvSpPr>
        <p:spPr>
          <a:xfrm>
            <a:off x="6629400" y="2753023"/>
            <a:ext cx="5170265" cy="266700"/>
          </a:xfrm>
          <a:prstGeom prst="rect">
            <a:avLst/>
          </a:prstGeom>
          <a:noFill/>
          <a:ln/>
        </p:spPr>
        <p:txBody>
          <a:bodyPr wrap="square" lIns="25400" tIns="25400" rIns="25400" bIns="25400" rtlCol="0" anchor="t">
            <a:normAutofit/>
          </a:bodyPr>
          <a:lstStyle/>
          <a:p>
            <a:pPr algn="l" indent="0" marL="0">
              <a:buNone/>
            </a:pPr>
            <a:r>
              <a:rPr lang="en-US" sz="1800" spc="-18" kern="0" dirty="0">
                <a:solidFill>
                  <a:srgbClr val="ECEEF2"/>
                </a:solidFill>
                <a:latin typeface="Arial" pitchFamily="34" charset="0"/>
                <a:ea typeface="Arial" pitchFamily="34" charset="-122"/>
                <a:cs typeface="Arial" pitchFamily="34" charset="-120"/>
              </a:rPr>
              <a:t>Bigger bets &amp; infrastructure.</a:t>
            </a:r>
            <a:endParaRPr lang="en-US" sz="1800" dirty="0"/>
          </a:p>
        </p:txBody>
      </p:sp>
      <p:sp>
        <p:nvSpPr>
          <p:cNvPr id="31" name="Text 29"/>
          <p:cNvSpPr/>
          <p:nvPr/>
        </p:nvSpPr>
        <p:spPr>
          <a:xfrm>
            <a:off x="6629400" y="313402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32" name="Text 30"/>
          <p:cNvSpPr/>
          <p:nvPr/>
        </p:nvSpPr>
        <p:spPr>
          <a:xfrm>
            <a:off x="6953250" y="3114973"/>
            <a:ext cx="4793165"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Deploy </a:t>
            </a:r>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web de-anonymization </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(6sense / Clearbit).</a:t>
            </a:r>
            <a:endParaRPr lang="en-US" sz="1650" dirty="0"/>
          </a:p>
        </p:txBody>
      </p:sp>
      <p:sp>
        <p:nvSpPr>
          <p:cNvPr id="33" name="Text 31"/>
          <p:cNvSpPr/>
          <p:nvPr/>
        </p:nvSpPr>
        <p:spPr>
          <a:xfrm>
            <a:off x="6629400" y="354166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34" name="Text 32"/>
          <p:cNvSpPr/>
          <p:nvPr/>
        </p:nvSpPr>
        <p:spPr>
          <a:xfrm>
            <a:off x="6953250" y="3522613"/>
            <a:ext cx="4277640"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Coordinated </a:t>
            </a:r>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6sense + email + SDR playbook</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a:t>
            </a:r>
            <a:endParaRPr lang="en-US" sz="1650" dirty="0"/>
          </a:p>
        </p:txBody>
      </p:sp>
      <p:sp>
        <p:nvSpPr>
          <p:cNvPr id="35" name="Text 33"/>
          <p:cNvSpPr/>
          <p:nvPr/>
        </p:nvSpPr>
        <p:spPr>
          <a:xfrm>
            <a:off x="6629400" y="394930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36" name="Text 34"/>
          <p:cNvSpPr/>
          <p:nvPr/>
        </p:nvSpPr>
        <p:spPr>
          <a:xfrm>
            <a:off x="6953250" y="3930253"/>
            <a:ext cx="2535734"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Monthly attribution review</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a:t>
            </a:r>
            <a:endParaRPr lang="en-US" sz="1650" dirty="0"/>
          </a:p>
        </p:txBody>
      </p:sp>
      <p:sp>
        <p:nvSpPr>
          <p:cNvPr id="37" name="Text 35"/>
          <p:cNvSpPr/>
          <p:nvPr/>
        </p:nvSpPr>
        <p:spPr>
          <a:xfrm>
            <a:off x="6629400" y="435694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38" name="Text 36"/>
          <p:cNvSpPr/>
          <p:nvPr/>
        </p:nvSpPr>
        <p:spPr>
          <a:xfrm>
            <a:off x="6953250" y="4337893"/>
            <a:ext cx="3123038"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Cost-per-MQL exec dashboards.</a:t>
            </a:r>
            <a:endParaRPr lang="en-US" sz="1650" dirty="0"/>
          </a:p>
        </p:txBody>
      </p:sp>
      <p:sp>
        <p:nvSpPr>
          <p:cNvPr id="39" name="Text 37"/>
          <p:cNvSpPr/>
          <p:nvPr/>
        </p:nvSpPr>
        <p:spPr>
          <a:xfrm>
            <a:off x="12115800" y="2524423"/>
            <a:ext cx="5180076"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ONGOING METRICS</a:t>
            </a:r>
            <a:endParaRPr lang="en-US" sz="900" dirty="0"/>
          </a:p>
        </p:txBody>
      </p:sp>
      <p:sp>
        <p:nvSpPr>
          <p:cNvPr id="40" name="Text 38"/>
          <p:cNvSpPr/>
          <p:nvPr/>
        </p:nvSpPr>
        <p:spPr>
          <a:xfrm>
            <a:off x="12115800" y="2753023"/>
            <a:ext cx="5180076" cy="266700"/>
          </a:xfrm>
          <a:prstGeom prst="rect">
            <a:avLst/>
          </a:prstGeom>
          <a:noFill/>
          <a:ln/>
        </p:spPr>
        <p:txBody>
          <a:bodyPr wrap="square" lIns="25400" tIns="25400" rIns="25400" bIns="25400" rtlCol="0" anchor="t">
            <a:normAutofit/>
          </a:bodyPr>
          <a:lstStyle/>
          <a:p>
            <a:pPr algn="l" indent="0" marL="0">
              <a:buNone/>
            </a:pPr>
            <a:r>
              <a:rPr lang="en-US" sz="1800" spc="-18" kern="0" dirty="0">
                <a:solidFill>
                  <a:srgbClr val="ECEEF2"/>
                </a:solidFill>
                <a:latin typeface="Arial" pitchFamily="34" charset="0"/>
                <a:ea typeface="Arial" pitchFamily="34" charset="-122"/>
                <a:cs typeface="Arial" pitchFamily="34" charset="-120"/>
              </a:rPr>
              <a:t>Dashboard north stars.</a:t>
            </a:r>
            <a:endParaRPr lang="en-US" sz="1800" dirty="0"/>
          </a:p>
        </p:txBody>
      </p:sp>
      <p:sp>
        <p:nvSpPr>
          <p:cNvPr id="41" name="Text 39"/>
          <p:cNvSpPr/>
          <p:nvPr/>
        </p:nvSpPr>
        <p:spPr>
          <a:xfrm>
            <a:off x="12115800" y="313402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42" name="Text 40"/>
          <p:cNvSpPr/>
          <p:nvPr/>
        </p:nvSpPr>
        <p:spPr>
          <a:xfrm>
            <a:off x="12439650" y="3114973"/>
            <a:ext cx="3959251"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Mktg-Attributed Pipeline % </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 target &gt;20%.</a:t>
            </a:r>
            <a:endParaRPr lang="en-US" sz="1650" dirty="0"/>
          </a:p>
        </p:txBody>
      </p:sp>
      <p:sp>
        <p:nvSpPr>
          <p:cNvPr id="43" name="Text 41"/>
          <p:cNvSpPr/>
          <p:nvPr/>
        </p:nvSpPr>
        <p:spPr>
          <a:xfrm>
            <a:off x="12115800" y="354166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44" name="Text 42"/>
          <p:cNvSpPr/>
          <p:nvPr/>
        </p:nvSpPr>
        <p:spPr>
          <a:xfrm>
            <a:off x="12439650" y="3522613"/>
            <a:ext cx="3252877"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Email CTOR by seniority </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 10-15%.</a:t>
            </a:r>
            <a:endParaRPr lang="en-US" sz="1650" dirty="0"/>
          </a:p>
        </p:txBody>
      </p:sp>
      <p:sp>
        <p:nvSpPr>
          <p:cNvPr id="45" name="Text 43"/>
          <p:cNvSpPr/>
          <p:nvPr/>
        </p:nvSpPr>
        <p:spPr>
          <a:xfrm>
            <a:off x="12115800" y="394930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46" name="Text 44"/>
          <p:cNvSpPr/>
          <p:nvPr/>
        </p:nvSpPr>
        <p:spPr>
          <a:xfrm>
            <a:off x="12439650" y="3930253"/>
            <a:ext cx="3236321"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6sense cost-per-form-fill </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 &lt;$500.</a:t>
            </a:r>
            <a:endParaRPr lang="en-US" sz="1650" dirty="0"/>
          </a:p>
        </p:txBody>
      </p:sp>
      <p:sp>
        <p:nvSpPr>
          <p:cNvPr id="47" name="Text 45"/>
          <p:cNvSpPr/>
          <p:nvPr/>
        </p:nvSpPr>
        <p:spPr>
          <a:xfrm>
            <a:off x="12115800" y="4356943"/>
            <a:ext cx="285750" cy="3314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82A6D9"/>
                </a:solidFill>
                <a:latin typeface="Arial" pitchFamily="34" charset="0"/>
                <a:ea typeface="Arial" pitchFamily="34" charset="-122"/>
                <a:cs typeface="Arial" pitchFamily="34" charset="-120"/>
              </a:rPr>
              <a:t>→</a:t>
            </a:r>
            <a:endParaRPr lang="en-US" sz="1650" dirty="0"/>
          </a:p>
        </p:txBody>
      </p:sp>
      <p:sp>
        <p:nvSpPr>
          <p:cNvPr id="48" name="Text 46"/>
          <p:cNvSpPr/>
          <p:nvPr/>
        </p:nvSpPr>
        <p:spPr>
          <a:xfrm>
            <a:off x="12439650" y="4337893"/>
            <a:ext cx="2644304" cy="35049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ECEEF2"/>
                </a:solidFill>
                <a:latin typeface="Arial" pitchFamily="34" charset="0"/>
                <a:ea typeface="Arial" pitchFamily="34" charset="-122"/>
                <a:cs typeface="Arial" pitchFamily="34" charset="-120"/>
              </a:rPr>
              <a:t>Monthly model comparison</a:t>
            </a:r>
            <a:pPr algn="l" indent="0" marL="0">
              <a:lnSpc>
                <a:spcPct val="140000"/>
              </a:lnSpc>
              <a:buNone/>
            </a:pPr>
            <a:r>
              <a:rPr lang="en-US" sz="1650" dirty="0">
                <a:solidFill>
                  <a:srgbClr val="B7BCC8"/>
                </a:solidFill>
                <a:latin typeface="Arial" pitchFamily="34" charset="0"/>
                <a:ea typeface="Arial" pitchFamily="34" charset="-122"/>
                <a:cs typeface="Arial" pitchFamily="34" charset="-120"/>
              </a:rPr>
              <a:t>.</a:t>
            </a:r>
            <a:endParaRPr lang="en-US" sz="1650" dirty="0"/>
          </a:p>
        </p:txBody>
      </p:sp>
      <p:sp>
        <p:nvSpPr>
          <p:cNvPr id="49" name="Shape 47"/>
          <p:cNvSpPr/>
          <p:nvPr/>
        </p:nvSpPr>
        <p:spPr>
          <a:xfrm>
            <a:off x="914400" y="5059859"/>
            <a:ext cx="16459200" cy="963811"/>
          </a:xfrm>
          <a:prstGeom prst="rect">
            <a:avLst/>
          </a:prstGeom>
          <a:solidFill>
            <a:srgbClr val="111729"/>
          </a:solidFill>
          <a:ln w="9525">
            <a:solidFill>
              <a:srgbClr val="2A3450"/>
            </a:solidFill>
            <a:prstDash val="solid"/>
          </a:ln>
        </p:spPr>
      </p:sp>
      <p:sp>
        <p:nvSpPr>
          <p:cNvPr id="50" name="Text 48"/>
          <p:cNvSpPr/>
          <p:nvPr/>
        </p:nvSpPr>
        <p:spPr>
          <a:xfrm>
            <a:off x="1190625" y="5278934"/>
            <a:ext cx="16383953" cy="171450"/>
          </a:xfrm>
          <a:prstGeom prst="rect">
            <a:avLst/>
          </a:prstGeom>
          <a:noFill/>
          <a:ln/>
        </p:spPr>
        <p:txBody>
          <a:bodyPr wrap="square" lIns="25400" tIns="25400" rIns="25400" bIns="25400" rtlCol="0" anchor="t">
            <a:normAutofit/>
          </a:bodyPr>
          <a:lstStyle/>
          <a:p>
            <a:pPr algn="l" indent="0" marL="0">
              <a:buNone/>
            </a:pPr>
            <a:r>
              <a:rPr lang="en-US" sz="900" spc="180" kern="0" dirty="0">
                <a:solidFill>
                  <a:srgbClr val="82A6D9"/>
                </a:solidFill>
                <a:latin typeface="Arial" pitchFamily="34" charset="0"/>
                <a:ea typeface="Arial" pitchFamily="34" charset="-122"/>
                <a:cs typeface="Arial" pitchFamily="34" charset="-120"/>
              </a:rPr>
              <a:t>THE ONE-PAGE SUMMARY</a:t>
            </a:r>
            <a:endParaRPr lang="en-US" sz="900" dirty="0"/>
          </a:p>
        </p:txBody>
      </p:sp>
      <p:sp>
        <p:nvSpPr>
          <p:cNvPr id="51" name="Text 49"/>
          <p:cNvSpPr/>
          <p:nvPr/>
        </p:nvSpPr>
        <p:spPr>
          <a:xfrm>
            <a:off x="1190625" y="5507534"/>
            <a:ext cx="16383953" cy="335161"/>
          </a:xfrm>
          <a:prstGeom prst="rect">
            <a:avLst/>
          </a:prstGeom>
          <a:noFill/>
          <a:ln/>
        </p:spPr>
        <p:txBody>
          <a:bodyPr wrap="square" lIns="25400" tIns="25400" rIns="25400" bIns="25400" rtlCol="0" anchor="t">
            <a:normAutofit/>
          </a:bodyPr>
          <a:lstStyle/>
          <a:p>
            <a:pPr algn="l" indent="0" marL="0">
              <a:lnSpc>
                <a:spcPct val="130000"/>
              </a:lnSpc>
              <a:buNone/>
            </a:pPr>
            <a:r>
              <a:rPr lang="en-US" sz="1800" spc="-18" kern="0" dirty="0">
                <a:solidFill>
                  <a:srgbClr val="ECEEF2"/>
                </a:solidFill>
                <a:latin typeface="Arial" pitchFamily="34" charset="0"/>
                <a:ea typeface="Arial" pitchFamily="34" charset="-122"/>
                <a:cs typeface="Arial" pitchFamily="34" charset="-120"/>
              </a:rPr>
              <a:t>Email </a:t>
            </a:r>
            <a:pPr algn="l" indent="0" marL="0">
              <a:lnSpc>
                <a:spcPct val="130000"/>
              </a:lnSpc>
              <a:buNone/>
            </a:pPr>
            <a:r>
              <a:rPr lang="en-US" sz="1800" spc="-18" kern="0" dirty="0">
                <a:solidFill>
                  <a:srgbClr val="82A6D9"/>
                </a:solidFill>
                <a:latin typeface="Arial" pitchFamily="34" charset="0"/>
                <a:ea typeface="Arial" pitchFamily="34" charset="-122"/>
                <a:cs typeface="Arial" pitchFamily="34" charset="-120"/>
              </a:rPr>
              <a:t>starts conversations </a:t>
            </a:r>
            <a:pPr algn="l" indent="0" marL="0">
              <a:lnSpc>
                <a:spcPct val="130000"/>
              </a:lnSpc>
              <a:buNone/>
            </a:pPr>
            <a:r>
              <a:rPr lang="en-US" sz="1800" spc="-18" kern="0" dirty="0">
                <a:solidFill>
                  <a:srgbClr val="ECEEF2"/>
                </a:solidFill>
                <a:latin typeface="Arial" pitchFamily="34" charset="0"/>
                <a:ea typeface="Arial" pitchFamily="34" charset="-122"/>
                <a:cs typeface="Arial" pitchFamily="34" charset="-120"/>
              </a:rPr>
              <a:t>($4.0M First-Touch). 6sense </a:t>
            </a:r>
            <a:pPr algn="l" indent="0" marL="0">
              <a:lnSpc>
                <a:spcPct val="130000"/>
              </a:lnSpc>
              <a:buNone/>
            </a:pPr>
            <a:r>
              <a:rPr lang="en-US" sz="1800" spc="-18" kern="0" dirty="0">
                <a:solidFill>
                  <a:srgbClr val="82A6D9"/>
                </a:solidFill>
                <a:latin typeface="Arial" pitchFamily="34" charset="0"/>
                <a:ea typeface="Arial" pitchFamily="34" charset="-122"/>
                <a:cs typeface="Arial" pitchFamily="34" charset="-120"/>
              </a:rPr>
              <a:t>keeps the brand visible </a:t>
            </a:r>
            <a:pPr algn="l" indent="0" marL="0">
              <a:lnSpc>
                <a:spcPct val="130000"/>
              </a:lnSpc>
              <a:buNone/>
            </a:pPr>
            <a:r>
              <a:rPr lang="en-US" sz="1800" spc="-18" kern="0" dirty="0">
                <a:solidFill>
                  <a:srgbClr val="ECEEF2"/>
                </a:solidFill>
                <a:latin typeface="Arial" pitchFamily="34" charset="0"/>
                <a:ea typeface="Arial" pitchFamily="34" charset="-122"/>
                <a:cs typeface="Arial" pitchFamily="34" charset="-120"/>
              </a:rPr>
              <a:t>when deals close ($3.3-3.5M Last-Touch). Fund both.</a:t>
            </a:r>
            <a:endParaRPr lang="en-US" sz="1800" dirty="0"/>
          </a:p>
        </p:txBody>
      </p:sp>
      <p:sp>
        <p:nvSpPr>
          <p:cNvPr id="52" name="Text 50"/>
          <p:cNvSpPr/>
          <p:nvPr/>
        </p:nvSpPr>
        <p:spPr>
          <a:xfrm>
            <a:off x="762000" y="9791700"/>
            <a:ext cx="1031677"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FIG. 21 / END</a:t>
            </a:r>
            <a:endParaRPr lang="en-US" sz="900" dirty="0"/>
          </a:p>
        </p:txBody>
      </p:sp>
      <p:sp>
        <p:nvSpPr>
          <p:cNvPr id="53" name="Text 51"/>
          <p:cNvSpPr/>
          <p:nvPr/>
        </p:nvSpPr>
        <p:spPr>
          <a:xfrm>
            <a:off x="16333440" y="9791700"/>
            <a:ext cx="1268760" cy="171450"/>
          </a:xfrm>
          <a:prstGeom prst="rect">
            <a:avLst/>
          </a:prstGeom>
          <a:noFill/>
          <a:ln/>
        </p:spPr>
        <p:txBody>
          <a:bodyPr wrap="square" lIns="25400" tIns="25400" rIns="25400" bIns="25400" rtlCol="0" anchor="t">
            <a:normAutofit/>
          </a:bodyPr>
          <a:lstStyle/>
          <a:p>
            <a:pPr algn="l" indent="0" marL="0">
              <a:buNone/>
            </a:pPr>
            <a:r>
              <a:rPr lang="en-US" sz="900" spc="144" kern="0" dirty="0">
                <a:solidFill>
                  <a:srgbClr val="555C6B"/>
                </a:solidFill>
                <a:latin typeface="Arial" pitchFamily="34" charset="0"/>
                <a:ea typeface="Arial" pitchFamily="34" charset="-122"/>
                <a:cs typeface="Arial" pitchFamily="34" charset="-120"/>
              </a:rPr>
              <a:t>— THANK YOU —</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2026-05-02T05:30:44Z</dcterms:created>
  <dcterms:modified xsi:type="dcterms:W3CDTF">2026-05-02T05:30:44Z</dcterms:modified>
</cp:coreProperties>
</file>