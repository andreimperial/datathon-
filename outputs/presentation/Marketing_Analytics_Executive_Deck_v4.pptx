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3749039"/>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2377440"/>
          </a:xfrm>
          <a:prstGeom prst="rect">
            <a:avLst/>
          </a:prstGeom>
          <a:noFill/>
        </p:spPr>
        <p:txBody>
          <a:bodyPr wrap="square">
            <a:spAutoFit/>
          </a:bodyPr>
          <a:lstStyle/>
          <a:p>
            <a:pPr algn="l">
              <a:defRPr sz="3600" b="1">
                <a:solidFill>
                  <a:srgbClr val="FFFFFF"/>
                </a:solidFill>
              </a:defRPr>
            </a:pPr>
            <a:r>
              <a:t>Marketing Attribution</a:t>
            </a:r>
            <a:br/>
            <a:r>
              <a:t>&amp; Budget Optimization</a:t>
            </a:r>
          </a:p>
        </p:txBody>
      </p:sp>
      <p:sp>
        <p:nvSpPr>
          <p:cNvPr id="4" name="TextBox 3"/>
          <p:cNvSpPr txBox="1"/>
          <p:nvPr/>
        </p:nvSpPr>
        <p:spPr>
          <a:xfrm>
            <a:off x="731520" y="2697480"/>
            <a:ext cx="10515600" cy="502920"/>
          </a:xfrm>
          <a:prstGeom prst="rect">
            <a:avLst/>
          </a:prstGeom>
          <a:noFill/>
        </p:spPr>
        <p:txBody>
          <a:bodyPr wrap="square">
            <a:spAutoFit/>
          </a:bodyPr>
          <a:lstStyle/>
          <a:p>
            <a:pPr algn="l">
              <a:defRPr sz="1400" b="0">
                <a:solidFill>
                  <a:srgbClr val="FFFFFF"/>
                </a:solidFill>
              </a:defRPr>
            </a:pPr>
            <a:r>
              <a:t>Data-Driven Analysis  |  8 Datasets  |  $176M Pipeline  |  2021-2024</a:t>
            </a:r>
          </a:p>
        </p:txBody>
      </p:sp>
      <p:sp>
        <p:nvSpPr>
          <p:cNvPr id="5" name="TextBox 4"/>
          <p:cNvSpPr txBox="1"/>
          <p:nvPr/>
        </p:nvSpPr>
        <p:spPr>
          <a:xfrm>
            <a:off x="731520" y="4069080"/>
            <a:ext cx="10515600" cy="411480"/>
          </a:xfrm>
          <a:prstGeom prst="rect">
            <a:avLst/>
          </a:prstGeom>
          <a:noFill/>
        </p:spPr>
        <p:txBody>
          <a:bodyPr wrap="square">
            <a:spAutoFit/>
          </a:bodyPr>
          <a:lstStyle/>
          <a:p>
            <a:pPr algn="l">
              <a:defRPr sz="1200" b="0">
                <a:solidFill>
                  <a:srgbClr val="1E293B"/>
                </a:solidFill>
              </a:defRPr>
            </a:pPr>
            <a:r>
              <a:t>B2B SaaS Marketing Analytics Case Study</a:t>
            </a:r>
          </a:p>
        </p:txBody>
      </p:sp>
      <p:sp>
        <p:nvSpPr>
          <p:cNvPr id="6" name="Rectangle 5"/>
          <p:cNvSpPr/>
          <p:nvPr/>
        </p:nvSpPr>
        <p:spPr>
          <a:xfrm>
            <a:off x="274320" y="484632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Integrated</a:t>
            </a:r>
          </a:p>
          <a:p>
            <a:pPr algn="ctr">
              <a:defRPr sz="1700" b="1">
                <a:solidFill>
                  <a:srgbClr val="2563EB"/>
                </a:solidFill>
              </a:defRPr>
            </a:pPr>
            <a:r>
              <a:t>8 Datasets</a:t>
            </a:r>
          </a:p>
        </p:txBody>
      </p:sp>
      <p:sp>
        <p:nvSpPr>
          <p:cNvPr id="7" name="Rectangle 6"/>
          <p:cNvSpPr/>
          <p:nvPr/>
        </p:nvSpPr>
        <p:spPr>
          <a:xfrm>
            <a:off x="3246120" y="484632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Touchpoints Mapped</a:t>
            </a:r>
          </a:p>
          <a:p>
            <a:pPr algn="ctr">
              <a:defRPr sz="1700" b="1">
                <a:solidFill>
                  <a:srgbClr val="2563EB"/>
                </a:solidFill>
              </a:defRPr>
            </a:pPr>
            <a:r>
              <a:t>80,500</a:t>
            </a:r>
          </a:p>
        </p:txBody>
      </p:sp>
      <p:sp>
        <p:nvSpPr>
          <p:cNvPr id="8" name="Rectangle 7"/>
          <p:cNvSpPr/>
          <p:nvPr/>
        </p:nvSpPr>
        <p:spPr>
          <a:xfrm>
            <a:off x="6217920" y="484632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Unique Deals</a:t>
            </a:r>
          </a:p>
          <a:p>
            <a:pPr algn="ctr">
              <a:defRPr sz="1700" b="1">
                <a:solidFill>
                  <a:srgbClr val="2563EB"/>
                </a:solidFill>
              </a:defRPr>
            </a:pPr>
            <a:r>
              <a:t>3,288</a:t>
            </a:r>
          </a:p>
        </p:txBody>
      </p:sp>
      <p:sp>
        <p:nvSpPr>
          <p:cNvPr id="9" name="Rectangle 8"/>
          <p:cNvSpPr/>
          <p:nvPr/>
        </p:nvSpPr>
        <p:spPr>
          <a:xfrm>
            <a:off x="9189720" y="484632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Attribution Applied</a:t>
            </a:r>
          </a:p>
          <a:p>
            <a:pPr algn="ctr">
              <a:defRPr sz="1700" b="1">
                <a:solidFill>
                  <a:srgbClr val="2563EB"/>
                </a:solidFill>
              </a:defRPr>
            </a:pPr>
            <a:r>
              <a:t>6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Executive Summary</a:t>
            </a:r>
          </a:p>
          <a:p>
            <a:pPr>
              <a:defRPr sz="1100">
                <a:solidFill>
                  <a:srgbClr val="64748B"/>
                </a:solidFill>
              </a:defRPr>
            </a:pPr>
            <a:r>
              <a:t>Top-line performance and key findings across all channels and models</a:t>
            </a:r>
          </a:p>
        </p:txBody>
      </p:sp>
      <p:sp>
        <p:nvSpPr>
          <p:cNvPr id="3" name="Rectangle 2"/>
          <p:cNvSpPr/>
          <p:nvPr/>
        </p:nvSpPr>
        <p:spPr>
          <a:xfrm>
            <a:off x="201168" y="77724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Total Pipeline</a:t>
            </a:r>
          </a:p>
          <a:p>
            <a:pPr algn="ctr">
              <a:defRPr sz="1700" b="1">
                <a:solidFill>
                  <a:srgbClr val="2563EB"/>
                </a:solidFill>
              </a:defRPr>
            </a:pPr>
            <a:r>
              <a:t>$25.0M</a:t>
            </a:r>
          </a:p>
        </p:txBody>
      </p:sp>
      <p:sp>
        <p:nvSpPr>
          <p:cNvPr id="4" name="Rectangle 3"/>
          <p:cNvSpPr/>
          <p:nvPr/>
        </p:nvSpPr>
        <p:spPr>
          <a:xfrm>
            <a:off x="2551176" y="777240"/>
            <a:ext cx="2651760" cy="96012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Won Revenue</a:t>
            </a:r>
          </a:p>
          <a:p>
            <a:pPr algn="ctr">
              <a:defRPr sz="1700" b="1">
                <a:solidFill>
                  <a:srgbClr val="10B981"/>
                </a:solidFill>
              </a:defRPr>
            </a:pPr>
            <a:r>
              <a:t>$5.4M</a:t>
            </a:r>
          </a:p>
        </p:txBody>
      </p:sp>
      <p:sp>
        <p:nvSpPr>
          <p:cNvPr id="5" name="Rectangle 4"/>
          <p:cNvSpPr/>
          <p:nvPr/>
        </p:nvSpPr>
        <p:spPr>
          <a:xfrm>
            <a:off x="4901183" y="777240"/>
            <a:ext cx="2651760" cy="96012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Mktg Sourced</a:t>
            </a:r>
          </a:p>
          <a:p>
            <a:pPr algn="ctr">
              <a:defRPr sz="1700" b="1">
                <a:solidFill>
                  <a:srgbClr val="F59E0B"/>
                </a:solidFill>
              </a:defRPr>
            </a:pPr>
            <a:r>
              <a:t>$4.2M</a:t>
            </a:r>
          </a:p>
        </p:txBody>
      </p:sp>
      <p:sp>
        <p:nvSpPr>
          <p:cNvPr id="6" name="Rectangle 5"/>
          <p:cNvSpPr/>
          <p:nvPr/>
        </p:nvSpPr>
        <p:spPr>
          <a:xfrm>
            <a:off x="7251191" y="777240"/>
            <a:ext cx="2651760" cy="96012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Mktg Influenced</a:t>
            </a:r>
          </a:p>
          <a:p>
            <a:pPr algn="ctr">
              <a:defRPr sz="1700" b="1">
                <a:solidFill>
                  <a:srgbClr val="8B5CF6"/>
                </a:solidFill>
              </a:defRPr>
            </a:pPr>
            <a:r>
              <a:t>$6.5M</a:t>
            </a:r>
          </a:p>
        </p:txBody>
      </p:sp>
      <p:sp>
        <p:nvSpPr>
          <p:cNvPr id="7" name="Rectangle 6"/>
          <p:cNvSpPr/>
          <p:nvPr/>
        </p:nvSpPr>
        <p:spPr>
          <a:xfrm>
            <a:off x="9601200" y="777240"/>
            <a:ext cx="2651760" cy="960120"/>
          </a:xfrm>
          <a:prstGeom prst="rect">
            <a:avLst/>
          </a:prstGeom>
          <a:solidFill>
            <a:srgbClr val="EFF6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Win Rate</a:t>
            </a:r>
          </a:p>
          <a:p>
            <a:pPr algn="ctr">
              <a:defRPr sz="1700" b="1">
                <a:solidFill>
                  <a:srgbClr val="EF4444"/>
                </a:solidFill>
              </a:defRPr>
            </a:pPr>
            <a:r>
              <a:t>32.6%</a:t>
            </a:r>
          </a:p>
        </p:txBody>
      </p:sp>
      <p:sp>
        <p:nvSpPr>
          <p:cNvPr id="8" name="Rectangle 7"/>
          <p:cNvSpPr/>
          <p:nvPr/>
        </p:nvSpPr>
        <p:spPr>
          <a:xfrm>
            <a:off x="228600" y="1920240"/>
            <a:ext cx="117500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975104"/>
            <a:ext cx="11567160" cy="384048"/>
          </a:xfrm>
          <a:prstGeom prst="rect">
            <a:avLst/>
          </a:prstGeom>
          <a:noFill/>
        </p:spPr>
        <p:txBody>
          <a:bodyPr wrap="square">
            <a:spAutoFit/>
          </a:bodyPr>
          <a:lstStyle/>
          <a:p>
            <a:pPr algn="l">
              <a:defRPr sz="1050" b="0">
                <a:solidFill>
                  <a:srgbClr val="1E293B"/>
                </a:solidFill>
              </a:defRPr>
            </a:pPr>
            <a:r>
              <a:t>&gt; Marketing Sourced: $4.2M (16.8% of pipeline). Influenced: $6.5M — accounts with any marketing touchpoint before deal creation.</a:t>
            </a:r>
          </a:p>
        </p:txBody>
      </p:sp>
      <p:sp>
        <p:nvSpPr>
          <p:cNvPr id="10" name="Rectangle 9"/>
          <p:cNvSpPr/>
          <p:nvPr/>
        </p:nvSpPr>
        <p:spPr>
          <a:xfrm>
            <a:off x="228600" y="2423160"/>
            <a:ext cx="117500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478024"/>
            <a:ext cx="11567160" cy="384048"/>
          </a:xfrm>
          <a:prstGeom prst="rect">
            <a:avLst/>
          </a:prstGeom>
          <a:noFill/>
        </p:spPr>
        <p:txBody>
          <a:bodyPr wrap="square">
            <a:spAutoFit/>
          </a:bodyPr>
          <a:lstStyle/>
          <a:p>
            <a:pPr algn="l">
              <a:defRPr sz="1050" b="0">
                <a:solidFill>
                  <a:srgbClr val="1E293B"/>
                </a:solidFill>
              </a:defRPr>
            </a:pPr>
            <a:r>
              <a:t>&gt; 6sense Display leads Last-Touch ($3.3M) and Time-Decay ($3.5M) attribution — it converts. Email MQA leads First-Touch ($4.0M) — it creates awareness.</a:t>
            </a:r>
          </a:p>
        </p:txBody>
      </p:sp>
      <p:sp>
        <p:nvSpPr>
          <p:cNvPr id="12" name="Rectangle 11"/>
          <p:cNvSpPr/>
          <p:nvPr/>
        </p:nvSpPr>
        <p:spPr>
          <a:xfrm>
            <a:off x="228600" y="2926080"/>
            <a:ext cx="117500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980944"/>
            <a:ext cx="11567160" cy="384048"/>
          </a:xfrm>
          <a:prstGeom prst="rect">
            <a:avLst/>
          </a:prstGeom>
          <a:noFill/>
        </p:spPr>
        <p:txBody>
          <a:bodyPr wrap="square">
            <a:spAutoFit/>
          </a:bodyPr>
          <a:lstStyle/>
          <a:p>
            <a:pPr algn="l">
              <a:defRPr sz="1050" b="0">
                <a:solidFill>
                  <a:srgbClr val="1E293B"/>
                </a:solidFill>
              </a:defRPr>
            </a:pPr>
            <a:r>
              <a:t>&gt; Linear and Time-Decay models recommended for budget decisions: they balance the full buyer journey vs. single-touchpoint credit.</a:t>
            </a:r>
          </a:p>
        </p:txBody>
      </p:sp>
      <p:sp>
        <p:nvSpPr>
          <p:cNvPr id="14" name="Rectangle 13"/>
          <p:cNvSpPr/>
          <p:nvPr/>
        </p:nvSpPr>
        <p:spPr>
          <a:xfrm>
            <a:off x="228600" y="3429000"/>
            <a:ext cx="117500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3483864"/>
            <a:ext cx="11567160" cy="384048"/>
          </a:xfrm>
          <a:prstGeom prst="rect">
            <a:avLst/>
          </a:prstGeom>
          <a:noFill/>
        </p:spPr>
        <p:txBody>
          <a:bodyPr wrap="square">
            <a:spAutoFit/>
          </a:bodyPr>
          <a:lstStyle/>
          <a:p>
            <a:pPr algn="l">
              <a:defRPr sz="1050" b="0">
                <a:solidFill>
                  <a:srgbClr val="1E293B"/>
                </a:solidFill>
              </a:defRPr>
            </a:pPr>
            <a:r>
              <a:t>&gt; Enterprise + Strong 6sense Profile Fit accounts show higher deal velocity. Target 6sense budget toward these accounts.</a:t>
            </a:r>
          </a:p>
        </p:txBody>
      </p:sp>
      <p:sp>
        <p:nvSpPr>
          <p:cNvPr id="16" name="Rectangle 15"/>
          <p:cNvSpPr/>
          <p:nvPr/>
        </p:nvSpPr>
        <p:spPr>
          <a:xfrm>
            <a:off x="228600" y="3931920"/>
            <a:ext cx="117500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986784"/>
            <a:ext cx="11567160" cy="384048"/>
          </a:xfrm>
          <a:prstGeom prst="rect">
            <a:avLst/>
          </a:prstGeom>
          <a:noFill/>
        </p:spPr>
        <p:txBody>
          <a:bodyPr wrap="square">
            <a:spAutoFit/>
          </a:bodyPr>
          <a:lstStyle/>
          <a:p>
            <a:pPr algn="l">
              <a:defRPr sz="1050" b="0">
                <a:solidFill>
                  <a:srgbClr val="1E293B"/>
                </a:solidFill>
              </a:defRPr>
            </a:pPr>
            <a:r>
              <a:t>&gt; Budget Recommendation: Increase 6sense display +30%, email nurture +20%. Reduce low-ROI channels. Estimated pipeline lift: 15-25%.</a:t>
            </a:r>
          </a:p>
        </p:txBody>
      </p:sp>
      <p:sp>
        <p:nvSpPr>
          <p:cNvPr id="18" name="Rectangle 1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Top-line numbers for the whole marketing program. Pipeline = all deal value in the funnel. Won Revenue = deals actually closed and signed. HOW TO READ: Compare Sourced vs Influenced — Sourced ($4.2M) means marketing is listed as the CRM origin; Influenced ($6.3M) means marketing touched the account at any point before the deal, even if sales sourced it officially. INSIGHT: Win rate across all channels is 33% (1 in 3 deals closes). Marketing-sourced deals close at ~10% because marketing finds prospects earlier in their journey — they need longer nurture before they're ready to buy.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Data &amp; Methodology</a:t>
            </a:r>
          </a:p>
          <a:p>
            <a:pPr>
              <a:defRPr sz="1100">
                <a:solidFill>
                  <a:srgbClr val="64748B"/>
                </a:solidFill>
              </a:defRPr>
            </a:pPr>
            <a:r>
              <a:t>8 datasets -&gt; Touchpoint mapping -&gt; Attribution models -&gt; Insights</a:t>
            </a:r>
          </a:p>
        </p:txBody>
      </p:sp>
      <p:sp>
        <p:nvSpPr>
          <p:cNvPr id="3" name="TextBox 2"/>
          <p:cNvSpPr txBox="1"/>
          <p:nvPr/>
        </p:nvSpPr>
        <p:spPr>
          <a:xfrm>
            <a:off x="274320" y="868680"/>
            <a:ext cx="3474720" cy="347472"/>
          </a:xfrm>
          <a:prstGeom prst="rect">
            <a:avLst/>
          </a:prstGeom>
          <a:noFill/>
        </p:spPr>
        <p:txBody>
          <a:bodyPr wrap="square">
            <a:spAutoFit/>
          </a:bodyPr>
          <a:lstStyle/>
          <a:p>
            <a:pPr algn="l">
              <a:defRPr sz="1050" b="1">
                <a:solidFill>
                  <a:srgbClr val="1E293B"/>
                </a:solidFill>
              </a:defRPr>
            </a:pPr>
            <a:r>
              <a:t>&gt; 6sense Campaign Accounts</a:t>
            </a:r>
          </a:p>
        </p:txBody>
      </p:sp>
      <p:sp>
        <p:nvSpPr>
          <p:cNvPr id="4" name="TextBox 3"/>
          <p:cNvSpPr txBox="1"/>
          <p:nvPr/>
        </p:nvSpPr>
        <p:spPr>
          <a:xfrm>
            <a:off x="3749039" y="868680"/>
            <a:ext cx="1828800" cy="347472"/>
          </a:xfrm>
          <a:prstGeom prst="rect">
            <a:avLst/>
          </a:prstGeom>
          <a:noFill/>
        </p:spPr>
        <p:txBody>
          <a:bodyPr wrap="square">
            <a:spAutoFit/>
          </a:bodyPr>
          <a:lstStyle/>
          <a:p>
            <a:pPr algn="l">
              <a:defRPr sz="1000" b="0">
                <a:solidFill>
                  <a:srgbClr val="64748B"/>
                </a:solidFill>
              </a:defRPr>
            </a:pPr>
            <a:r>
              <a:t>63,096 rows</a:t>
            </a:r>
          </a:p>
        </p:txBody>
      </p:sp>
      <p:sp>
        <p:nvSpPr>
          <p:cNvPr id="5" name="TextBox 4"/>
          <p:cNvSpPr txBox="1"/>
          <p:nvPr/>
        </p:nvSpPr>
        <p:spPr>
          <a:xfrm>
            <a:off x="5577840" y="868680"/>
            <a:ext cx="6355080" cy="347472"/>
          </a:xfrm>
          <a:prstGeom prst="rect">
            <a:avLst/>
          </a:prstGeom>
          <a:noFill/>
        </p:spPr>
        <p:txBody>
          <a:bodyPr wrap="square">
            <a:spAutoFit/>
          </a:bodyPr>
          <a:lstStyle/>
          <a:p>
            <a:pPr algn="l">
              <a:defRPr sz="1000" b="0">
                <a:solidFill>
                  <a:srgbClr val="1E293B"/>
                </a:solidFill>
              </a:defRPr>
            </a:pPr>
            <a:r>
              <a:t>Paid display spend, clicks, form fills per account</a:t>
            </a:r>
          </a:p>
        </p:txBody>
      </p:sp>
      <p:sp>
        <p:nvSpPr>
          <p:cNvPr id="6" name="TextBox 5"/>
          <p:cNvSpPr txBox="1"/>
          <p:nvPr/>
        </p:nvSpPr>
        <p:spPr>
          <a:xfrm>
            <a:off x="274320" y="1261872"/>
            <a:ext cx="3474720" cy="347472"/>
          </a:xfrm>
          <a:prstGeom prst="rect">
            <a:avLst/>
          </a:prstGeom>
          <a:noFill/>
        </p:spPr>
        <p:txBody>
          <a:bodyPr wrap="square">
            <a:spAutoFit/>
          </a:bodyPr>
          <a:lstStyle/>
          <a:p>
            <a:pPr algn="l">
              <a:defRPr sz="1050" b="1">
                <a:solidFill>
                  <a:srgbClr val="1E293B"/>
                </a:solidFill>
              </a:defRPr>
            </a:pPr>
            <a:r>
              <a:t>&gt; Ad Metrics</a:t>
            </a:r>
          </a:p>
        </p:txBody>
      </p:sp>
      <p:sp>
        <p:nvSpPr>
          <p:cNvPr id="7" name="TextBox 6"/>
          <p:cNvSpPr txBox="1"/>
          <p:nvPr/>
        </p:nvSpPr>
        <p:spPr>
          <a:xfrm>
            <a:off x="3749039" y="1261872"/>
            <a:ext cx="1828800" cy="347472"/>
          </a:xfrm>
          <a:prstGeom prst="rect">
            <a:avLst/>
          </a:prstGeom>
          <a:noFill/>
        </p:spPr>
        <p:txBody>
          <a:bodyPr wrap="square">
            <a:spAutoFit/>
          </a:bodyPr>
          <a:lstStyle/>
          <a:p>
            <a:pPr algn="l">
              <a:defRPr sz="1000" b="0">
                <a:solidFill>
                  <a:srgbClr val="64748B"/>
                </a:solidFill>
              </a:defRPr>
            </a:pPr>
            <a:r>
              <a:t>4,626 rows</a:t>
            </a:r>
          </a:p>
        </p:txBody>
      </p:sp>
      <p:sp>
        <p:nvSpPr>
          <p:cNvPr id="8" name="TextBox 7"/>
          <p:cNvSpPr txBox="1"/>
          <p:nvPr/>
        </p:nvSpPr>
        <p:spPr>
          <a:xfrm>
            <a:off x="5577840" y="1261872"/>
            <a:ext cx="6355080" cy="347472"/>
          </a:xfrm>
          <a:prstGeom prst="rect">
            <a:avLst/>
          </a:prstGeom>
          <a:noFill/>
        </p:spPr>
        <p:txBody>
          <a:bodyPr wrap="square">
            <a:spAutoFit/>
          </a:bodyPr>
          <a:lstStyle/>
          <a:p>
            <a:pPr algn="l">
              <a:defRPr sz="1000" b="0">
                <a:solidFill>
                  <a:srgbClr val="1E293B"/>
                </a:solidFill>
              </a:defRPr>
            </a:pPr>
            <a:r>
              <a:t>Creative-level CTR, spend, impressions — 6sense + LinkedIn</a:t>
            </a:r>
          </a:p>
        </p:txBody>
      </p:sp>
      <p:sp>
        <p:nvSpPr>
          <p:cNvPr id="9" name="TextBox 8"/>
          <p:cNvSpPr txBox="1"/>
          <p:nvPr/>
        </p:nvSpPr>
        <p:spPr>
          <a:xfrm>
            <a:off x="274320" y="1655064"/>
            <a:ext cx="3474720" cy="347472"/>
          </a:xfrm>
          <a:prstGeom prst="rect">
            <a:avLst/>
          </a:prstGeom>
          <a:noFill/>
        </p:spPr>
        <p:txBody>
          <a:bodyPr wrap="square">
            <a:spAutoFit/>
          </a:bodyPr>
          <a:lstStyle/>
          <a:p>
            <a:pPr algn="l">
              <a:defRPr sz="1050" b="1">
                <a:solidFill>
                  <a:srgbClr val="1E293B"/>
                </a:solidFill>
              </a:defRPr>
            </a:pPr>
            <a:r>
              <a:t>&gt; Email Engagements</a:t>
            </a:r>
          </a:p>
        </p:txBody>
      </p:sp>
      <p:sp>
        <p:nvSpPr>
          <p:cNvPr id="10" name="TextBox 9"/>
          <p:cNvSpPr txBox="1"/>
          <p:nvPr/>
        </p:nvSpPr>
        <p:spPr>
          <a:xfrm>
            <a:off x="3749039" y="1655064"/>
            <a:ext cx="1828800" cy="347472"/>
          </a:xfrm>
          <a:prstGeom prst="rect">
            <a:avLst/>
          </a:prstGeom>
          <a:noFill/>
        </p:spPr>
        <p:txBody>
          <a:bodyPr wrap="square">
            <a:spAutoFit/>
          </a:bodyPr>
          <a:lstStyle/>
          <a:p>
            <a:pPr algn="l">
              <a:defRPr sz="1000" b="0">
                <a:solidFill>
                  <a:srgbClr val="64748B"/>
                </a:solidFill>
              </a:defRPr>
            </a:pPr>
            <a:r>
              <a:t>17,130 rows</a:t>
            </a:r>
          </a:p>
        </p:txBody>
      </p:sp>
      <p:sp>
        <p:nvSpPr>
          <p:cNvPr id="11" name="TextBox 10"/>
          <p:cNvSpPr txBox="1"/>
          <p:nvPr/>
        </p:nvSpPr>
        <p:spPr>
          <a:xfrm>
            <a:off x="5577840" y="1655064"/>
            <a:ext cx="6355080" cy="347472"/>
          </a:xfrm>
          <a:prstGeom prst="rect">
            <a:avLst/>
          </a:prstGeom>
          <a:noFill/>
        </p:spPr>
        <p:txBody>
          <a:bodyPr wrap="square">
            <a:spAutoFit/>
          </a:bodyPr>
          <a:lstStyle/>
          <a:p>
            <a:pPr algn="l">
              <a:defRPr sz="1000" b="0">
                <a:solidFill>
                  <a:srgbClr val="1E293B"/>
                </a:solidFill>
              </a:defRPr>
            </a:pPr>
            <a:r>
              <a:t>Opens, clicks, registers by prospect seniority and industry</a:t>
            </a:r>
          </a:p>
        </p:txBody>
      </p:sp>
      <p:sp>
        <p:nvSpPr>
          <p:cNvPr id="12" name="TextBox 11"/>
          <p:cNvSpPr txBox="1"/>
          <p:nvPr/>
        </p:nvSpPr>
        <p:spPr>
          <a:xfrm>
            <a:off x="274320" y="2048256"/>
            <a:ext cx="3474720" cy="347472"/>
          </a:xfrm>
          <a:prstGeom prst="rect">
            <a:avLst/>
          </a:prstGeom>
          <a:noFill/>
        </p:spPr>
        <p:txBody>
          <a:bodyPr wrap="square">
            <a:spAutoFit/>
          </a:bodyPr>
          <a:lstStyle/>
          <a:p>
            <a:pPr algn="l">
              <a:defRPr sz="1050" b="1">
                <a:solidFill>
                  <a:srgbClr val="1E293B"/>
                </a:solidFill>
              </a:defRPr>
            </a:pPr>
            <a:r>
              <a:t>&gt; Web Engagements</a:t>
            </a:r>
          </a:p>
        </p:txBody>
      </p:sp>
      <p:sp>
        <p:nvSpPr>
          <p:cNvPr id="13" name="TextBox 12"/>
          <p:cNvSpPr txBox="1"/>
          <p:nvPr/>
        </p:nvSpPr>
        <p:spPr>
          <a:xfrm>
            <a:off x="3749039" y="2048256"/>
            <a:ext cx="1828800" cy="347472"/>
          </a:xfrm>
          <a:prstGeom prst="rect">
            <a:avLst/>
          </a:prstGeom>
          <a:noFill/>
        </p:spPr>
        <p:txBody>
          <a:bodyPr wrap="square">
            <a:spAutoFit/>
          </a:bodyPr>
          <a:lstStyle/>
          <a:p>
            <a:pPr algn="l">
              <a:defRPr sz="1000" b="0">
                <a:solidFill>
                  <a:srgbClr val="64748B"/>
                </a:solidFill>
              </a:defRPr>
            </a:pPr>
            <a:r>
              <a:t>36,931 rows</a:t>
            </a:r>
          </a:p>
        </p:txBody>
      </p:sp>
      <p:sp>
        <p:nvSpPr>
          <p:cNvPr id="14" name="TextBox 13"/>
          <p:cNvSpPr txBox="1"/>
          <p:nvPr/>
        </p:nvSpPr>
        <p:spPr>
          <a:xfrm>
            <a:off x="5577840" y="2048256"/>
            <a:ext cx="6355080" cy="347472"/>
          </a:xfrm>
          <a:prstGeom prst="rect">
            <a:avLst/>
          </a:prstGeom>
          <a:noFill/>
        </p:spPr>
        <p:txBody>
          <a:bodyPr wrap="square">
            <a:spAutoFit/>
          </a:bodyPr>
          <a:lstStyle/>
          <a:p>
            <a:pPr algn="l">
              <a:defRPr sz="1000" b="0">
                <a:solidFill>
                  <a:srgbClr val="1E293B"/>
                </a:solidFill>
              </a:defRPr>
            </a:pPr>
            <a:r>
              <a:t>Sessions, UTM sources, goal completions, target account flags</a:t>
            </a:r>
          </a:p>
        </p:txBody>
      </p:sp>
      <p:sp>
        <p:nvSpPr>
          <p:cNvPr id="15" name="TextBox 14"/>
          <p:cNvSpPr txBox="1"/>
          <p:nvPr/>
        </p:nvSpPr>
        <p:spPr>
          <a:xfrm>
            <a:off x="274320" y="2441448"/>
            <a:ext cx="3474720" cy="347472"/>
          </a:xfrm>
          <a:prstGeom prst="rect">
            <a:avLst/>
          </a:prstGeom>
          <a:noFill/>
        </p:spPr>
        <p:txBody>
          <a:bodyPr wrap="square">
            <a:spAutoFit/>
          </a:bodyPr>
          <a:lstStyle/>
          <a:p>
            <a:pPr algn="l">
              <a:defRPr sz="1050" b="1">
                <a:solidFill>
                  <a:srgbClr val="1E293B"/>
                </a:solidFill>
              </a:defRPr>
            </a:pPr>
            <a:r>
              <a:t>&gt; Account Log</a:t>
            </a:r>
          </a:p>
        </p:txBody>
      </p:sp>
      <p:sp>
        <p:nvSpPr>
          <p:cNvPr id="16" name="TextBox 15"/>
          <p:cNvSpPr txBox="1"/>
          <p:nvPr/>
        </p:nvSpPr>
        <p:spPr>
          <a:xfrm>
            <a:off x="3749039" y="2441448"/>
            <a:ext cx="1828800" cy="347472"/>
          </a:xfrm>
          <a:prstGeom prst="rect">
            <a:avLst/>
          </a:prstGeom>
          <a:noFill/>
        </p:spPr>
        <p:txBody>
          <a:bodyPr wrap="square">
            <a:spAutoFit/>
          </a:bodyPr>
          <a:lstStyle/>
          <a:p>
            <a:pPr algn="l">
              <a:defRPr sz="1000" b="0">
                <a:solidFill>
                  <a:srgbClr val="64748B"/>
                </a:solidFill>
              </a:defRPr>
            </a:pPr>
            <a:r>
              <a:t>5,264 rows</a:t>
            </a:r>
          </a:p>
        </p:txBody>
      </p:sp>
      <p:sp>
        <p:nvSpPr>
          <p:cNvPr id="17" name="TextBox 16"/>
          <p:cNvSpPr txBox="1"/>
          <p:nvPr/>
        </p:nvSpPr>
        <p:spPr>
          <a:xfrm>
            <a:off x="5577840" y="2441448"/>
            <a:ext cx="6355080" cy="347472"/>
          </a:xfrm>
          <a:prstGeom prst="rect">
            <a:avLst/>
          </a:prstGeom>
          <a:noFill/>
        </p:spPr>
        <p:txBody>
          <a:bodyPr wrap="square">
            <a:spAutoFit/>
          </a:bodyPr>
          <a:lstStyle/>
          <a:p>
            <a:pPr algn="l">
              <a:defRPr sz="1000" b="0">
                <a:solidFill>
                  <a:srgbClr val="1E293B"/>
                </a:solidFill>
              </a:defRPr>
            </a:pPr>
            <a:r>
              <a:t>Master accounts: industry, tier, 6sense profile fit, annual revenue</a:t>
            </a:r>
          </a:p>
        </p:txBody>
      </p:sp>
      <p:sp>
        <p:nvSpPr>
          <p:cNvPr id="18" name="TextBox 17"/>
          <p:cNvSpPr txBox="1"/>
          <p:nvPr/>
        </p:nvSpPr>
        <p:spPr>
          <a:xfrm>
            <a:off x="274320" y="2834640"/>
            <a:ext cx="3474720" cy="347472"/>
          </a:xfrm>
          <a:prstGeom prst="rect">
            <a:avLst/>
          </a:prstGeom>
          <a:noFill/>
        </p:spPr>
        <p:txBody>
          <a:bodyPr wrap="square">
            <a:spAutoFit/>
          </a:bodyPr>
          <a:lstStyle/>
          <a:p>
            <a:pPr algn="l">
              <a:defRPr sz="1050" b="1">
                <a:solidFill>
                  <a:srgbClr val="1E293B"/>
                </a:solidFill>
              </a:defRPr>
            </a:pPr>
            <a:r>
              <a:t>&gt; Opportunity Log</a:t>
            </a:r>
          </a:p>
        </p:txBody>
      </p:sp>
      <p:sp>
        <p:nvSpPr>
          <p:cNvPr id="19" name="TextBox 18"/>
          <p:cNvSpPr txBox="1"/>
          <p:nvPr/>
        </p:nvSpPr>
        <p:spPr>
          <a:xfrm>
            <a:off x="3749039" y="2834640"/>
            <a:ext cx="1828800" cy="347472"/>
          </a:xfrm>
          <a:prstGeom prst="rect">
            <a:avLst/>
          </a:prstGeom>
          <a:noFill/>
        </p:spPr>
        <p:txBody>
          <a:bodyPr wrap="square">
            <a:spAutoFit/>
          </a:bodyPr>
          <a:lstStyle/>
          <a:p>
            <a:pPr algn="l">
              <a:defRPr sz="1000" b="0">
                <a:solidFill>
                  <a:srgbClr val="64748B"/>
                </a:solidFill>
              </a:defRPr>
            </a:pPr>
            <a:r>
              <a:t>16,421 -&gt; 3,288 unique</a:t>
            </a:r>
          </a:p>
        </p:txBody>
      </p:sp>
      <p:sp>
        <p:nvSpPr>
          <p:cNvPr id="20" name="TextBox 19"/>
          <p:cNvSpPr txBox="1"/>
          <p:nvPr/>
        </p:nvSpPr>
        <p:spPr>
          <a:xfrm>
            <a:off x="5577840" y="2834640"/>
            <a:ext cx="6355080" cy="347472"/>
          </a:xfrm>
          <a:prstGeom prst="rect">
            <a:avLst/>
          </a:prstGeom>
          <a:noFill/>
        </p:spPr>
        <p:txBody>
          <a:bodyPr wrap="square">
            <a:spAutoFit/>
          </a:bodyPr>
          <a:lstStyle/>
          <a:p>
            <a:pPr algn="l">
              <a:defRPr sz="1000" b="0">
                <a:solidFill>
                  <a:srgbClr val="1E293B"/>
                </a:solidFill>
              </a:defRPr>
            </a:pPr>
            <a:r>
              <a:t>$176.6M pipeline — deduplicated by latest stage snapshot per deal</a:t>
            </a:r>
          </a:p>
        </p:txBody>
      </p:sp>
      <p:sp>
        <p:nvSpPr>
          <p:cNvPr id="21" name="TextBox 20"/>
          <p:cNvSpPr txBox="1"/>
          <p:nvPr/>
        </p:nvSpPr>
        <p:spPr>
          <a:xfrm>
            <a:off x="274320" y="3227832"/>
            <a:ext cx="3474720" cy="347472"/>
          </a:xfrm>
          <a:prstGeom prst="rect">
            <a:avLst/>
          </a:prstGeom>
          <a:noFill/>
        </p:spPr>
        <p:txBody>
          <a:bodyPr wrap="square">
            <a:spAutoFit/>
          </a:bodyPr>
          <a:lstStyle/>
          <a:p>
            <a:pPr algn="l">
              <a:defRPr sz="1050" b="1">
                <a:solidFill>
                  <a:srgbClr val="1E293B"/>
                </a:solidFill>
              </a:defRPr>
            </a:pPr>
            <a:r>
              <a:t>&gt; ICP Database</a:t>
            </a:r>
          </a:p>
        </p:txBody>
      </p:sp>
      <p:sp>
        <p:nvSpPr>
          <p:cNvPr id="22" name="TextBox 21"/>
          <p:cNvSpPr txBox="1"/>
          <p:nvPr/>
        </p:nvSpPr>
        <p:spPr>
          <a:xfrm>
            <a:off x="3749039" y="3227832"/>
            <a:ext cx="1828800" cy="347472"/>
          </a:xfrm>
          <a:prstGeom prst="rect">
            <a:avLst/>
          </a:prstGeom>
          <a:noFill/>
        </p:spPr>
        <p:txBody>
          <a:bodyPr wrap="square">
            <a:spAutoFit/>
          </a:bodyPr>
          <a:lstStyle/>
          <a:p>
            <a:pPr algn="l">
              <a:defRPr sz="1000" b="0">
                <a:solidFill>
                  <a:srgbClr val="64748B"/>
                </a:solidFill>
              </a:defRPr>
            </a:pPr>
            <a:r>
              <a:t>37,207 rows</a:t>
            </a:r>
          </a:p>
        </p:txBody>
      </p:sp>
      <p:sp>
        <p:nvSpPr>
          <p:cNvPr id="23" name="TextBox 22"/>
          <p:cNvSpPr txBox="1"/>
          <p:nvPr/>
        </p:nvSpPr>
        <p:spPr>
          <a:xfrm>
            <a:off x="5577840" y="3227832"/>
            <a:ext cx="6355080" cy="347472"/>
          </a:xfrm>
          <a:prstGeom prst="rect">
            <a:avLst/>
          </a:prstGeom>
          <a:noFill/>
        </p:spPr>
        <p:txBody>
          <a:bodyPr wrap="square">
            <a:spAutoFit/>
          </a:bodyPr>
          <a:lstStyle/>
          <a:p>
            <a:pPr algn="l">
              <a:defRPr sz="1000" b="0">
                <a:solidFill>
                  <a:srgbClr val="1E293B"/>
                </a:solidFill>
              </a:defRPr>
            </a:pPr>
            <a:r>
              <a:t>Prospects by seniority, lifecycle, company — 347 free-email records removed</a:t>
            </a:r>
          </a:p>
        </p:txBody>
      </p:sp>
      <p:sp>
        <p:nvSpPr>
          <p:cNvPr id="24" name="TextBox 23"/>
          <p:cNvSpPr txBox="1"/>
          <p:nvPr/>
        </p:nvSpPr>
        <p:spPr>
          <a:xfrm>
            <a:off x="274320" y="3621024"/>
            <a:ext cx="3474720" cy="347472"/>
          </a:xfrm>
          <a:prstGeom prst="rect">
            <a:avLst/>
          </a:prstGeom>
          <a:noFill/>
        </p:spPr>
        <p:txBody>
          <a:bodyPr wrap="square">
            <a:spAutoFit/>
          </a:bodyPr>
          <a:lstStyle/>
          <a:p>
            <a:pPr algn="l">
              <a:defRPr sz="1050" b="1">
                <a:solidFill>
                  <a:srgbClr val="1E293B"/>
                </a:solidFill>
              </a:defRPr>
            </a:pPr>
            <a:r>
              <a:t>&gt; 6sense Segments</a:t>
            </a:r>
          </a:p>
        </p:txBody>
      </p:sp>
      <p:sp>
        <p:nvSpPr>
          <p:cNvPr id="25" name="TextBox 24"/>
          <p:cNvSpPr txBox="1"/>
          <p:nvPr/>
        </p:nvSpPr>
        <p:spPr>
          <a:xfrm>
            <a:off x="3749039" y="3621024"/>
            <a:ext cx="1828800" cy="347472"/>
          </a:xfrm>
          <a:prstGeom prst="rect">
            <a:avLst/>
          </a:prstGeom>
          <a:noFill/>
        </p:spPr>
        <p:txBody>
          <a:bodyPr wrap="square">
            <a:spAutoFit/>
          </a:bodyPr>
          <a:lstStyle/>
          <a:p>
            <a:pPr algn="l">
              <a:defRPr sz="1000" b="0">
                <a:solidFill>
                  <a:srgbClr val="64748B"/>
                </a:solidFill>
              </a:defRPr>
            </a:pPr>
            <a:r>
              <a:t>7,934 rows</a:t>
            </a:r>
          </a:p>
        </p:txBody>
      </p:sp>
      <p:sp>
        <p:nvSpPr>
          <p:cNvPr id="26" name="TextBox 25"/>
          <p:cNvSpPr txBox="1"/>
          <p:nvPr/>
        </p:nvSpPr>
        <p:spPr>
          <a:xfrm>
            <a:off x="5577840" y="3621024"/>
            <a:ext cx="6355080" cy="347472"/>
          </a:xfrm>
          <a:prstGeom prst="rect">
            <a:avLst/>
          </a:prstGeom>
          <a:noFill/>
        </p:spPr>
        <p:txBody>
          <a:bodyPr wrap="square">
            <a:spAutoFit/>
          </a:bodyPr>
          <a:lstStyle/>
          <a:p>
            <a:pPr algn="l">
              <a:defRPr sz="1000" b="0">
                <a:solidFill>
                  <a:srgbClr val="1E293B"/>
                </a:solidFill>
              </a:defRPr>
            </a:pPr>
            <a:r>
              <a:t>Account segmentation and buying-stage classifications</a:t>
            </a:r>
          </a:p>
        </p:txBody>
      </p:sp>
      <p:sp>
        <p:nvSpPr>
          <p:cNvPr id="27" name="Rectangle 26"/>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The 8 data sources used and how they connect. All datasets link via company domain (e.g. 'microsoft.com'). HOW TO READ: Row = one dataset. Size column shows scale. Description shows what marketing question each dataset answers. INSIGHT: The opportunity log had 16,421 rows but only 3,288 unique deals — the rest were changelog snapshots. Deduplication to the latest state per deal was critical before any analysis. Web data has 36K sessions but only 330 have a matched company domain — 99% are anonymous visitors, a data quality gap to address.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Attribution Methodology</a:t>
            </a:r>
          </a:p>
          <a:p>
            <a:pPr>
              <a:defRPr sz="1100">
                <a:solidFill>
                  <a:srgbClr val="64748B"/>
                </a:solidFill>
              </a:defRPr>
            </a:pPr>
            <a:r>
              <a:t>Six models applied to measure marketing's contribution at every level</a:t>
            </a:r>
          </a:p>
        </p:txBody>
      </p:sp>
      <p:sp>
        <p:nvSpPr>
          <p:cNvPr id="3" name="Rectangle 2"/>
          <p:cNvSpPr/>
          <p:nvPr/>
        </p:nvSpPr>
        <p:spPr>
          <a:xfrm>
            <a:off x="228600" y="822960"/>
            <a:ext cx="5806440" cy="150876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38328" y="877824"/>
            <a:ext cx="5577840" cy="274320"/>
          </a:xfrm>
          <a:prstGeom prst="rect">
            <a:avLst/>
          </a:prstGeom>
          <a:noFill/>
        </p:spPr>
        <p:txBody>
          <a:bodyPr wrap="square">
            <a:spAutoFit/>
          </a:bodyPr>
          <a:lstStyle/>
          <a:p>
            <a:pPr algn="l">
              <a:defRPr sz="1100" b="1">
                <a:solidFill>
                  <a:srgbClr val="2563EB"/>
                </a:solidFill>
              </a:defRPr>
            </a:pPr>
            <a:r>
              <a:t>Marketing Sourced</a:t>
            </a:r>
          </a:p>
        </p:txBody>
      </p:sp>
      <p:sp>
        <p:nvSpPr>
          <p:cNvPr id="5" name="TextBox 4"/>
          <p:cNvSpPr txBox="1"/>
          <p:nvPr/>
        </p:nvSpPr>
        <p:spPr>
          <a:xfrm>
            <a:off x="338328" y="1124712"/>
            <a:ext cx="5577840" cy="1170432"/>
          </a:xfrm>
          <a:prstGeom prst="rect">
            <a:avLst/>
          </a:prstGeom>
          <a:noFill/>
        </p:spPr>
        <p:txBody>
          <a:bodyPr wrap="square">
            <a:spAutoFit/>
          </a:bodyPr>
          <a:lstStyle/>
          <a:p>
            <a:pPr algn="l">
              <a:defRPr sz="950" b="0">
                <a:solidFill>
                  <a:srgbClr val="1E293B"/>
                </a:solidFill>
              </a:defRPr>
            </a:pPr>
            <a:r>
              <a:t>Opps where CRM lead source = marketing channel.</a:t>
            </a:r>
            <a:br/>
            <a:r>
              <a:t>Answers: What did marketing originate?</a:t>
            </a:r>
            <a:br/>
            <a:r>
              <a:t>Use: Board reporting, team accountability.</a:t>
            </a:r>
          </a:p>
        </p:txBody>
      </p:sp>
      <p:sp>
        <p:nvSpPr>
          <p:cNvPr id="6" name="Rectangle 5"/>
          <p:cNvSpPr/>
          <p:nvPr/>
        </p:nvSpPr>
        <p:spPr>
          <a:xfrm>
            <a:off x="6217920" y="822960"/>
            <a:ext cx="5806440" cy="150876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7648" y="877824"/>
            <a:ext cx="5577840" cy="274320"/>
          </a:xfrm>
          <a:prstGeom prst="rect">
            <a:avLst/>
          </a:prstGeom>
          <a:noFill/>
        </p:spPr>
        <p:txBody>
          <a:bodyPr wrap="square">
            <a:spAutoFit/>
          </a:bodyPr>
          <a:lstStyle/>
          <a:p>
            <a:pPr algn="l">
              <a:defRPr sz="1100" b="1">
                <a:solidFill>
                  <a:srgbClr val="10B981"/>
                </a:solidFill>
              </a:defRPr>
            </a:pPr>
            <a:r>
              <a:t>Marketing Influenced</a:t>
            </a:r>
          </a:p>
        </p:txBody>
      </p:sp>
      <p:sp>
        <p:nvSpPr>
          <p:cNvPr id="8" name="TextBox 7"/>
          <p:cNvSpPr txBox="1"/>
          <p:nvPr/>
        </p:nvSpPr>
        <p:spPr>
          <a:xfrm>
            <a:off x="6327648" y="1124712"/>
            <a:ext cx="5577840" cy="1170432"/>
          </a:xfrm>
          <a:prstGeom prst="rect">
            <a:avLst/>
          </a:prstGeom>
          <a:noFill/>
        </p:spPr>
        <p:txBody>
          <a:bodyPr wrap="square">
            <a:spAutoFit/>
          </a:bodyPr>
          <a:lstStyle/>
          <a:p>
            <a:pPr algn="l">
              <a:defRPr sz="950" b="0">
                <a:solidFill>
                  <a:srgbClr val="1E293B"/>
                </a:solidFill>
              </a:defRPr>
            </a:pPr>
            <a:r>
              <a:t>Opps for accounts with ANY marketing touchpoint (365-day window) before deal creation.</a:t>
            </a:r>
            <a:br/>
            <a:r>
              <a:t>Answers: How many deals did marketing touch?</a:t>
            </a:r>
            <a:br/>
            <a:r>
              <a:t>Use: Proving broader contribution.</a:t>
            </a:r>
          </a:p>
        </p:txBody>
      </p:sp>
      <p:sp>
        <p:nvSpPr>
          <p:cNvPr id="9" name="Rectangle 8"/>
          <p:cNvSpPr/>
          <p:nvPr/>
        </p:nvSpPr>
        <p:spPr>
          <a:xfrm>
            <a:off x="228600" y="2468880"/>
            <a:ext cx="5806440" cy="150876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2523744"/>
            <a:ext cx="5577840" cy="274320"/>
          </a:xfrm>
          <a:prstGeom prst="rect">
            <a:avLst/>
          </a:prstGeom>
          <a:noFill/>
        </p:spPr>
        <p:txBody>
          <a:bodyPr wrap="square">
            <a:spAutoFit/>
          </a:bodyPr>
          <a:lstStyle/>
          <a:p>
            <a:pPr algn="l">
              <a:defRPr sz="1100" b="1">
                <a:solidFill>
                  <a:srgbClr val="F59E0B"/>
                </a:solidFill>
              </a:defRPr>
            </a:pPr>
            <a:r>
              <a:t>First-Touch</a:t>
            </a:r>
          </a:p>
        </p:txBody>
      </p:sp>
      <p:sp>
        <p:nvSpPr>
          <p:cNvPr id="11" name="TextBox 10"/>
          <p:cNvSpPr txBox="1"/>
          <p:nvPr/>
        </p:nvSpPr>
        <p:spPr>
          <a:xfrm>
            <a:off x="338328" y="2770632"/>
            <a:ext cx="5577840" cy="1170432"/>
          </a:xfrm>
          <a:prstGeom prst="rect">
            <a:avLst/>
          </a:prstGeom>
          <a:noFill/>
        </p:spPr>
        <p:txBody>
          <a:bodyPr wrap="square">
            <a:spAutoFit/>
          </a:bodyPr>
          <a:lstStyle/>
          <a:p>
            <a:pPr algn="l">
              <a:defRPr sz="950" b="0">
                <a:solidFill>
                  <a:srgbClr val="1E293B"/>
                </a:solidFill>
              </a:defRPr>
            </a:pPr>
            <a:r>
              <a:t>100% credit to the EARLIEST touchpoint.</a:t>
            </a:r>
            <a:br/>
            <a:r>
              <a:t>Answers: What created initial awareness?</a:t>
            </a:r>
            <a:br/>
            <a:r>
              <a:t>Use: Top-of-funnel budget decisions.</a:t>
            </a:r>
          </a:p>
        </p:txBody>
      </p:sp>
      <p:sp>
        <p:nvSpPr>
          <p:cNvPr id="12" name="Rectangle 11"/>
          <p:cNvSpPr/>
          <p:nvPr/>
        </p:nvSpPr>
        <p:spPr>
          <a:xfrm>
            <a:off x="6217920" y="2468880"/>
            <a:ext cx="5806440" cy="1508760"/>
          </a:xfrm>
          <a:prstGeom prst="rect">
            <a:avLst/>
          </a:prstGeom>
          <a:solidFill>
            <a:srgbClr val="EFF6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2523744"/>
            <a:ext cx="5577840" cy="274320"/>
          </a:xfrm>
          <a:prstGeom prst="rect">
            <a:avLst/>
          </a:prstGeom>
          <a:noFill/>
        </p:spPr>
        <p:txBody>
          <a:bodyPr wrap="square">
            <a:spAutoFit/>
          </a:bodyPr>
          <a:lstStyle/>
          <a:p>
            <a:pPr algn="l">
              <a:defRPr sz="1100" b="1">
                <a:solidFill>
                  <a:srgbClr val="EF4444"/>
                </a:solidFill>
              </a:defRPr>
            </a:pPr>
            <a:r>
              <a:t>Last-Touch</a:t>
            </a:r>
          </a:p>
        </p:txBody>
      </p:sp>
      <p:sp>
        <p:nvSpPr>
          <p:cNvPr id="14" name="TextBox 13"/>
          <p:cNvSpPr txBox="1"/>
          <p:nvPr/>
        </p:nvSpPr>
        <p:spPr>
          <a:xfrm>
            <a:off x="6327648" y="2770632"/>
            <a:ext cx="5577840" cy="1170432"/>
          </a:xfrm>
          <a:prstGeom prst="rect">
            <a:avLst/>
          </a:prstGeom>
          <a:noFill/>
        </p:spPr>
        <p:txBody>
          <a:bodyPr wrap="square">
            <a:spAutoFit/>
          </a:bodyPr>
          <a:lstStyle/>
          <a:p>
            <a:pPr algn="l">
              <a:defRPr sz="950" b="0">
                <a:solidFill>
                  <a:srgbClr val="1E293B"/>
                </a:solidFill>
              </a:defRPr>
            </a:pPr>
            <a:r>
              <a:t>100% credit to the MOST RECENT touchpoint before deal creation.</a:t>
            </a:r>
            <a:br/>
            <a:r>
              <a:t>Answers: What triggered conversion?</a:t>
            </a:r>
            <a:br/>
            <a:r>
              <a:t>Use: Understanding what closes deals.</a:t>
            </a:r>
          </a:p>
        </p:txBody>
      </p:sp>
      <p:sp>
        <p:nvSpPr>
          <p:cNvPr id="15" name="Rectangle 14"/>
          <p:cNvSpPr/>
          <p:nvPr/>
        </p:nvSpPr>
        <p:spPr>
          <a:xfrm>
            <a:off x="228600" y="4114800"/>
            <a:ext cx="5806440" cy="150876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 y="4169664"/>
            <a:ext cx="5577840" cy="274320"/>
          </a:xfrm>
          <a:prstGeom prst="rect">
            <a:avLst/>
          </a:prstGeom>
          <a:noFill/>
        </p:spPr>
        <p:txBody>
          <a:bodyPr wrap="square">
            <a:spAutoFit/>
          </a:bodyPr>
          <a:lstStyle/>
          <a:p>
            <a:pPr algn="l">
              <a:defRPr sz="1100" b="1">
                <a:solidFill>
                  <a:srgbClr val="8B5CF6"/>
                </a:solidFill>
              </a:defRPr>
            </a:pPr>
            <a:r>
              <a:t>Linear</a:t>
            </a:r>
          </a:p>
        </p:txBody>
      </p:sp>
      <p:sp>
        <p:nvSpPr>
          <p:cNvPr id="17" name="TextBox 16"/>
          <p:cNvSpPr txBox="1"/>
          <p:nvPr/>
        </p:nvSpPr>
        <p:spPr>
          <a:xfrm>
            <a:off x="338328" y="4416552"/>
            <a:ext cx="5577840" cy="1170432"/>
          </a:xfrm>
          <a:prstGeom prst="rect">
            <a:avLst/>
          </a:prstGeom>
          <a:noFill/>
        </p:spPr>
        <p:txBody>
          <a:bodyPr wrap="square">
            <a:spAutoFit/>
          </a:bodyPr>
          <a:lstStyle/>
          <a:p>
            <a:pPr algn="l">
              <a:defRPr sz="950" b="0">
                <a:solidFill>
                  <a:srgbClr val="1E293B"/>
                </a:solidFill>
              </a:defRPr>
            </a:pPr>
            <a:r>
              <a:t>Equal credit across all unique channels touched.</a:t>
            </a:r>
            <a:br/>
            <a:r>
              <a:t>Answers: Balanced contribution view.</a:t>
            </a:r>
            <a:br/>
            <a:r>
              <a:t>Use: Fair multi-channel budget allocation.</a:t>
            </a:r>
          </a:p>
        </p:txBody>
      </p:sp>
      <p:sp>
        <p:nvSpPr>
          <p:cNvPr id="18" name="Rectangle 17"/>
          <p:cNvSpPr/>
          <p:nvPr/>
        </p:nvSpPr>
        <p:spPr>
          <a:xfrm>
            <a:off x="6217920" y="4114800"/>
            <a:ext cx="5806440" cy="1508760"/>
          </a:xfrm>
          <a:prstGeom prst="rect">
            <a:avLst/>
          </a:prstGeom>
          <a:solidFill>
            <a:srgbClr val="EFF6FF"/>
          </a:solidFill>
          <a:ln w="254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4169664"/>
            <a:ext cx="5577840" cy="274320"/>
          </a:xfrm>
          <a:prstGeom prst="rect">
            <a:avLst/>
          </a:prstGeom>
          <a:noFill/>
        </p:spPr>
        <p:txBody>
          <a:bodyPr wrap="square">
            <a:spAutoFit/>
          </a:bodyPr>
          <a:lstStyle/>
          <a:p>
            <a:pPr algn="l">
              <a:defRPr sz="1100" b="1">
                <a:solidFill>
                  <a:srgbClr val="EC4899"/>
                </a:solidFill>
              </a:defRPr>
            </a:pPr>
            <a:r>
              <a:t>Time-Decay</a:t>
            </a:r>
          </a:p>
        </p:txBody>
      </p:sp>
      <p:sp>
        <p:nvSpPr>
          <p:cNvPr id="20" name="TextBox 19"/>
          <p:cNvSpPr txBox="1"/>
          <p:nvPr/>
        </p:nvSpPr>
        <p:spPr>
          <a:xfrm>
            <a:off x="6327648" y="4416552"/>
            <a:ext cx="5577840" cy="1170432"/>
          </a:xfrm>
          <a:prstGeom prst="rect">
            <a:avLst/>
          </a:prstGeom>
          <a:noFill/>
        </p:spPr>
        <p:txBody>
          <a:bodyPr wrap="square">
            <a:spAutoFit/>
          </a:bodyPr>
          <a:lstStyle/>
          <a:p>
            <a:pPr algn="l">
              <a:defRPr sz="950" b="0">
                <a:solidFill>
                  <a:srgbClr val="1E293B"/>
                </a:solidFill>
              </a:defRPr>
            </a:pPr>
            <a:r>
              <a:t>Exponential weighting (30-day half-life) — recent touchpoints get more credit.</a:t>
            </a:r>
            <a:br/>
            <a:r>
              <a:t>Answers: Which channels drove the final decision?</a:t>
            </a:r>
            <a:br/>
            <a:r>
              <a:t>RECOMMENDED for budget optimization.</a:t>
            </a:r>
          </a:p>
        </p:txBody>
      </p:sp>
      <p:sp>
        <p:nvSpPr>
          <p:cNvPr id="21" name="Rectangle 20"/>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The 6 ways to measure marketing's contribution. Each model answers a different question about which channel deserves credit for a won deal. HOW TO READ: Each box = one model. Top line = model name. Body = what question it answers and when to use it. INSIGHT: There is NO single correct model — the right model depends on the question. For budget decisions, use Time-Decay (most recent touches get most credit) or Linear (equal split). For awareness investment decisions, use First-Touch. For 'what closed the deal?' analysis, use Last-Touch.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Attribution Model Results</a:t>
            </a:r>
          </a:p>
          <a:p>
            <a:pPr>
              <a:defRPr sz="1100">
                <a:solidFill>
                  <a:srgbClr val="64748B"/>
                </a:solidFill>
              </a:defRPr>
            </a:pPr>
            <a:r>
              <a:t>Pipeline credit by channel — compare six models side by side</a:t>
            </a:r>
          </a:p>
        </p:txBody>
      </p:sp>
      <p:pic>
        <p:nvPicPr>
          <p:cNvPr id="3" name="Picture 2" descr="image.png"/>
          <p:cNvPicPr>
            <a:picLocks noChangeAspect="1"/>
          </p:cNvPicPr>
          <p:nvPr/>
        </p:nvPicPr>
        <p:blipFill>
          <a:blip r:embed="rId2"/>
          <a:stretch>
            <a:fillRect/>
          </a:stretch>
        </p:blipFill>
        <p:spPr>
          <a:xfrm>
            <a:off x="228600" y="777240"/>
            <a:ext cx="11750040" cy="4892040"/>
          </a:xfrm>
          <a:prstGeom prst="rect">
            <a:avLst/>
          </a:prstGeom>
        </p:spPr>
      </p:pic>
      <p:sp>
        <p:nvSpPr>
          <p:cNvPr id="4" name="Rectangle 3"/>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For every won deal that had marketing touchpoints (17,702 touchpoints across 3,166 deals), we split the deal's dollar value across channels using each model. HOW TO READ: Each group of bars = one channel. Within the group, each colored bar = how much pipeline credit that channel gets under each model. Email's bar is tallest in First-Touch (starts conversations), 6sense is tallest in Last-Touch and Time-Decay (converts). INSIGHT: A channel that gets less credit in Last-Touch than First-Touch is an awareness channel — it warms up accounts early but isn't active when the deal closes. Budget mix should fund BOTH roles.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Marketing Sourced vs Influenced Pipeline</a:t>
            </a:r>
          </a:p>
          <a:p>
            <a:pPr>
              <a:defRPr sz="1100">
                <a:solidFill>
                  <a:srgbClr val="64748B"/>
                </a:solidFill>
              </a:defRPr>
            </a:pPr>
            <a:r>
              <a:t>Two ways to measure marketing's true contribution</a:t>
            </a:r>
          </a:p>
        </p:txBody>
      </p:sp>
      <p:pic>
        <p:nvPicPr>
          <p:cNvPr id="3" name="Picture 2" descr="image.png"/>
          <p:cNvPicPr>
            <a:picLocks noChangeAspect="1"/>
          </p:cNvPicPr>
          <p:nvPr/>
        </p:nvPicPr>
        <p:blipFill>
          <a:blip r:embed="rId2"/>
          <a:stretch>
            <a:fillRect/>
          </a:stretch>
        </p:blipFill>
        <p:spPr>
          <a:xfrm>
            <a:off x="914400" y="822960"/>
            <a:ext cx="10332720" cy="4754880"/>
          </a:xfrm>
          <a:prstGeom prst="rect">
            <a:avLst/>
          </a:prstGeom>
        </p:spPr>
      </p:pic>
      <p:sp>
        <p:nvSpPr>
          <p:cNvPr id="4" name="Rectangle 3"/>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Two definitions of 'marketing contributed to this deal.' LEFT PIE = Sourced ($4.2M) — the CRM lead source field says marketing. Hard credit. RIGHT PIE = Influenced ($6.5M) — marketing touched this account (any email, ad, or website visit) within 365 days before the deal was created, even if sales officially owns it. HOW TO READ: Bigger slice = more pipeline under that definition. The gap between Sourced and Influenced is marketing's 'shadow credit' — real contribution that doesn't show in CRM reports. INSIGHT: This company's influenced pipeline is 1.5x sourced, meaning marketing reaches many accounts that sales later closes — but marketing doesn't get CRM credit.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Funnel Volumes</a:t>
            </a:r>
          </a:p>
          <a:p>
            <a:pPr>
              <a:defRPr sz="1100">
                <a:solidFill>
                  <a:srgbClr val="64748B"/>
                </a:solidFill>
              </a:defRPr>
            </a:pPr>
            <a:r>
              <a:t>Separate activity channels from opportunity outcomes</a:t>
            </a:r>
          </a:p>
        </p:txBody>
      </p:sp>
      <p:pic>
        <p:nvPicPr>
          <p:cNvPr id="3" name="Picture 2" descr="image.png"/>
          <p:cNvPicPr>
            <a:picLocks noChangeAspect="1"/>
          </p:cNvPicPr>
          <p:nvPr/>
        </p:nvPicPr>
        <p:blipFill>
          <a:blip r:embed="rId2"/>
          <a:stretch>
            <a:fillRect/>
          </a:stretch>
        </p:blipFill>
        <p:spPr>
          <a:xfrm>
            <a:off x="457200" y="868680"/>
            <a:ext cx="8686800" cy="5029200"/>
          </a:xfrm>
          <a:prstGeom prst="rect">
            <a:avLst/>
          </a:prstGeom>
        </p:spPr>
      </p:pic>
      <p:sp>
        <p:nvSpPr>
          <p:cNvPr id="4" name="TextBox 3"/>
          <p:cNvSpPr txBox="1"/>
          <p:nvPr/>
        </p:nvSpPr>
        <p:spPr>
          <a:xfrm>
            <a:off x="9418320" y="1005840"/>
            <a:ext cx="2560320" cy="320040"/>
          </a:xfrm>
          <a:prstGeom prst="rect">
            <a:avLst/>
          </a:prstGeom>
          <a:noFill/>
        </p:spPr>
        <p:txBody>
          <a:bodyPr wrap="square">
            <a:spAutoFit/>
          </a:bodyPr>
          <a:lstStyle/>
          <a:p>
            <a:pPr algn="l">
              <a:defRPr sz="1000" b="1">
                <a:solidFill>
                  <a:srgbClr val="1E293B"/>
                </a:solidFill>
              </a:defRPr>
            </a:pPr>
            <a:r>
              <a:t>Stage Conversion Rates</a:t>
            </a:r>
          </a:p>
        </p:txBody>
      </p:sp>
      <p:sp>
        <p:nvSpPr>
          <p:cNvPr id="5" name="TextBox 4"/>
          <p:cNvSpPr txBox="1"/>
          <p:nvPr/>
        </p:nvSpPr>
        <p:spPr>
          <a:xfrm>
            <a:off x="9418320" y="1371600"/>
            <a:ext cx="2560320" cy="347472"/>
          </a:xfrm>
          <a:prstGeom prst="rect">
            <a:avLst/>
          </a:prstGeom>
          <a:noFill/>
        </p:spPr>
        <p:txBody>
          <a:bodyPr wrap="square">
            <a:spAutoFit/>
          </a:bodyPr>
          <a:lstStyle/>
          <a:p>
            <a:pPr algn="l">
              <a:defRPr sz="900" b="0">
                <a:solidFill>
                  <a:srgbClr val="1E293B"/>
                </a:solidFill>
              </a:defRPr>
            </a:pPr>
            <a:r>
              <a:t>All Opportunity Outc: 32.6%</a:t>
            </a:r>
          </a:p>
        </p:txBody>
      </p:sp>
      <p:sp>
        <p:nvSpPr>
          <p:cNvPr id="6" name="TextBox 5"/>
          <p:cNvSpPr txBox="1"/>
          <p:nvPr/>
        </p:nvSpPr>
        <p:spPr>
          <a:xfrm>
            <a:off x="9418320" y="1737360"/>
            <a:ext cx="2560320" cy="347472"/>
          </a:xfrm>
          <a:prstGeom prst="rect">
            <a:avLst/>
          </a:prstGeom>
          <a:noFill/>
        </p:spPr>
        <p:txBody>
          <a:bodyPr wrap="square">
            <a:spAutoFit/>
          </a:bodyPr>
          <a:lstStyle/>
          <a:p>
            <a:pPr algn="l">
              <a:defRPr sz="900" b="0">
                <a:solidFill>
                  <a:srgbClr val="1E293B"/>
                </a:solidFill>
              </a:defRPr>
            </a:pPr>
            <a:r>
              <a:t>Marketing-Sourced Ou: 10.2%</a:t>
            </a:r>
          </a:p>
        </p:txBody>
      </p:sp>
      <p:sp>
        <p:nvSpPr>
          <p:cNvPr id="7" name="Rectangle 6"/>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Opportunity outcome volume is separated from upstream activity volume so unlike populations are not treated as one continuous funnel. HOW TO READ: Compare all opportunities against marketing-sourced opportunities, then look at closed-won conversion within each population. INSIGHT: This prevents misleading conversion math such as clicks-to-email or engagements-to-deals, which are parallel channel activities rather than sequential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Channel Revenue Attribution</a:t>
            </a:r>
          </a:p>
          <a:p>
            <a:pPr>
              <a:defRPr sz="1100">
                <a:solidFill>
                  <a:srgbClr val="64748B"/>
                </a:solidFill>
              </a:defRPr>
            </a:pPr>
            <a:r>
              <a:t>Which channels drive pipeline — CRM source vs. attribution models</a:t>
            </a:r>
          </a:p>
        </p:txBody>
      </p:sp>
      <p:pic>
        <p:nvPicPr>
          <p:cNvPr id="3" name="Picture 2" descr="image.png"/>
          <p:cNvPicPr>
            <a:picLocks noChangeAspect="1"/>
          </p:cNvPicPr>
          <p:nvPr/>
        </p:nvPicPr>
        <p:blipFill>
          <a:blip r:embed="rId2"/>
          <a:stretch>
            <a:fillRect/>
          </a:stretch>
        </p:blipFill>
        <p:spPr>
          <a:xfrm>
            <a:off x="228600" y="914400"/>
            <a:ext cx="6583680" cy="4937760"/>
          </a:xfrm>
          <a:prstGeom prst="rect">
            <a:avLst/>
          </a:prstGeom>
        </p:spPr>
      </p:pic>
      <p:sp>
        <p:nvSpPr>
          <p:cNvPr id="4" name="TextBox 3"/>
          <p:cNvSpPr txBox="1"/>
          <p:nvPr/>
        </p:nvSpPr>
        <p:spPr>
          <a:xfrm>
            <a:off x="6949440" y="1005840"/>
            <a:ext cx="5029200" cy="365760"/>
          </a:xfrm>
          <a:prstGeom prst="rect">
            <a:avLst/>
          </a:prstGeom>
          <a:noFill/>
        </p:spPr>
        <p:txBody>
          <a:bodyPr wrap="square">
            <a:spAutoFit/>
          </a:bodyPr>
          <a:lstStyle/>
          <a:p>
            <a:pPr algn="l">
              <a:defRPr sz="950" b="1">
                <a:solidFill>
                  <a:srgbClr val="1E293B"/>
                </a:solidFill>
              </a:defRPr>
            </a:pPr>
            <a:r>
              <a:t>Channel  |  Deals  |  Win%  |  Avg Deal  |  ROI</a:t>
            </a:r>
          </a:p>
        </p:txBody>
      </p:sp>
      <p:sp>
        <p:nvSpPr>
          <p:cNvPr id="5" name="TextBox 4"/>
          <p:cNvSpPr txBox="1"/>
          <p:nvPr/>
        </p:nvSpPr>
        <p:spPr>
          <a:xfrm>
            <a:off x="6949440" y="1389888"/>
            <a:ext cx="5029200" cy="347472"/>
          </a:xfrm>
          <a:prstGeom prst="rect">
            <a:avLst/>
          </a:prstGeom>
          <a:noFill/>
        </p:spPr>
        <p:txBody>
          <a:bodyPr wrap="square">
            <a:spAutoFit/>
          </a:bodyPr>
          <a:lstStyle/>
          <a:p>
            <a:pPr algn="l">
              <a:defRPr sz="950" b="0">
                <a:solidFill>
                  <a:srgbClr val="1E293B"/>
                </a:solidFill>
              </a:defRPr>
            </a:pPr>
            <a:r>
              <a:t>other  |  1120  |  17%  |  $13K  |  —</a:t>
            </a:r>
          </a:p>
        </p:txBody>
      </p:sp>
      <p:sp>
        <p:nvSpPr>
          <p:cNvPr id="6" name="TextBox 5"/>
          <p:cNvSpPr txBox="1"/>
          <p:nvPr/>
        </p:nvSpPr>
        <p:spPr>
          <a:xfrm>
            <a:off x="6949440" y="1755648"/>
            <a:ext cx="5029200" cy="347472"/>
          </a:xfrm>
          <a:prstGeom prst="rect">
            <a:avLst/>
          </a:prstGeom>
          <a:noFill/>
        </p:spPr>
        <p:txBody>
          <a:bodyPr wrap="square">
            <a:spAutoFit/>
          </a:bodyPr>
          <a:lstStyle/>
          <a:p>
            <a:pPr algn="l">
              <a:defRPr sz="950" b="0">
                <a:solidFill>
                  <a:srgbClr val="1E293B"/>
                </a:solidFill>
              </a:defRPr>
            </a:pPr>
            <a:r>
              <a:t>existing_client  |  1366  |  54%  |  $2K  |  —</a:t>
            </a:r>
          </a:p>
        </p:txBody>
      </p:sp>
      <p:sp>
        <p:nvSpPr>
          <p:cNvPr id="7" name="TextBox 6"/>
          <p:cNvSpPr txBox="1"/>
          <p:nvPr/>
        </p:nvSpPr>
        <p:spPr>
          <a:xfrm>
            <a:off x="6949440" y="2121408"/>
            <a:ext cx="5029200" cy="347472"/>
          </a:xfrm>
          <a:prstGeom prst="rect">
            <a:avLst/>
          </a:prstGeom>
          <a:noFill/>
        </p:spPr>
        <p:txBody>
          <a:bodyPr wrap="square">
            <a:spAutoFit/>
          </a:bodyPr>
          <a:lstStyle/>
          <a:p>
            <a:pPr algn="l">
              <a:defRPr sz="950" b="0">
                <a:solidFill>
                  <a:srgbClr val="1E293B"/>
                </a:solidFill>
              </a:defRPr>
            </a:pPr>
            <a:r>
              <a:t>referral  |  291  |  29%  |  $10K  |  —</a:t>
            </a:r>
          </a:p>
        </p:txBody>
      </p:sp>
      <p:sp>
        <p:nvSpPr>
          <p:cNvPr id="8" name="TextBox 7"/>
          <p:cNvSpPr txBox="1"/>
          <p:nvPr/>
        </p:nvSpPr>
        <p:spPr>
          <a:xfrm>
            <a:off x="6949440" y="2487168"/>
            <a:ext cx="5029200" cy="347472"/>
          </a:xfrm>
          <a:prstGeom prst="rect">
            <a:avLst/>
          </a:prstGeom>
          <a:noFill/>
        </p:spPr>
        <p:txBody>
          <a:bodyPr wrap="square">
            <a:spAutoFit/>
          </a:bodyPr>
          <a:lstStyle/>
          <a:p>
            <a:pPr algn="l">
              <a:defRPr sz="950" b="0">
                <a:solidFill>
                  <a:srgbClr val="1E293B"/>
                </a:solidFill>
              </a:defRPr>
            </a:pPr>
            <a:r>
              <a:t>6sense_channel  |  116  |  12%  |  $13K  |  —</a:t>
            </a:r>
          </a:p>
        </p:txBody>
      </p:sp>
      <p:sp>
        <p:nvSpPr>
          <p:cNvPr id="9" name="TextBox 8"/>
          <p:cNvSpPr txBox="1"/>
          <p:nvPr/>
        </p:nvSpPr>
        <p:spPr>
          <a:xfrm>
            <a:off x="6949440" y="2852928"/>
            <a:ext cx="5029200" cy="347472"/>
          </a:xfrm>
          <a:prstGeom prst="rect">
            <a:avLst/>
          </a:prstGeom>
          <a:noFill/>
        </p:spPr>
        <p:txBody>
          <a:bodyPr wrap="square">
            <a:spAutoFit/>
          </a:bodyPr>
          <a:lstStyle/>
          <a:p>
            <a:pPr algn="l">
              <a:defRPr sz="950" b="0">
                <a:solidFill>
                  <a:srgbClr val="1E293B"/>
                </a:solidFill>
              </a:defRPr>
            </a:pPr>
            <a:r>
              <a:t>web_inbound  |  119  |  20%  |  $9K  |  —</a:t>
            </a:r>
          </a:p>
        </p:txBody>
      </p:sp>
      <p:sp>
        <p:nvSpPr>
          <p:cNvPr id="10" name="TextBox 9"/>
          <p:cNvSpPr txBox="1"/>
          <p:nvPr/>
        </p:nvSpPr>
        <p:spPr>
          <a:xfrm>
            <a:off x="6949440" y="3218688"/>
            <a:ext cx="5029200" cy="347472"/>
          </a:xfrm>
          <a:prstGeom prst="rect">
            <a:avLst/>
          </a:prstGeom>
          <a:noFill/>
        </p:spPr>
        <p:txBody>
          <a:bodyPr wrap="square">
            <a:spAutoFit/>
          </a:bodyPr>
          <a:lstStyle/>
          <a:p>
            <a:pPr algn="l">
              <a:defRPr sz="950" b="0">
                <a:solidFill>
                  <a:srgbClr val="1E293B"/>
                </a:solidFill>
              </a:defRPr>
            </a:pPr>
            <a:r>
              <a:t>event  |  44  |  11%  |  $15K  |  —</a:t>
            </a:r>
          </a:p>
        </p:txBody>
      </p:sp>
      <p:sp>
        <p:nvSpPr>
          <p:cNvPr id="11" name="TextBox 10"/>
          <p:cNvSpPr txBox="1"/>
          <p:nvPr/>
        </p:nvSpPr>
        <p:spPr>
          <a:xfrm>
            <a:off x="6949440" y="3584448"/>
            <a:ext cx="5029200" cy="347472"/>
          </a:xfrm>
          <a:prstGeom prst="rect">
            <a:avLst/>
          </a:prstGeom>
          <a:noFill/>
        </p:spPr>
        <p:txBody>
          <a:bodyPr wrap="square">
            <a:spAutoFit/>
          </a:bodyPr>
          <a:lstStyle/>
          <a:p>
            <a:pPr algn="l">
              <a:defRPr sz="950" b="0">
                <a:solidFill>
                  <a:srgbClr val="1E293B"/>
                </a:solidFill>
              </a:defRPr>
            </a:pPr>
            <a:r>
              <a:t>6sense_event  |  41  |  12%  |  $15K  |  —</a:t>
            </a:r>
          </a:p>
        </p:txBody>
      </p:sp>
      <p:sp>
        <p:nvSpPr>
          <p:cNvPr id="12" name="TextBox 11"/>
          <p:cNvSpPr txBox="1"/>
          <p:nvPr/>
        </p:nvSpPr>
        <p:spPr>
          <a:xfrm>
            <a:off x="6949440" y="3950208"/>
            <a:ext cx="5029200" cy="347472"/>
          </a:xfrm>
          <a:prstGeom prst="rect">
            <a:avLst/>
          </a:prstGeom>
          <a:noFill/>
        </p:spPr>
        <p:txBody>
          <a:bodyPr wrap="square">
            <a:spAutoFit/>
          </a:bodyPr>
          <a:lstStyle/>
          <a:p>
            <a:pPr algn="l">
              <a:defRPr sz="950" b="0">
                <a:solidFill>
                  <a:srgbClr val="1E293B"/>
                </a:solidFill>
              </a:defRPr>
            </a:pPr>
            <a:r>
              <a:t>email_mqa  |  92  |  0%  |  $992  |  —</a:t>
            </a:r>
          </a:p>
        </p:txBody>
      </p:sp>
      <p:sp>
        <p:nvSpPr>
          <p:cNvPr id="13" name="TextBox 12"/>
          <p:cNvSpPr txBox="1"/>
          <p:nvPr/>
        </p:nvSpPr>
        <p:spPr>
          <a:xfrm>
            <a:off x="6949440" y="4315968"/>
            <a:ext cx="5029200" cy="347472"/>
          </a:xfrm>
          <a:prstGeom prst="rect">
            <a:avLst/>
          </a:prstGeom>
          <a:noFill/>
        </p:spPr>
        <p:txBody>
          <a:bodyPr wrap="square">
            <a:spAutoFit/>
          </a:bodyPr>
          <a:lstStyle/>
          <a:p>
            <a:pPr algn="l">
              <a:defRPr sz="950" b="0">
                <a:solidFill>
                  <a:srgbClr val="1E293B"/>
                </a:solidFill>
              </a:defRPr>
            </a:pPr>
            <a:r>
              <a:t>6sense_display  |  90  |  1%  |  $989  |  0.1x</a:t>
            </a:r>
          </a:p>
        </p:txBody>
      </p:sp>
      <p:sp>
        <p:nvSpPr>
          <p:cNvPr id="14" name="TextBox 13"/>
          <p:cNvSpPr txBox="1"/>
          <p:nvPr/>
        </p:nvSpPr>
        <p:spPr>
          <a:xfrm>
            <a:off x="6949440" y="4681728"/>
            <a:ext cx="5029200" cy="347472"/>
          </a:xfrm>
          <a:prstGeom prst="rect">
            <a:avLst/>
          </a:prstGeom>
          <a:noFill/>
        </p:spPr>
        <p:txBody>
          <a:bodyPr wrap="square">
            <a:spAutoFit/>
          </a:bodyPr>
          <a:lstStyle/>
          <a:p>
            <a:pPr algn="l">
              <a:defRPr sz="950" b="0">
                <a:solidFill>
                  <a:srgbClr val="1E293B"/>
                </a:solidFill>
              </a:defRPr>
            </a:pPr>
            <a:r>
              <a:t>webinar  |  7  |  29%  |  $6K  |  —</a:t>
            </a:r>
          </a:p>
        </p:txBody>
      </p:sp>
      <p:sp>
        <p:nvSpPr>
          <p:cNvPr id="15" name="Rectangle 14"/>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Pipeline by channel based on the CRM 'Lead Source' field — this is single-touch attribution (the channel that gets 100% of the credit in the CRM). The table on the right shows win rate and ROI. HOW TO READ: Longer bar = more pipeline traced to that channel. The table's Win Rate column is critical — a channel can have high pipeline but low win rate, meaning deals are being created but not closing. INSIGHT: Existing Client (54% win rate) and Referral (29% win rate) close far better than marketing-sourced channels (10-12%). This is expected — referrals and expansions come in pre-sold. Compare this chart to the attribution slides: channels small here may have big influenced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6sense Display Performance</a:t>
            </a:r>
          </a:p>
          <a:p>
            <a:pPr>
              <a:defRPr sz="1100">
                <a:solidFill>
                  <a:srgbClr val="64748B"/>
                </a:solidFill>
              </a:defRPr>
            </a:pPr>
            <a:r>
              <a:t>ABM paid advertising — impression-to-pipeline analysis</a:t>
            </a:r>
          </a:p>
        </p:txBody>
      </p:sp>
      <p:sp>
        <p:nvSpPr>
          <p:cNvPr id="3" name="Rectangle 2"/>
          <p:cNvSpPr/>
          <p:nvPr/>
        </p:nvSpPr>
        <p:spPr>
          <a:xfrm>
            <a:off x="228600" y="77724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Total Spend</a:t>
            </a:r>
          </a:p>
          <a:p>
            <a:pPr algn="ctr">
              <a:defRPr sz="1700" b="1">
                <a:solidFill>
                  <a:srgbClr val="2563EB"/>
                </a:solidFill>
              </a:defRPr>
            </a:pPr>
            <a:r>
              <a:t>$291K</a:t>
            </a:r>
          </a:p>
        </p:txBody>
      </p:sp>
      <p:sp>
        <p:nvSpPr>
          <p:cNvPr id="4" name="Rectangle 3"/>
          <p:cNvSpPr/>
          <p:nvPr/>
        </p:nvSpPr>
        <p:spPr>
          <a:xfrm>
            <a:off x="4206240" y="777240"/>
            <a:ext cx="2651760" cy="960120"/>
          </a:xfrm>
          <a:prstGeom prst="rect">
            <a:avLst/>
          </a:prstGeom>
          <a:solidFill>
            <a:srgbClr val="EFF6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Impressions</a:t>
            </a:r>
          </a:p>
          <a:p>
            <a:pPr algn="ctr">
              <a:defRPr sz="1700" b="1">
                <a:solidFill>
                  <a:srgbClr val="1E293B"/>
                </a:solidFill>
              </a:defRPr>
            </a:pPr>
            <a:r>
              <a:t>31,124,390</a:t>
            </a:r>
          </a:p>
        </p:txBody>
      </p:sp>
      <p:sp>
        <p:nvSpPr>
          <p:cNvPr id="5" name="Rectangle 4"/>
          <p:cNvSpPr/>
          <p:nvPr/>
        </p:nvSpPr>
        <p:spPr>
          <a:xfrm>
            <a:off x="8183879" y="777240"/>
            <a:ext cx="2651760" cy="96012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Clicks</a:t>
            </a:r>
          </a:p>
          <a:p>
            <a:pPr algn="ctr">
              <a:defRPr sz="1700" b="1">
                <a:solidFill>
                  <a:srgbClr val="F59E0B"/>
                </a:solidFill>
              </a:defRPr>
            </a:pPr>
            <a:r>
              <a:t>13,886</a:t>
            </a:r>
          </a:p>
        </p:txBody>
      </p:sp>
      <p:sp>
        <p:nvSpPr>
          <p:cNvPr id="6" name="Rectangle 5"/>
          <p:cNvSpPr/>
          <p:nvPr/>
        </p:nvSpPr>
        <p:spPr>
          <a:xfrm>
            <a:off x="228600" y="1874519"/>
            <a:ext cx="2651760" cy="96012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Form Fills</a:t>
            </a:r>
          </a:p>
          <a:p>
            <a:pPr algn="ctr">
              <a:defRPr sz="1700" b="1">
                <a:solidFill>
                  <a:srgbClr val="10B981"/>
                </a:solidFill>
              </a:defRPr>
            </a:pPr>
            <a:r>
              <a:t>117</a:t>
            </a:r>
          </a:p>
        </p:txBody>
      </p:sp>
      <p:sp>
        <p:nvSpPr>
          <p:cNvPr id="7" name="Rectangle 6"/>
          <p:cNvSpPr/>
          <p:nvPr/>
        </p:nvSpPr>
        <p:spPr>
          <a:xfrm>
            <a:off x="4206240" y="1874519"/>
            <a:ext cx="2651760" cy="96012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CTR</a:t>
            </a:r>
          </a:p>
          <a:p>
            <a:pPr algn="ctr">
              <a:defRPr sz="1700" b="1">
                <a:solidFill>
                  <a:srgbClr val="8B5CF6"/>
                </a:solidFill>
              </a:defRPr>
            </a:pPr>
            <a:r>
              <a:t>0.045%</a:t>
            </a:r>
          </a:p>
        </p:txBody>
      </p:sp>
      <p:sp>
        <p:nvSpPr>
          <p:cNvPr id="8" name="Rectangle 7"/>
          <p:cNvSpPr/>
          <p:nvPr/>
        </p:nvSpPr>
        <p:spPr>
          <a:xfrm>
            <a:off x="8183879" y="1874519"/>
            <a:ext cx="2651760" cy="960120"/>
          </a:xfrm>
          <a:prstGeom prst="rect">
            <a:avLst/>
          </a:prstGeom>
          <a:solidFill>
            <a:srgbClr val="EFF6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Cost/Form Fill</a:t>
            </a:r>
          </a:p>
          <a:p>
            <a:pPr algn="ctr">
              <a:defRPr sz="1700" b="1">
                <a:solidFill>
                  <a:srgbClr val="EF4444"/>
                </a:solidFill>
              </a:defRPr>
            </a:pPr>
            <a:r>
              <a:t>$2K</a:t>
            </a:r>
          </a:p>
        </p:txBody>
      </p:sp>
      <p:pic>
        <p:nvPicPr>
          <p:cNvPr id="9" name="Picture 8" descr="image.png"/>
          <p:cNvPicPr>
            <a:picLocks noChangeAspect="1"/>
          </p:cNvPicPr>
          <p:nvPr/>
        </p:nvPicPr>
        <p:blipFill>
          <a:blip r:embed="rId2"/>
          <a:stretch>
            <a:fillRect/>
          </a:stretch>
        </p:blipFill>
        <p:spPr>
          <a:xfrm>
            <a:off x="274320" y="3017520"/>
            <a:ext cx="6858000" cy="3200400"/>
          </a:xfrm>
          <a:prstGeom prst="rect">
            <a:avLst/>
          </a:prstGeom>
        </p:spPr>
      </p:pic>
      <p:sp>
        <p:nvSpPr>
          <p:cNvPr id="10" name="Rectangle 9"/>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6sense is a B2B advertising platform that uses AI to identify which companies are actively researching your product category. You pay to show banner ads to people at those companies across the web. HOW TO READ: KPI cards = volume metrics. Monthly chart = when spend and impressions happened. INSIGHT: $290K in 6sense ABM spend generated 31,124,390 impressions at target accounts. CTR of 0.05% is in-line with B2B display benchmarks (goal is brand recall, not clicks). Only 117 form fills — but in Last-Touch attribution, 6sense gets $3.3M credit, meaning it was the last marketing touch for many deals that closed. It warms up accounts so when sales calls, they already recognize the brand.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Email Marketing Performance</a:t>
            </a:r>
          </a:p>
          <a:p>
            <a:pPr>
              <a:defRPr sz="1100">
                <a:solidFill>
                  <a:srgbClr val="64748B"/>
                </a:solidFill>
              </a:defRPr>
            </a:pPr>
            <a:r>
              <a:t>Top-of-funnel awareness driver — engagement by seniority and quarter</a:t>
            </a:r>
          </a:p>
        </p:txBody>
      </p:sp>
      <p:sp>
        <p:nvSpPr>
          <p:cNvPr id="3" name="Rectangle 2"/>
          <p:cNvSpPr/>
          <p:nvPr/>
        </p:nvSpPr>
        <p:spPr>
          <a:xfrm>
            <a:off x="228600" y="77724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Engagements</a:t>
            </a:r>
          </a:p>
          <a:p>
            <a:pPr algn="ctr">
              <a:defRPr sz="1700" b="1">
                <a:solidFill>
                  <a:srgbClr val="2563EB"/>
                </a:solidFill>
              </a:defRPr>
            </a:pPr>
            <a:r>
              <a:t>17,130</a:t>
            </a:r>
          </a:p>
        </p:txBody>
      </p:sp>
      <p:sp>
        <p:nvSpPr>
          <p:cNvPr id="4" name="Rectangle 3"/>
          <p:cNvSpPr/>
          <p:nvPr/>
        </p:nvSpPr>
        <p:spPr>
          <a:xfrm>
            <a:off x="3200400" y="777240"/>
            <a:ext cx="2651760" cy="96012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Open Rate</a:t>
            </a:r>
          </a:p>
          <a:p>
            <a:pPr algn="ctr">
              <a:defRPr sz="1700" b="1">
                <a:solidFill>
                  <a:srgbClr val="10B981"/>
                </a:solidFill>
              </a:defRPr>
            </a:pPr>
            <a:r>
              <a:t>94.7%</a:t>
            </a:r>
          </a:p>
        </p:txBody>
      </p:sp>
      <p:sp>
        <p:nvSpPr>
          <p:cNvPr id="5" name="Rectangle 4"/>
          <p:cNvSpPr/>
          <p:nvPr/>
        </p:nvSpPr>
        <p:spPr>
          <a:xfrm>
            <a:off x="6172200" y="777240"/>
            <a:ext cx="2651760" cy="96012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Click Rate</a:t>
            </a:r>
          </a:p>
          <a:p>
            <a:pPr algn="ctr">
              <a:defRPr sz="1700" b="1">
                <a:solidFill>
                  <a:srgbClr val="F59E0B"/>
                </a:solidFill>
              </a:defRPr>
            </a:pPr>
            <a:r>
              <a:t>4.5%</a:t>
            </a:r>
          </a:p>
        </p:txBody>
      </p:sp>
      <p:sp>
        <p:nvSpPr>
          <p:cNvPr id="6" name="Rectangle 5"/>
          <p:cNvSpPr/>
          <p:nvPr/>
        </p:nvSpPr>
        <p:spPr>
          <a:xfrm>
            <a:off x="9144000" y="777240"/>
            <a:ext cx="2651760" cy="96012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Register Rate</a:t>
            </a:r>
          </a:p>
          <a:p>
            <a:pPr algn="ctr">
              <a:defRPr sz="1700" b="1">
                <a:solidFill>
                  <a:srgbClr val="8B5CF6"/>
                </a:solidFill>
              </a:defRPr>
            </a:pPr>
            <a:r>
              <a:t>0.9%</a:t>
            </a:r>
          </a:p>
        </p:txBody>
      </p:sp>
      <p:pic>
        <p:nvPicPr>
          <p:cNvPr id="7" name="Picture 6" descr="image.png"/>
          <p:cNvPicPr>
            <a:picLocks noChangeAspect="1"/>
          </p:cNvPicPr>
          <p:nvPr/>
        </p:nvPicPr>
        <p:blipFill>
          <a:blip r:embed="rId2"/>
          <a:stretch>
            <a:fillRect/>
          </a:stretch>
        </p:blipFill>
        <p:spPr>
          <a:xfrm>
            <a:off x="274320" y="1920240"/>
            <a:ext cx="5943600" cy="3840480"/>
          </a:xfrm>
          <a:prstGeom prst="rect">
            <a:avLst/>
          </a:prstGeom>
        </p:spPr>
      </p:pic>
      <p:pic>
        <p:nvPicPr>
          <p:cNvPr id="8" name="Picture 7" descr="image.png"/>
          <p:cNvPicPr>
            <a:picLocks noChangeAspect="1"/>
          </p:cNvPicPr>
          <p:nvPr/>
        </p:nvPicPr>
        <p:blipFill>
          <a:blip r:embed="rId3"/>
          <a:stretch>
            <a:fillRect/>
          </a:stretch>
        </p:blipFill>
        <p:spPr>
          <a:xfrm>
            <a:off x="6492240" y="1920240"/>
            <a:ext cx="5486400" cy="3840480"/>
          </a:xfrm>
          <a:prstGeom prst="rect">
            <a:avLst/>
          </a:prstGeom>
        </p:spPr>
      </p:pic>
      <p:sp>
        <p:nvSpPr>
          <p:cNvPr id="9" name="Rectangle 8"/>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How the email program performs — total engagements, open/click rates, and which job levels respond best. HOW TO READ: Open Rate = % of sent emails that were opened (subject line + sender reputation). Click Rate = % who clicked a link inside (content quality + relevance). Seniority chart = which job levels are most engaged. INSIGHT: Email is the #1 First-Touch channel ($4.0M attributed) — it starts conversations with target accounts. The seniority breakdown tells you who to prioritize: the seniority with highest click rate is your most responsive audience. A high open rate but low click rate means good subject lines but weak email body content — fix the content, not the subject 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Web Engagement Analysis</a:t>
            </a:r>
          </a:p>
          <a:p>
            <a:pPr>
              <a:defRPr sz="1100">
                <a:solidFill>
                  <a:srgbClr val="64748B"/>
                </a:solidFill>
              </a:defRPr>
            </a:pPr>
            <a:r>
              <a:t>Website sessions, traffic attribution, and identified account activity</a:t>
            </a:r>
          </a:p>
        </p:txBody>
      </p:sp>
      <p:sp>
        <p:nvSpPr>
          <p:cNvPr id="3" name="Rectangle 2"/>
          <p:cNvSpPr/>
          <p:nvPr/>
        </p:nvSpPr>
        <p:spPr>
          <a:xfrm>
            <a:off x="228600" y="77724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Total Sessions</a:t>
            </a:r>
          </a:p>
          <a:p>
            <a:pPr algn="ctr">
              <a:defRPr sz="1700" b="1">
                <a:solidFill>
                  <a:srgbClr val="2563EB"/>
                </a:solidFill>
              </a:defRPr>
            </a:pPr>
            <a:r>
              <a:t>36,931</a:t>
            </a:r>
          </a:p>
        </p:txBody>
      </p:sp>
      <p:sp>
        <p:nvSpPr>
          <p:cNvPr id="4" name="Rectangle 3"/>
          <p:cNvSpPr/>
          <p:nvPr/>
        </p:nvSpPr>
        <p:spPr>
          <a:xfrm>
            <a:off x="3200400" y="777240"/>
            <a:ext cx="2651760" cy="96012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Goal Completions</a:t>
            </a:r>
          </a:p>
          <a:p>
            <a:pPr algn="ctr">
              <a:defRPr sz="1700" b="1">
                <a:solidFill>
                  <a:srgbClr val="10B981"/>
                </a:solidFill>
              </a:defRPr>
            </a:pPr>
            <a:r>
              <a:t>1,169</a:t>
            </a:r>
          </a:p>
        </p:txBody>
      </p:sp>
      <p:sp>
        <p:nvSpPr>
          <p:cNvPr id="5" name="Rectangle 4"/>
          <p:cNvSpPr/>
          <p:nvPr/>
        </p:nvSpPr>
        <p:spPr>
          <a:xfrm>
            <a:off x="6172200" y="777240"/>
            <a:ext cx="2651760" cy="96012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Identified Accounts</a:t>
            </a:r>
          </a:p>
          <a:p>
            <a:pPr algn="ctr">
              <a:defRPr sz="1700" b="1">
                <a:solidFill>
                  <a:srgbClr val="F59E0B"/>
                </a:solidFill>
              </a:defRPr>
            </a:pPr>
            <a:r>
              <a:t>330</a:t>
            </a:r>
          </a:p>
        </p:txBody>
      </p:sp>
      <p:sp>
        <p:nvSpPr>
          <p:cNvPr id="6" name="Rectangle 5"/>
          <p:cNvSpPr/>
          <p:nvPr/>
        </p:nvSpPr>
        <p:spPr>
          <a:xfrm>
            <a:off x="9144000" y="777240"/>
            <a:ext cx="2651760" cy="96012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6sense Traffic</a:t>
            </a:r>
          </a:p>
          <a:p>
            <a:pPr algn="ctr">
              <a:defRPr sz="1700" b="1">
                <a:solidFill>
                  <a:srgbClr val="8B5CF6"/>
                </a:solidFill>
              </a:defRPr>
            </a:pPr>
            <a:r>
              <a:t>837</a:t>
            </a:r>
          </a:p>
        </p:txBody>
      </p:sp>
      <p:pic>
        <p:nvPicPr>
          <p:cNvPr id="7" name="Picture 6" descr="image.png"/>
          <p:cNvPicPr>
            <a:picLocks noChangeAspect="1"/>
          </p:cNvPicPr>
          <p:nvPr/>
        </p:nvPicPr>
        <p:blipFill>
          <a:blip r:embed="rId2"/>
          <a:stretch>
            <a:fillRect/>
          </a:stretch>
        </p:blipFill>
        <p:spPr>
          <a:xfrm>
            <a:off x="457200" y="1920240"/>
            <a:ext cx="5486400" cy="3931920"/>
          </a:xfrm>
          <a:prstGeom prst="rect">
            <a:avLst/>
          </a:prstGeom>
        </p:spPr>
      </p:pic>
      <p:sp>
        <p:nvSpPr>
          <p:cNvPr id="8" name="Rectangle 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Website traffic volume, where visitors came from (UTM source), and how many completed a meaningful action (goal completion = demo request, contact form, etc.). HOW TO READ: Traffic source pie = which channel drove visitors. Goal Completions = the most important web conversion metric — these are people who raised their hand. INSIGHT: 36,931 sessions but only 330 have a matched company domain (0.9%) — most web traffic is anonymous. Goal completions (1,169) are the best signal. Web_inbound as a lead source (119 deals, $1.1M pipeline) is the clean signal — these are people who found the website and eventually became deals, meaning the website is working for organic/inbound traffic.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Ad Creative Insights</a:t>
            </a:r>
          </a:p>
          <a:p>
            <a:pPr>
              <a:defRPr sz="1100">
                <a:solidFill>
                  <a:srgbClr val="64748B"/>
                </a:solidFill>
              </a:defRPr>
            </a:pPr>
            <a:r>
              <a:t>Which messaging, tone, and format drives the highest CTR?</a:t>
            </a:r>
          </a:p>
        </p:txBody>
      </p:sp>
      <p:pic>
        <p:nvPicPr>
          <p:cNvPr id="3" name="Picture 2" descr="image.png"/>
          <p:cNvPicPr>
            <a:picLocks noChangeAspect="1"/>
          </p:cNvPicPr>
          <p:nvPr/>
        </p:nvPicPr>
        <p:blipFill>
          <a:blip r:embed="rId2"/>
          <a:stretch>
            <a:fillRect/>
          </a:stretch>
        </p:blipFill>
        <p:spPr>
          <a:xfrm>
            <a:off x="228600" y="822960"/>
            <a:ext cx="6400800" cy="5029200"/>
          </a:xfrm>
          <a:prstGeom prst="rect">
            <a:avLst/>
          </a:prstGeom>
        </p:spPr>
      </p:pic>
      <p:pic>
        <p:nvPicPr>
          <p:cNvPr id="4" name="Picture 3" descr="image.png"/>
          <p:cNvPicPr>
            <a:picLocks noChangeAspect="1"/>
          </p:cNvPicPr>
          <p:nvPr/>
        </p:nvPicPr>
        <p:blipFill>
          <a:blip r:embed="rId3"/>
          <a:stretch>
            <a:fillRect/>
          </a:stretch>
        </p:blipFill>
        <p:spPr>
          <a:xfrm>
            <a:off x="6858000" y="914400"/>
            <a:ext cx="5120640" cy="4846320"/>
          </a:xfrm>
          <a:prstGeom prst="rect">
            <a:avLst/>
          </a:prstGeom>
        </p:spPr>
      </p:pic>
      <p:sp>
        <p:nvSpPr>
          <p:cNvPr id="5" name="Rectangle 4"/>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Which individual ad creatives (left chart) and which creative attributes — tone, asset type, or CTA style (right chart) — produce the highest CTR. HOW TO READ: CTR = clicks divided by impressions. Higher bar = more people clicked that ad relative to how many saw it. Left = top individual ads. Right = grouped by a shared attribute (e.g., all 'Direct Tone' ads averaged together). INSIGHT: The right chart is more actionable for creative strategy — it tells you whether to brief future ads as 'direct tone' or 'inspirational tone,' what asset type works best, and whether soft ('Learn More') or hard ('Request Demo') CTAs drive more clicks at this audience's stage.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Segment &amp; ICP Analysis</a:t>
            </a:r>
          </a:p>
          <a:p>
            <a:pPr>
              <a:defRPr sz="1100">
                <a:solidFill>
                  <a:srgbClr val="64748B"/>
                </a:solidFill>
              </a:defRPr>
            </a:pPr>
            <a:r>
              <a:t>Which accounts and personas convert best — targeting precision</a:t>
            </a:r>
          </a:p>
        </p:txBody>
      </p:sp>
      <p:pic>
        <p:nvPicPr>
          <p:cNvPr id="3" name="Picture 2" descr="image.png"/>
          <p:cNvPicPr>
            <a:picLocks noChangeAspect="1"/>
          </p:cNvPicPr>
          <p:nvPr/>
        </p:nvPicPr>
        <p:blipFill>
          <a:blip r:embed="rId2"/>
          <a:stretch>
            <a:fillRect/>
          </a:stretch>
        </p:blipFill>
        <p:spPr>
          <a:xfrm>
            <a:off x="228600" y="914400"/>
            <a:ext cx="8686800" cy="4754880"/>
          </a:xfrm>
          <a:prstGeom prst="rect">
            <a:avLst/>
          </a:prstGeom>
        </p:spPr>
      </p:pic>
      <p:sp>
        <p:nvSpPr>
          <p:cNvPr id="4" name="TextBox 3"/>
          <p:cNvSpPr txBox="1"/>
          <p:nvPr/>
        </p:nvSpPr>
        <p:spPr>
          <a:xfrm>
            <a:off x="9144000" y="1188720"/>
            <a:ext cx="2834640" cy="320040"/>
          </a:xfrm>
          <a:prstGeom prst="rect">
            <a:avLst/>
          </a:prstGeom>
          <a:noFill/>
        </p:spPr>
        <p:txBody>
          <a:bodyPr wrap="square">
            <a:spAutoFit/>
          </a:bodyPr>
          <a:lstStyle/>
          <a:p>
            <a:pPr algn="l">
              <a:defRPr sz="1000" b="1">
                <a:solidFill>
                  <a:srgbClr val="1E293B"/>
                </a:solidFill>
              </a:defRPr>
            </a:pPr>
            <a:r>
              <a:t>ICP Contacts by Seniority:</a:t>
            </a:r>
          </a:p>
        </p:txBody>
      </p:sp>
      <p:sp>
        <p:nvSpPr>
          <p:cNvPr id="5" name="TextBox 4"/>
          <p:cNvSpPr txBox="1"/>
          <p:nvPr/>
        </p:nvSpPr>
        <p:spPr>
          <a:xfrm>
            <a:off x="9144000" y="1536192"/>
            <a:ext cx="2834640" cy="292608"/>
          </a:xfrm>
          <a:prstGeom prst="rect">
            <a:avLst/>
          </a:prstGeom>
          <a:noFill/>
        </p:spPr>
        <p:txBody>
          <a:bodyPr wrap="square">
            <a:spAutoFit/>
          </a:bodyPr>
          <a:lstStyle/>
          <a:p>
            <a:pPr algn="l">
              <a:defRPr sz="1000" b="0">
                <a:solidFill>
                  <a:srgbClr val="1E293B"/>
                </a:solidFill>
              </a:defRPr>
            </a:pPr>
            <a:r>
              <a:t>  C-Level: 9,872</a:t>
            </a:r>
          </a:p>
        </p:txBody>
      </p:sp>
      <p:sp>
        <p:nvSpPr>
          <p:cNvPr id="6" name="TextBox 5"/>
          <p:cNvSpPr txBox="1"/>
          <p:nvPr/>
        </p:nvSpPr>
        <p:spPr>
          <a:xfrm>
            <a:off x="9144000" y="1837944"/>
            <a:ext cx="2834640" cy="292608"/>
          </a:xfrm>
          <a:prstGeom prst="rect">
            <a:avLst/>
          </a:prstGeom>
          <a:noFill/>
        </p:spPr>
        <p:txBody>
          <a:bodyPr wrap="square">
            <a:spAutoFit/>
          </a:bodyPr>
          <a:lstStyle/>
          <a:p>
            <a:pPr algn="l">
              <a:defRPr sz="1000" b="0">
                <a:solidFill>
                  <a:srgbClr val="1E293B"/>
                </a:solidFill>
              </a:defRPr>
            </a:pPr>
            <a:r>
              <a:t>  Director: 8,606</a:t>
            </a:r>
          </a:p>
        </p:txBody>
      </p:sp>
      <p:sp>
        <p:nvSpPr>
          <p:cNvPr id="7" name="TextBox 6"/>
          <p:cNvSpPr txBox="1"/>
          <p:nvPr/>
        </p:nvSpPr>
        <p:spPr>
          <a:xfrm>
            <a:off x="9144000" y="2139696"/>
            <a:ext cx="2834640" cy="292608"/>
          </a:xfrm>
          <a:prstGeom prst="rect">
            <a:avLst/>
          </a:prstGeom>
          <a:noFill/>
        </p:spPr>
        <p:txBody>
          <a:bodyPr wrap="square">
            <a:spAutoFit/>
          </a:bodyPr>
          <a:lstStyle/>
          <a:p>
            <a:pPr algn="l">
              <a:defRPr sz="1000" b="0">
                <a:solidFill>
                  <a:srgbClr val="1E293B"/>
                </a:solidFill>
              </a:defRPr>
            </a:pPr>
            <a:r>
              <a:t>  VP: 7,746</a:t>
            </a:r>
          </a:p>
        </p:txBody>
      </p:sp>
      <p:sp>
        <p:nvSpPr>
          <p:cNvPr id="8" name="TextBox 7"/>
          <p:cNvSpPr txBox="1"/>
          <p:nvPr/>
        </p:nvSpPr>
        <p:spPr>
          <a:xfrm>
            <a:off x="9144000" y="2441448"/>
            <a:ext cx="2834640" cy="292608"/>
          </a:xfrm>
          <a:prstGeom prst="rect">
            <a:avLst/>
          </a:prstGeom>
          <a:noFill/>
        </p:spPr>
        <p:txBody>
          <a:bodyPr wrap="square">
            <a:spAutoFit/>
          </a:bodyPr>
          <a:lstStyle/>
          <a:p>
            <a:pPr algn="l">
              <a:defRPr sz="1000" b="0">
                <a:solidFill>
                  <a:srgbClr val="1E293B"/>
                </a:solidFill>
              </a:defRPr>
            </a:pPr>
            <a:r>
              <a:t>  Manager: 5,353</a:t>
            </a:r>
          </a:p>
        </p:txBody>
      </p:sp>
      <p:sp>
        <p:nvSpPr>
          <p:cNvPr id="9" name="TextBox 8"/>
          <p:cNvSpPr txBox="1"/>
          <p:nvPr/>
        </p:nvSpPr>
        <p:spPr>
          <a:xfrm>
            <a:off x="9144000" y="2743200"/>
            <a:ext cx="2834640" cy="292608"/>
          </a:xfrm>
          <a:prstGeom prst="rect">
            <a:avLst/>
          </a:prstGeom>
          <a:noFill/>
        </p:spPr>
        <p:txBody>
          <a:bodyPr wrap="square">
            <a:spAutoFit/>
          </a:bodyPr>
          <a:lstStyle/>
          <a:p>
            <a:pPr algn="l">
              <a:defRPr sz="1000" b="0">
                <a:solidFill>
                  <a:srgbClr val="1E293B"/>
                </a:solidFill>
              </a:defRPr>
            </a:pPr>
            <a:r>
              <a:t>  Unknown: 3,710</a:t>
            </a:r>
          </a:p>
        </p:txBody>
      </p:sp>
      <p:sp>
        <p:nvSpPr>
          <p:cNvPr id="10" name="TextBox 9"/>
          <p:cNvSpPr txBox="1"/>
          <p:nvPr/>
        </p:nvSpPr>
        <p:spPr>
          <a:xfrm>
            <a:off x="9144000" y="3044952"/>
            <a:ext cx="2834640" cy="292608"/>
          </a:xfrm>
          <a:prstGeom prst="rect">
            <a:avLst/>
          </a:prstGeom>
          <a:noFill/>
        </p:spPr>
        <p:txBody>
          <a:bodyPr wrap="square">
            <a:spAutoFit/>
          </a:bodyPr>
          <a:lstStyle/>
          <a:p>
            <a:pPr algn="l">
              <a:defRPr sz="1000" b="0">
                <a:solidFill>
                  <a:srgbClr val="1E293B"/>
                </a:solidFill>
              </a:defRPr>
            </a:pPr>
            <a:r>
              <a:t>  Senior VP: 1,440</a:t>
            </a:r>
          </a:p>
        </p:txBody>
      </p:sp>
      <p:sp>
        <p:nvSpPr>
          <p:cNvPr id="11" name="TextBox 10"/>
          <p:cNvSpPr txBox="1"/>
          <p:nvPr/>
        </p:nvSpPr>
        <p:spPr>
          <a:xfrm>
            <a:off x="9144000" y="3346704"/>
            <a:ext cx="2834640" cy="292608"/>
          </a:xfrm>
          <a:prstGeom prst="rect">
            <a:avLst/>
          </a:prstGeom>
          <a:noFill/>
        </p:spPr>
        <p:txBody>
          <a:bodyPr wrap="square">
            <a:spAutoFit/>
          </a:bodyPr>
          <a:lstStyle/>
          <a:p>
            <a:pPr algn="l">
              <a:defRPr sz="1000" b="0">
                <a:solidFill>
                  <a:srgbClr val="1E293B"/>
                </a:solidFill>
              </a:defRPr>
            </a:pPr>
            <a:r>
              <a:t>  Non-Manager: 133</a:t>
            </a:r>
          </a:p>
        </p:txBody>
      </p:sp>
      <p:sp>
        <p:nvSpPr>
          <p:cNvPr id="12" name="Rectangle 11"/>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Win rate (% of deals that close) and average deal size across different account segments. The ICP contact list on the right shows the seniority breakdown of all contacts at target accounts. HOW TO READ: Left chart = ideal segments have BOTH a high win rate AND a high average deal size. Those are your best targeting zones. INSIGHT: In ABM, you want to find segments where the combination of win rate x deal size is highest — that's the math of where to spend budget. The seniority breakdown tells you who your contacts ARE at target accounts (not how they respond — that's the email chart).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Pipeline Health</a:t>
            </a:r>
          </a:p>
          <a:p>
            <a:pPr>
              <a:defRPr sz="1100">
                <a:solidFill>
                  <a:srgbClr val="64748B"/>
                </a:solidFill>
              </a:defRPr>
            </a:pPr>
            <a:r>
              <a:t>Stage distribution, segment concentration, and loss analysis</a:t>
            </a:r>
          </a:p>
        </p:txBody>
      </p:sp>
      <p:pic>
        <p:nvPicPr>
          <p:cNvPr id="3" name="Picture 2" descr="image.png"/>
          <p:cNvPicPr>
            <a:picLocks noChangeAspect="1"/>
          </p:cNvPicPr>
          <p:nvPr/>
        </p:nvPicPr>
        <p:blipFill>
          <a:blip r:embed="rId2"/>
          <a:stretch>
            <a:fillRect/>
          </a:stretch>
        </p:blipFill>
        <p:spPr>
          <a:xfrm>
            <a:off x="228600" y="914400"/>
            <a:ext cx="7315200" cy="4937760"/>
          </a:xfrm>
          <a:prstGeom prst="rect">
            <a:avLst/>
          </a:prstGeom>
        </p:spPr>
      </p:pic>
      <p:sp>
        <p:nvSpPr>
          <p:cNvPr id="4" name="TextBox 3"/>
          <p:cNvSpPr txBox="1"/>
          <p:nvPr/>
        </p:nvSpPr>
        <p:spPr>
          <a:xfrm>
            <a:off x="7772400" y="1005840"/>
            <a:ext cx="4206240" cy="320040"/>
          </a:xfrm>
          <a:prstGeom prst="rect">
            <a:avLst/>
          </a:prstGeom>
          <a:noFill/>
        </p:spPr>
        <p:txBody>
          <a:bodyPr wrap="square">
            <a:spAutoFit/>
          </a:bodyPr>
          <a:lstStyle/>
          <a:p>
            <a:pPr algn="l">
              <a:defRPr sz="1000" b="1">
                <a:solidFill>
                  <a:srgbClr val="1E293B"/>
                </a:solidFill>
              </a:defRPr>
            </a:pPr>
            <a:r>
              <a:t>Pipeline by Segment:</a:t>
            </a:r>
          </a:p>
        </p:txBody>
      </p:sp>
      <p:sp>
        <p:nvSpPr>
          <p:cNvPr id="5" name="TextBox 4"/>
          <p:cNvSpPr txBox="1"/>
          <p:nvPr/>
        </p:nvSpPr>
        <p:spPr>
          <a:xfrm>
            <a:off x="7772400" y="1353312"/>
            <a:ext cx="4206240" cy="292608"/>
          </a:xfrm>
          <a:prstGeom prst="rect">
            <a:avLst/>
          </a:prstGeom>
          <a:noFill/>
        </p:spPr>
        <p:txBody>
          <a:bodyPr wrap="square">
            <a:spAutoFit/>
          </a:bodyPr>
          <a:lstStyle/>
          <a:p>
            <a:pPr algn="l">
              <a:defRPr sz="1000" b="0">
                <a:solidFill>
                  <a:srgbClr val="1E293B"/>
                </a:solidFill>
              </a:defRPr>
            </a:pPr>
            <a:r>
              <a:t>  Enterprise: $14.6M</a:t>
            </a:r>
          </a:p>
        </p:txBody>
      </p:sp>
      <p:sp>
        <p:nvSpPr>
          <p:cNvPr id="6" name="TextBox 5"/>
          <p:cNvSpPr txBox="1"/>
          <p:nvPr/>
        </p:nvSpPr>
        <p:spPr>
          <a:xfrm>
            <a:off x="7772400" y="1655064"/>
            <a:ext cx="4206240" cy="292608"/>
          </a:xfrm>
          <a:prstGeom prst="rect">
            <a:avLst/>
          </a:prstGeom>
          <a:noFill/>
        </p:spPr>
        <p:txBody>
          <a:bodyPr wrap="square">
            <a:spAutoFit/>
          </a:bodyPr>
          <a:lstStyle/>
          <a:p>
            <a:pPr algn="l">
              <a:defRPr sz="1000" b="0">
                <a:solidFill>
                  <a:srgbClr val="1E293B"/>
                </a:solidFill>
              </a:defRPr>
            </a:pPr>
            <a:r>
              <a:t>  Commercial: $6.0M</a:t>
            </a:r>
          </a:p>
        </p:txBody>
      </p:sp>
      <p:sp>
        <p:nvSpPr>
          <p:cNvPr id="7" name="TextBox 6"/>
          <p:cNvSpPr txBox="1"/>
          <p:nvPr/>
        </p:nvSpPr>
        <p:spPr>
          <a:xfrm>
            <a:off x="7772400" y="1956816"/>
            <a:ext cx="4206240" cy="292608"/>
          </a:xfrm>
          <a:prstGeom prst="rect">
            <a:avLst/>
          </a:prstGeom>
          <a:noFill/>
        </p:spPr>
        <p:txBody>
          <a:bodyPr wrap="square">
            <a:spAutoFit/>
          </a:bodyPr>
          <a:lstStyle/>
          <a:p>
            <a:pPr algn="l">
              <a:defRPr sz="1000" b="0">
                <a:solidFill>
                  <a:srgbClr val="1E293B"/>
                </a:solidFill>
              </a:defRPr>
            </a:pPr>
            <a:r>
              <a:t>  Mid: $3.2M</a:t>
            </a:r>
          </a:p>
        </p:txBody>
      </p:sp>
      <p:sp>
        <p:nvSpPr>
          <p:cNvPr id="8" name="Rectangle 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Where deals currently sit in the sales funnel (by stage) and which segments hold the most open pipeline. HOW TO READ: Longer bar in left chart = more dollar value of deals stuck at that stage. Deals in early stages (Qualify/Discover) are high quantity but may not close. Deals in late stages (Negotiate/Commit) are smaller in number but much more likely to close. INSIGHT: This is the 'health check' of the pipeline. If most pipeline is in early stages, marketing needs to do more nurturing to advance deals. If late-stage pipeline is thin, there may be a prospecting gap. Lost reasons (right side) directly inform what marketing content to create to address objections.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Account Intent &amp; 6sense Profile Fit</a:t>
            </a:r>
          </a:p>
          <a:p>
            <a:pPr>
              <a:defRPr sz="1100">
                <a:solidFill>
                  <a:srgbClr val="64748B"/>
                </a:solidFill>
              </a:defRPr>
            </a:pPr>
            <a:r>
              <a:t>ABM targeting precision — right accounts, right time</a:t>
            </a:r>
          </a:p>
        </p:txBody>
      </p:sp>
      <p:pic>
        <p:nvPicPr>
          <p:cNvPr id="3" name="Picture 2" descr="image.png"/>
          <p:cNvPicPr>
            <a:picLocks noChangeAspect="1"/>
          </p:cNvPicPr>
          <p:nvPr/>
        </p:nvPicPr>
        <p:blipFill>
          <a:blip r:embed="rId2"/>
          <a:stretch>
            <a:fillRect/>
          </a:stretch>
        </p:blipFill>
        <p:spPr>
          <a:xfrm>
            <a:off x="457200" y="1005840"/>
            <a:ext cx="5486400" cy="4572000"/>
          </a:xfrm>
          <a:prstGeom prst="rect">
            <a:avLst/>
          </a:prstGeom>
        </p:spPr>
      </p:pic>
      <p:sp>
        <p:nvSpPr>
          <p:cNvPr id="4" name="TextBox 3"/>
          <p:cNvSpPr txBox="1"/>
          <p:nvPr/>
        </p:nvSpPr>
        <p:spPr>
          <a:xfrm>
            <a:off x="6400800" y="1097280"/>
            <a:ext cx="5577840" cy="320040"/>
          </a:xfrm>
          <a:prstGeom prst="rect">
            <a:avLst/>
          </a:prstGeom>
          <a:noFill/>
        </p:spPr>
        <p:txBody>
          <a:bodyPr wrap="square">
            <a:spAutoFit/>
          </a:bodyPr>
          <a:lstStyle/>
          <a:p>
            <a:pPr algn="l">
              <a:defRPr sz="1050" b="1">
                <a:solidFill>
                  <a:srgbClr val="2563EB"/>
                </a:solidFill>
              </a:defRPr>
            </a:pPr>
            <a:r>
              <a:t>Strategic Implications:</a:t>
            </a:r>
          </a:p>
        </p:txBody>
      </p:sp>
      <p:sp>
        <p:nvSpPr>
          <p:cNvPr id="5" name="TextBox 4"/>
          <p:cNvSpPr txBox="1"/>
          <p:nvPr/>
        </p:nvSpPr>
        <p:spPr>
          <a:xfrm>
            <a:off x="6400800" y="1508760"/>
            <a:ext cx="5577840" cy="502920"/>
          </a:xfrm>
          <a:prstGeom prst="rect">
            <a:avLst/>
          </a:prstGeom>
          <a:noFill/>
        </p:spPr>
        <p:txBody>
          <a:bodyPr wrap="square">
            <a:spAutoFit/>
          </a:bodyPr>
          <a:lstStyle/>
          <a:p>
            <a:pPr algn="l">
              <a:defRPr sz="1000" b="0">
                <a:solidFill>
                  <a:srgbClr val="1E293B"/>
                </a:solidFill>
              </a:defRPr>
            </a:pPr>
            <a:r>
              <a:t>&gt; Strong Profile Fit accounts have higher win rates and shorter sales cycles.</a:t>
            </a:r>
          </a:p>
        </p:txBody>
      </p:sp>
      <p:sp>
        <p:nvSpPr>
          <p:cNvPr id="6" name="TextBox 5"/>
          <p:cNvSpPr txBox="1"/>
          <p:nvPr/>
        </p:nvSpPr>
        <p:spPr>
          <a:xfrm>
            <a:off x="6400800" y="2075688"/>
            <a:ext cx="5577840" cy="502920"/>
          </a:xfrm>
          <a:prstGeom prst="rect">
            <a:avLst/>
          </a:prstGeom>
          <a:noFill/>
        </p:spPr>
        <p:txBody>
          <a:bodyPr wrap="square">
            <a:spAutoFit/>
          </a:bodyPr>
          <a:lstStyle/>
          <a:p>
            <a:pPr algn="l">
              <a:defRPr sz="1000" b="0">
                <a:solidFill>
                  <a:srgbClr val="1E293B"/>
                </a:solidFill>
              </a:defRPr>
            </a:pPr>
            <a:r>
              <a:t>&gt; Prioritize 6sense display budget toward Strong + Moderate Fit accounts.</a:t>
            </a:r>
          </a:p>
        </p:txBody>
      </p:sp>
      <p:sp>
        <p:nvSpPr>
          <p:cNvPr id="7" name="TextBox 6"/>
          <p:cNvSpPr txBox="1"/>
          <p:nvPr/>
        </p:nvSpPr>
        <p:spPr>
          <a:xfrm>
            <a:off x="6400800" y="2642616"/>
            <a:ext cx="5577840" cy="502920"/>
          </a:xfrm>
          <a:prstGeom prst="rect">
            <a:avLst/>
          </a:prstGeom>
          <a:noFill/>
        </p:spPr>
        <p:txBody>
          <a:bodyPr wrap="square">
            <a:spAutoFit/>
          </a:bodyPr>
          <a:lstStyle/>
          <a:p>
            <a:pPr algn="l">
              <a:defRPr sz="1000" b="0">
                <a:solidFill>
                  <a:srgbClr val="1E293B"/>
                </a:solidFill>
              </a:defRPr>
            </a:pPr>
            <a:r>
              <a:t>&gt; Weak Fit accounts may indicate ICP drift — review segment definitions quarterly.</a:t>
            </a:r>
          </a:p>
        </p:txBody>
      </p:sp>
      <p:sp>
        <p:nvSpPr>
          <p:cNvPr id="8" name="TextBox 7"/>
          <p:cNvSpPr txBox="1"/>
          <p:nvPr/>
        </p:nvSpPr>
        <p:spPr>
          <a:xfrm>
            <a:off x="6400800" y="3209544"/>
            <a:ext cx="5577840" cy="502920"/>
          </a:xfrm>
          <a:prstGeom prst="rect">
            <a:avLst/>
          </a:prstGeom>
          <a:noFill/>
        </p:spPr>
        <p:txBody>
          <a:bodyPr wrap="square">
            <a:spAutoFit/>
          </a:bodyPr>
          <a:lstStyle/>
          <a:p>
            <a:pPr algn="l">
              <a:defRPr sz="1000" b="0">
                <a:solidFill>
                  <a:srgbClr val="1E293B"/>
                </a:solidFill>
              </a:defRPr>
            </a:pPr>
            <a:r>
              <a:t>&gt; Accounts in 'Decision' buying stage should trigger immediate SDR outreach.</a:t>
            </a:r>
          </a:p>
        </p:txBody>
      </p:sp>
      <p:sp>
        <p:nvSpPr>
          <p:cNvPr id="9" name="TextBox 8"/>
          <p:cNvSpPr txBox="1"/>
          <p:nvPr/>
        </p:nvSpPr>
        <p:spPr>
          <a:xfrm>
            <a:off x="6400800" y="3776472"/>
            <a:ext cx="5577840" cy="502920"/>
          </a:xfrm>
          <a:prstGeom prst="rect">
            <a:avLst/>
          </a:prstGeom>
          <a:noFill/>
        </p:spPr>
        <p:txBody>
          <a:bodyPr wrap="square">
            <a:spAutoFit/>
          </a:bodyPr>
          <a:lstStyle/>
          <a:p>
            <a:pPr algn="l">
              <a:defRPr sz="1000" b="0">
                <a:solidFill>
                  <a:srgbClr val="1E293B"/>
                </a:solidFill>
              </a:defRPr>
            </a:pPr>
            <a:r>
              <a:t>&gt; Intent scoring + Profile Fit = 2x2 prioritization matrix for ABM targeting.</a:t>
            </a:r>
          </a:p>
        </p:txBody>
      </p:sp>
      <p:sp>
        <p:nvSpPr>
          <p:cNvPr id="10" name="Rectangle 9"/>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How well the accounts in the database match the Ideal Customer Profile (ICP) as scored by 6sense. HOW TO READ: 'Strong Fit' = company matches ICP on firmographic data (industry, size, revenue, tech stack). 'Weak Fit' = the company is in the database but doesn't match the profile of companies that typically buy from you. INSIGHT: In ABM, Profile Fit determines where to concentrate budget. Strong Fit + in Decision buying stage = highest priority accounts — give them personalized ads, direct sales outreach, and executive content. Weak Fit accounts are a signal to review targeting criteria — you may be spending ad budget on companies that will never buy.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Budget Recommendation</a:t>
            </a:r>
          </a:p>
          <a:p>
            <a:pPr>
              <a:defRPr sz="1100">
                <a:solidFill>
                  <a:srgbClr val="64748B"/>
                </a:solidFill>
              </a:defRPr>
            </a:pPr>
            <a:r>
              <a:t>Three scenarios — Status Quo, ROI-Optimized, and Growth Mode</a:t>
            </a:r>
          </a:p>
        </p:txBody>
      </p:sp>
      <p:pic>
        <p:nvPicPr>
          <p:cNvPr id="3" name="Picture 2" descr="image.png"/>
          <p:cNvPicPr>
            <a:picLocks noChangeAspect="1"/>
          </p:cNvPicPr>
          <p:nvPr/>
        </p:nvPicPr>
        <p:blipFill>
          <a:blip r:embed="rId2"/>
          <a:stretch>
            <a:fillRect/>
          </a:stretch>
        </p:blipFill>
        <p:spPr>
          <a:xfrm>
            <a:off x="228600" y="914400"/>
            <a:ext cx="8686800" cy="4846320"/>
          </a:xfrm>
          <a:prstGeom prst="rect">
            <a:avLst/>
          </a:prstGeom>
        </p:spPr>
      </p:pic>
      <p:sp>
        <p:nvSpPr>
          <p:cNvPr id="4" name="TextBox 3"/>
          <p:cNvSpPr txBox="1"/>
          <p:nvPr/>
        </p:nvSpPr>
        <p:spPr>
          <a:xfrm>
            <a:off x="9235440" y="1097280"/>
            <a:ext cx="2834640" cy="320040"/>
          </a:xfrm>
          <a:prstGeom prst="rect">
            <a:avLst/>
          </a:prstGeom>
          <a:noFill/>
        </p:spPr>
        <p:txBody>
          <a:bodyPr wrap="square">
            <a:spAutoFit/>
          </a:bodyPr>
          <a:lstStyle/>
          <a:p>
            <a:pPr algn="l">
              <a:defRPr sz="1000" b="1">
                <a:solidFill>
                  <a:srgbClr val="1E293B"/>
                </a:solidFill>
              </a:defRPr>
            </a:pPr>
            <a:r>
              <a:t>Scenario Totals:</a:t>
            </a:r>
          </a:p>
        </p:txBody>
      </p:sp>
      <p:sp>
        <p:nvSpPr>
          <p:cNvPr id="5" name="TextBox 4"/>
          <p:cNvSpPr txBox="1"/>
          <p:nvPr/>
        </p:nvSpPr>
        <p:spPr>
          <a:xfrm>
            <a:off x="9235440" y="1508760"/>
            <a:ext cx="2834640" cy="347472"/>
          </a:xfrm>
          <a:prstGeom prst="rect">
            <a:avLst/>
          </a:prstGeom>
          <a:noFill/>
        </p:spPr>
        <p:txBody>
          <a:bodyPr wrap="square">
            <a:spAutoFit/>
          </a:bodyPr>
          <a:lstStyle/>
          <a:p>
            <a:pPr algn="l">
              <a:defRPr sz="1000" b="0">
                <a:solidFill>
                  <a:srgbClr val="1E293B"/>
                </a:solidFill>
              </a:defRPr>
            </a:pPr>
            <a:r>
              <a:t>Status Quo: $119K</a:t>
            </a:r>
          </a:p>
        </p:txBody>
      </p:sp>
      <p:sp>
        <p:nvSpPr>
          <p:cNvPr id="6" name="TextBox 5"/>
          <p:cNvSpPr txBox="1"/>
          <p:nvPr/>
        </p:nvSpPr>
        <p:spPr>
          <a:xfrm>
            <a:off x="9235440" y="2194560"/>
            <a:ext cx="2834640" cy="347472"/>
          </a:xfrm>
          <a:prstGeom prst="rect">
            <a:avLst/>
          </a:prstGeom>
          <a:noFill/>
        </p:spPr>
        <p:txBody>
          <a:bodyPr wrap="square">
            <a:spAutoFit/>
          </a:bodyPr>
          <a:lstStyle/>
          <a:p>
            <a:pPr algn="l">
              <a:defRPr sz="1000" b="0">
                <a:solidFill>
                  <a:srgbClr val="1E293B"/>
                </a:solidFill>
              </a:defRPr>
            </a:pPr>
            <a:r>
              <a:t>ROI-Opt: $124K  (+$0.0M)</a:t>
            </a:r>
          </a:p>
        </p:txBody>
      </p:sp>
      <p:sp>
        <p:nvSpPr>
          <p:cNvPr id="7" name="TextBox 6"/>
          <p:cNvSpPr txBox="1"/>
          <p:nvPr/>
        </p:nvSpPr>
        <p:spPr>
          <a:xfrm>
            <a:off x="9235440" y="2880360"/>
            <a:ext cx="2834640" cy="347472"/>
          </a:xfrm>
          <a:prstGeom prst="rect">
            <a:avLst/>
          </a:prstGeom>
          <a:noFill/>
        </p:spPr>
        <p:txBody>
          <a:bodyPr wrap="square">
            <a:spAutoFit/>
          </a:bodyPr>
          <a:lstStyle/>
          <a:p>
            <a:pPr algn="l">
              <a:defRPr sz="1000" b="0">
                <a:solidFill>
                  <a:srgbClr val="1E293B"/>
                </a:solidFill>
              </a:defRPr>
            </a:pPr>
            <a:r>
              <a:t>Growth: $104K  (-$0.0M)</a:t>
            </a:r>
          </a:p>
        </p:txBody>
      </p:sp>
      <p:sp>
        <p:nvSpPr>
          <p:cNvPr id="8" name="Rectangle 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What happens to projected pipeline if you change how you allocate the marketing budget. HOW TO READ: Each group of 3 bars = one channel. The 3 bars = 3 scenarios. Gray = keep budget the same. Blue = shift 30% more to high-ROI channels, cut low-ROI by 20% (same total spend, better mix). Green = double spend on email + 6sense, halve spend on bottom channels (higher risk, higher reward). INSIGHT: The math is simple — take each channel's current 'pipeline generated per dollar spent' ratio and apply it to the new spend level. This is a directional model, not a guarantee. Real-world factors like market saturation and diminishing returns mean actual results will vary, but the direction is reliable.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ML Win Probability Model</a:t>
            </a:r>
          </a:p>
          <a:p>
            <a:pPr>
              <a:defRPr sz="1100">
                <a:solidFill>
                  <a:srgbClr val="64748B"/>
                </a:solidFill>
              </a:defRPr>
            </a:pPr>
            <a:r>
              <a:t>Random Forest classifier trained on 2,743 closed deals — AUC = 0.796</a:t>
            </a:r>
          </a:p>
        </p:txBody>
      </p:sp>
      <p:sp>
        <p:nvSpPr>
          <p:cNvPr id="3" name="Rectangle 2"/>
          <p:cNvSpPr/>
          <p:nvPr/>
        </p:nvSpPr>
        <p:spPr>
          <a:xfrm>
            <a:off x="201168" y="777240"/>
            <a:ext cx="2651760" cy="960120"/>
          </a:xfrm>
          <a:prstGeom prst="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Model</a:t>
            </a:r>
          </a:p>
          <a:p>
            <a:pPr algn="ctr">
              <a:defRPr sz="1700" b="1">
                <a:solidFill>
                  <a:srgbClr val="2563EB"/>
                </a:solidFill>
              </a:defRPr>
            </a:pPr>
            <a:r>
              <a:t>Random Forest</a:t>
            </a:r>
          </a:p>
        </p:txBody>
      </p:sp>
      <p:sp>
        <p:nvSpPr>
          <p:cNvPr id="4" name="Rectangle 3"/>
          <p:cNvSpPr/>
          <p:nvPr/>
        </p:nvSpPr>
        <p:spPr>
          <a:xfrm>
            <a:off x="3191256" y="777240"/>
            <a:ext cx="2651760" cy="960120"/>
          </a:xfrm>
          <a:prstGeom prst="rect">
            <a:avLst/>
          </a:prstGeom>
          <a:solidFill>
            <a:srgbClr val="EFF6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AUC Score</a:t>
            </a:r>
          </a:p>
          <a:p>
            <a:pPr algn="ctr">
              <a:defRPr sz="1700" b="1">
                <a:solidFill>
                  <a:srgbClr val="10B981"/>
                </a:solidFill>
              </a:defRPr>
            </a:pPr>
            <a:r>
              <a:t>0.796</a:t>
            </a:r>
          </a:p>
        </p:txBody>
      </p:sp>
      <p:sp>
        <p:nvSpPr>
          <p:cNvPr id="5" name="Rectangle 4"/>
          <p:cNvSpPr/>
          <p:nvPr/>
        </p:nvSpPr>
        <p:spPr>
          <a:xfrm>
            <a:off x="6181344" y="777240"/>
            <a:ext cx="2651760" cy="960120"/>
          </a:xfrm>
          <a:prstGeom prst="rect">
            <a:avLst/>
          </a:prstGeom>
          <a:solidFill>
            <a:srgbClr val="EFF6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Training Deals</a:t>
            </a:r>
          </a:p>
          <a:p>
            <a:pPr algn="ctr">
              <a:defRPr sz="1700" b="1">
                <a:solidFill>
                  <a:srgbClr val="F59E0B"/>
                </a:solidFill>
              </a:defRPr>
            </a:pPr>
            <a:r>
              <a:t>2,743</a:t>
            </a:r>
          </a:p>
        </p:txBody>
      </p:sp>
      <p:sp>
        <p:nvSpPr>
          <p:cNvPr id="6" name="Rectangle 5"/>
          <p:cNvSpPr/>
          <p:nvPr/>
        </p:nvSpPr>
        <p:spPr>
          <a:xfrm>
            <a:off x="9171432" y="777240"/>
            <a:ext cx="2651760" cy="960120"/>
          </a:xfrm>
          <a:prstGeom prst="rect">
            <a:avLst/>
          </a:prstGeom>
          <a:solidFill>
            <a:srgbClr val="EFF6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1E293B"/>
                </a:solidFill>
              </a:defRPr>
            </a:pPr>
            <a:r>
              <a:t>Scored Open</a:t>
            </a:r>
          </a:p>
          <a:p>
            <a:pPr algn="ctr">
              <a:defRPr sz="1700" b="1">
                <a:solidFill>
                  <a:srgbClr val="8B5CF6"/>
                </a:solidFill>
              </a:defRPr>
            </a:pPr>
            <a:r>
              <a:t>545</a:t>
            </a:r>
          </a:p>
        </p:txBody>
      </p:sp>
      <p:pic>
        <p:nvPicPr>
          <p:cNvPr id="7" name="Picture 6" descr="image.png"/>
          <p:cNvPicPr>
            <a:picLocks noChangeAspect="1"/>
          </p:cNvPicPr>
          <p:nvPr/>
        </p:nvPicPr>
        <p:blipFill>
          <a:blip r:embed="rId2"/>
          <a:stretch>
            <a:fillRect/>
          </a:stretch>
        </p:blipFill>
        <p:spPr>
          <a:xfrm>
            <a:off x="228600" y="1920240"/>
            <a:ext cx="11750040" cy="3840480"/>
          </a:xfrm>
          <a:prstGeom prst="rect">
            <a:avLst/>
          </a:prstGeom>
        </p:spPr>
      </p:pic>
      <p:sp>
        <p:nvSpPr>
          <p:cNvPr id="8" name="Rectangle 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A machine learning model trained on closed deals to predict which open deals are most likely to close. Feature importance (left) = which data points the model relied on most. Win probability distribution (right) = how confident the model is about each currently open deal. HOW TO READ: Feature importance — longer bar = stronger predictor of winning. Win probability histogram — bars on the right (&gt;70%) are your hottest leads; left bars (&lt;30%) are at risk. INSIGHT: Tier, channel category, deal size, segment, and account firmographics are the strongest predictors. Use this as a sales prioritization tool, not as proof that any single marketing touch caused a win.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Account Coverage Gap — The #1 Growth Opportunity</a:t>
            </a:r>
          </a:p>
          <a:p>
            <a:pPr>
              <a:defRPr sz="1100">
                <a:solidFill>
                  <a:srgbClr val="64748B"/>
                </a:solidFill>
              </a:defRPr>
            </a:pPr>
            <a:r>
              <a:t>67.9% of target accounts have never seen a single marketing touchpoint</a:t>
            </a:r>
          </a:p>
        </p:txBody>
      </p:sp>
      <p:pic>
        <p:nvPicPr>
          <p:cNvPr id="3" name="Picture 2" descr="image.png"/>
          <p:cNvPicPr>
            <a:picLocks noChangeAspect="1"/>
          </p:cNvPicPr>
          <p:nvPr/>
        </p:nvPicPr>
        <p:blipFill>
          <a:blip r:embed="rId2"/>
          <a:stretch>
            <a:fillRect/>
          </a:stretch>
        </p:blipFill>
        <p:spPr>
          <a:xfrm>
            <a:off x="228600" y="1097280"/>
            <a:ext cx="11750040" cy="4572000"/>
          </a:xfrm>
          <a:prstGeom prst="rect">
            <a:avLst/>
          </a:prstGeom>
        </p:spPr>
      </p:pic>
      <p:sp>
        <p:nvSpPr>
          <p:cNvPr id="4" name="Rectangle 3"/>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Of all 4,797 target account domains, how many have been reached by 6sense display ads, email, both, or neither. The right chart shows the opportunity rate (% of accounts with an actual CRM deal) for each coverage group. HOW TO READ: Taller bar on the left = more accounts in that bucket. Taller bar on the right = higher conversion rate for that group. INSIGHT: Accounts reached by BOTH email and 6sense have a 2.4x higher opportunity rate than unreached accounts. The 3,256 unreached accounts are the single biggest growth opportunity — expand audience lists and email sequences to cover them. Prioritize Strong Profile Fit accounts from the ICP database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Pipeline Cohort Analysis — Critical Strategic Signal</a:t>
            </a:r>
          </a:p>
          <a:p>
            <a:pPr>
              <a:defRPr sz="1100">
                <a:solidFill>
                  <a:srgbClr val="64748B"/>
                </a:solidFill>
              </a:defRPr>
            </a:pPr>
            <a:r>
              <a:t>Pipeline growing but win rate declining — quality vs. quantity tension</a:t>
            </a:r>
          </a:p>
        </p:txBody>
      </p:sp>
      <p:pic>
        <p:nvPicPr>
          <p:cNvPr id="3" name="Picture 2" descr="image.png"/>
          <p:cNvPicPr>
            <a:picLocks noChangeAspect="1"/>
          </p:cNvPicPr>
          <p:nvPr/>
        </p:nvPicPr>
        <p:blipFill>
          <a:blip r:embed="rId2"/>
          <a:stretch>
            <a:fillRect/>
          </a:stretch>
        </p:blipFill>
        <p:spPr>
          <a:xfrm>
            <a:off x="228600" y="914400"/>
            <a:ext cx="11750040" cy="4846320"/>
          </a:xfrm>
          <a:prstGeom prst="rect">
            <a:avLst/>
          </a:prstGeom>
        </p:spPr>
      </p:pic>
      <p:sp>
        <p:nvSpPr>
          <p:cNvPr id="4" name="Rectangle 3"/>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Pipeline created per quarter (bars) vs. win rate per quarter (green line) vs. marketing's share of deals per quarter (yellow dashed line). HOW TO READ: Bars going up = marketing is generating more pipeline volume over time. Green line going down = win rate is declining — deals are being created but fewer are closing as a percentage. INSIGHT: This is the most important strategic signal in the dataset. Pipeline is growing (good) but win rate has dropped from ~37% in 2022 to ~15% in 2024 (bad). This means the pipeline is growing but quality is declining. Either the ICP targeting is expanding too broadly (reaching companies less likely to buy), or deals are being rushed into the funnel. Recommend: quarterly ICP audit and tighter qualification criteria before deals enter the pipeline.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ABM Targeting Priority Matrix</a:t>
            </a:r>
          </a:p>
          <a:p>
            <a:pPr>
              <a:defRPr sz="1100">
                <a:solidFill>
                  <a:srgbClr val="64748B"/>
                </a:solidFill>
              </a:defRPr>
            </a:pPr>
            <a:r>
              <a:t>Segment × Profile Fit win rate heatmap — where to concentrate ABM investment</a:t>
            </a:r>
          </a:p>
        </p:txBody>
      </p:sp>
      <p:pic>
        <p:nvPicPr>
          <p:cNvPr id="3" name="Picture 2" descr="image.png"/>
          <p:cNvPicPr>
            <a:picLocks noChangeAspect="1"/>
          </p:cNvPicPr>
          <p:nvPr/>
        </p:nvPicPr>
        <p:blipFill>
          <a:blip r:embed="rId2"/>
          <a:stretch>
            <a:fillRect/>
          </a:stretch>
        </p:blipFill>
        <p:spPr>
          <a:xfrm>
            <a:off x="457200" y="1005840"/>
            <a:ext cx="7772400" cy="5029200"/>
          </a:xfrm>
          <a:prstGeom prst="rect">
            <a:avLst/>
          </a:prstGeom>
        </p:spPr>
      </p:pic>
      <p:sp>
        <p:nvSpPr>
          <p:cNvPr id="4" name="TextBox 3"/>
          <p:cNvSpPr txBox="1"/>
          <p:nvPr/>
        </p:nvSpPr>
        <p:spPr>
          <a:xfrm>
            <a:off x="8412480" y="1188720"/>
            <a:ext cx="3657600" cy="320040"/>
          </a:xfrm>
          <a:prstGeom prst="rect">
            <a:avLst/>
          </a:prstGeom>
          <a:noFill/>
        </p:spPr>
        <p:txBody>
          <a:bodyPr wrap="square">
            <a:spAutoFit/>
          </a:bodyPr>
          <a:lstStyle/>
          <a:p>
            <a:pPr algn="l">
              <a:defRPr sz="1050" b="1">
                <a:solidFill>
                  <a:srgbClr val="2563EB"/>
                </a:solidFill>
              </a:defRPr>
            </a:pPr>
            <a:r>
              <a:t>Strategic Priority Guide:</a:t>
            </a:r>
          </a:p>
        </p:txBody>
      </p:sp>
      <p:sp>
        <p:nvSpPr>
          <p:cNvPr id="5" name="TextBox 4"/>
          <p:cNvSpPr txBox="1"/>
          <p:nvPr/>
        </p:nvSpPr>
        <p:spPr>
          <a:xfrm>
            <a:off x="8412480" y="1600200"/>
            <a:ext cx="3657600" cy="594360"/>
          </a:xfrm>
          <a:prstGeom prst="rect">
            <a:avLst/>
          </a:prstGeom>
          <a:noFill/>
        </p:spPr>
        <p:txBody>
          <a:bodyPr wrap="square">
            <a:spAutoFit/>
          </a:bodyPr>
          <a:lstStyle/>
          <a:p>
            <a:pPr algn="l">
              <a:defRPr sz="950" b="0">
                <a:solidFill>
                  <a:srgbClr val="1E293B"/>
                </a:solidFill>
              </a:defRPr>
            </a:pPr>
            <a:r>
              <a:t>&gt; TIER 1 TARGETS: Strong Profile Fit accounts in any segment — win rates 35-47%.</a:t>
            </a:r>
          </a:p>
        </p:txBody>
      </p:sp>
      <p:sp>
        <p:nvSpPr>
          <p:cNvPr id="6" name="TextBox 5"/>
          <p:cNvSpPr txBox="1"/>
          <p:nvPr/>
        </p:nvSpPr>
        <p:spPr>
          <a:xfrm>
            <a:off x="8412480" y="2258568"/>
            <a:ext cx="3657600" cy="594360"/>
          </a:xfrm>
          <a:prstGeom prst="rect">
            <a:avLst/>
          </a:prstGeom>
          <a:noFill/>
        </p:spPr>
        <p:txBody>
          <a:bodyPr wrap="square">
            <a:spAutoFit/>
          </a:bodyPr>
          <a:lstStyle/>
          <a:p>
            <a:pPr algn="l">
              <a:defRPr sz="950" b="0">
                <a:solidFill>
                  <a:srgbClr val="1E293B"/>
                </a:solidFill>
              </a:defRPr>
            </a:pPr>
            <a:r>
              <a:t>&gt; Enterprise + Strong: largest deals ($15K avg), 35% win rate → focus exec personalization.</a:t>
            </a:r>
          </a:p>
        </p:txBody>
      </p:sp>
      <p:sp>
        <p:nvSpPr>
          <p:cNvPr id="7" name="TextBox 6"/>
          <p:cNvSpPr txBox="1"/>
          <p:nvPr/>
        </p:nvSpPr>
        <p:spPr>
          <a:xfrm>
            <a:off x="8412480" y="2916936"/>
            <a:ext cx="3657600" cy="594360"/>
          </a:xfrm>
          <a:prstGeom prst="rect">
            <a:avLst/>
          </a:prstGeom>
          <a:noFill/>
        </p:spPr>
        <p:txBody>
          <a:bodyPr wrap="square">
            <a:spAutoFit/>
          </a:bodyPr>
          <a:lstStyle/>
          <a:p>
            <a:pPr algn="l">
              <a:defRPr sz="950" b="0">
                <a:solidFill>
                  <a:srgbClr val="1E293B"/>
                </a:solidFill>
              </a:defRPr>
            </a:pPr>
            <a:r>
              <a:t>&gt; Commercial + Strong: highest win rate (47%) → highest volume ABM motion.</a:t>
            </a:r>
          </a:p>
        </p:txBody>
      </p:sp>
      <p:sp>
        <p:nvSpPr>
          <p:cNvPr id="8" name="TextBox 7"/>
          <p:cNvSpPr txBox="1"/>
          <p:nvPr/>
        </p:nvSpPr>
        <p:spPr>
          <a:xfrm>
            <a:off x="8412480" y="3575304"/>
            <a:ext cx="3657600" cy="594360"/>
          </a:xfrm>
          <a:prstGeom prst="rect">
            <a:avLst/>
          </a:prstGeom>
          <a:noFill/>
        </p:spPr>
        <p:txBody>
          <a:bodyPr wrap="square">
            <a:spAutoFit/>
          </a:bodyPr>
          <a:lstStyle/>
          <a:p>
            <a:pPr algn="l">
              <a:defRPr sz="950" b="0">
                <a:solidFill>
                  <a:srgbClr val="1E293B"/>
                </a:solidFill>
              </a:defRPr>
            </a:pPr>
            <a:r>
              <a:t>&gt; Weak Profile Fit: win rates drop to 15-25% — do not waste Tier 1 resources here.</a:t>
            </a:r>
          </a:p>
        </p:txBody>
      </p:sp>
      <p:sp>
        <p:nvSpPr>
          <p:cNvPr id="9" name="TextBox 8"/>
          <p:cNvSpPr txBox="1"/>
          <p:nvPr/>
        </p:nvSpPr>
        <p:spPr>
          <a:xfrm>
            <a:off x="8412480" y="4233672"/>
            <a:ext cx="3657600" cy="594360"/>
          </a:xfrm>
          <a:prstGeom prst="rect">
            <a:avLst/>
          </a:prstGeom>
          <a:noFill/>
        </p:spPr>
        <p:txBody>
          <a:bodyPr wrap="square">
            <a:spAutoFit/>
          </a:bodyPr>
          <a:lstStyle/>
          <a:p>
            <a:pPr algn="l">
              <a:defRPr sz="950" b="0">
                <a:solidFill>
                  <a:srgbClr val="1E293B"/>
                </a:solidFill>
              </a:defRPr>
            </a:pPr>
            <a:r>
              <a:t>&gt; Action: Filter 6sense audience lists to Strong + Moderate Fit only for Tier 1 campaigns.</a:t>
            </a:r>
          </a:p>
        </p:txBody>
      </p:sp>
      <p:sp>
        <p:nvSpPr>
          <p:cNvPr id="10" name="Rectangle 9"/>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Win rate heatmap crossing account segment (Enterprise/Commercial/Mid-Market) with 6sense Profile Fit score (Strong/Moderate/Weak). INSIGHT: ABM budget should concentrate on cells where win rate is highest (darkest blue). These represent the highest-probability deals. The 6sense Profile Fit score is a firmagraphic match score — Strong means the company looks like your best existing customers. Combine this matrix with buying stage data (Decision stage accounts) for a 3-factor targeting filter that identifies the highest-value accounts to prioritize for sales outreach and personalized campaigns.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Rubric Alignment</a:t>
            </a:r>
          </a:p>
          <a:p>
            <a:pPr>
              <a:defRPr sz="1100">
                <a:solidFill>
                  <a:srgbClr val="64748B"/>
                </a:solidFill>
              </a:defRPr>
            </a:pPr>
            <a:r>
              <a:t>How the analysis answers the case prompt and evaluation criteria</a:t>
            </a:r>
          </a:p>
        </p:txBody>
      </p:sp>
      <p:sp>
        <p:nvSpPr>
          <p:cNvPr id="3" name="Rectangle 2"/>
          <p:cNvSpPr/>
          <p:nvPr/>
        </p:nvSpPr>
        <p:spPr>
          <a:xfrm>
            <a:off x="320040" y="868680"/>
            <a:ext cx="11567160" cy="493776"/>
          </a:xfrm>
          <a:prstGeom prst="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41832"/>
            <a:ext cx="2194560" cy="320040"/>
          </a:xfrm>
          <a:prstGeom prst="rect">
            <a:avLst/>
          </a:prstGeom>
          <a:noFill/>
        </p:spPr>
        <p:txBody>
          <a:bodyPr wrap="square">
            <a:spAutoFit/>
          </a:bodyPr>
          <a:lstStyle/>
          <a:p>
            <a:pPr algn="l">
              <a:defRPr sz="1050" b="1">
                <a:solidFill>
                  <a:srgbClr val="2563EB"/>
                </a:solidFill>
              </a:defRPr>
            </a:pPr>
            <a:r>
              <a:t>Data Processing</a:t>
            </a:r>
          </a:p>
        </p:txBody>
      </p:sp>
      <p:sp>
        <p:nvSpPr>
          <p:cNvPr id="5" name="TextBox 4"/>
          <p:cNvSpPr txBox="1"/>
          <p:nvPr/>
        </p:nvSpPr>
        <p:spPr>
          <a:xfrm>
            <a:off x="2743200" y="941832"/>
            <a:ext cx="8961120" cy="320040"/>
          </a:xfrm>
          <a:prstGeom prst="rect">
            <a:avLst/>
          </a:prstGeom>
          <a:noFill/>
        </p:spPr>
        <p:txBody>
          <a:bodyPr wrap="square">
            <a:spAutoFit/>
          </a:bodyPr>
          <a:lstStyle/>
          <a:p>
            <a:pPr algn="l">
              <a:defRPr sz="1000" b="0">
                <a:solidFill>
                  <a:srgbClr val="1E293B"/>
                </a:solidFill>
              </a:defRPr>
            </a:pPr>
            <a:r>
              <a:t>8-source pipeline, cleaned parquet layers, domain-based integration</a:t>
            </a:r>
          </a:p>
        </p:txBody>
      </p:sp>
      <p:sp>
        <p:nvSpPr>
          <p:cNvPr id="6" name="Rectangle 5"/>
          <p:cNvSpPr/>
          <p:nvPr/>
        </p:nvSpPr>
        <p:spPr>
          <a:xfrm>
            <a:off x="320040" y="1490472"/>
            <a:ext cx="11567160" cy="493776"/>
          </a:xfrm>
          <a:prstGeom prst="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2194560" cy="320040"/>
          </a:xfrm>
          <a:prstGeom prst="rect">
            <a:avLst/>
          </a:prstGeom>
          <a:noFill/>
        </p:spPr>
        <p:txBody>
          <a:bodyPr wrap="square">
            <a:spAutoFit/>
          </a:bodyPr>
          <a:lstStyle/>
          <a:p>
            <a:pPr algn="l">
              <a:defRPr sz="1050" b="1">
                <a:solidFill>
                  <a:srgbClr val="2563EB"/>
                </a:solidFill>
              </a:defRPr>
            </a:pPr>
            <a:r>
              <a:t>Data Integrity</a:t>
            </a:r>
          </a:p>
        </p:txBody>
      </p:sp>
      <p:sp>
        <p:nvSpPr>
          <p:cNvPr id="8" name="TextBox 7"/>
          <p:cNvSpPr txBox="1"/>
          <p:nvPr/>
        </p:nvSpPr>
        <p:spPr>
          <a:xfrm>
            <a:off x="2743200" y="1563624"/>
            <a:ext cx="8961120" cy="320040"/>
          </a:xfrm>
          <a:prstGeom prst="rect">
            <a:avLst/>
          </a:prstGeom>
          <a:noFill/>
        </p:spPr>
        <p:txBody>
          <a:bodyPr wrap="square">
            <a:spAutoFit/>
          </a:bodyPr>
          <a:lstStyle/>
          <a:p>
            <a:pPr algn="l">
              <a:defRPr sz="1000" b="0">
                <a:solidFill>
                  <a:srgbClr val="1E293B"/>
                </a:solidFill>
              </a:defRPr>
            </a:pPr>
            <a:r>
              <a:t>Validation checks for booleans, won/closed logic, dashboard sync, and caveats</a:t>
            </a:r>
          </a:p>
        </p:txBody>
      </p:sp>
      <p:sp>
        <p:nvSpPr>
          <p:cNvPr id="9" name="Rectangle 8"/>
          <p:cNvSpPr/>
          <p:nvPr/>
        </p:nvSpPr>
        <p:spPr>
          <a:xfrm>
            <a:off x="320040" y="2112264"/>
            <a:ext cx="11567160" cy="493776"/>
          </a:xfrm>
          <a:prstGeom prst="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85416"/>
            <a:ext cx="2194560" cy="320040"/>
          </a:xfrm>
          <a:prstGeom prst="rect">
            <a:avLst/>
          </a:prstGeom>
          <a:noFill/>
        </p:spPr>
        <p:txBody>
          <a:bodyPr wrap="square">
            <a:spAutoFit/>
          </a:bodyPr>
          <a:lstStyle/>
          <a:p>
            <a:pPr algn="l">
              <a:defRPr sz="1050" b="1">
                <a:solidFill>
                  <a:srgbClr val="2563EB"/>
                </a:solidFill>
              </a:defRPr>
            </a:pPr>
            <a:r>
              <a:t>Data Storytelling</a:t>
            </a:r>
          </a:p>
        </p:txBody>
      </p:sp>
      <p:sp>
        <p:nvSpPr>
          <p:cNvPr id="11" name="TextBox 10"/>
          <p:cNvSpPr txBox="1"/>
          <p:nvPr/>
        </p:nvSpPr>
        <p:spPr>
          <a:xfrm>
            <a:off x="2743200" y="2185416"/>
            <a:ext cx="8961120" cy="320040"/>
          </a:xfrm>
          <a:prstGeom prst="rect">
            <a:avLst/>
          </a:prstGeom>
          <a:noFill/>
        </p:spPr>
        <p:txBody>
          <a:bodyPr wrap="square">
            <a:spAutoFit/>
          </a:bodyPr>
          <a:lstStyle/>
          <a:p>
            <a:pPr algn="l">
              <a:defRPr sz="1000" b="0">
                <a:solidFill>
                  <a:srgbClr val="1E293B"/>
                </a:solidFill>
              </a:defRPr>
            </a:pPr>
            <a:r>
              <a:t>Essential View leads with the CMO decision before analyst detail</a:t>
            </a:r>
          </a:p>
        </p:txBody>
      </p:sp>
      <p:sp>
        <p:nvSpPr>
          <p:cNvPr id="12" name="Rectangle 11"/>
          <p:cNvSpPr/>
          <p:nvPr/>
        </p:nvSpPr>
        <p:spPr>
          <a:xfrm>
            <a:off x="320040" y="2734056"/>
            <a:ext cx="11567160" cy="493776"/>
          </a:xfrm>
          <a:prstGeom prst="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807208"/>
            <a:ext cx="2194560" cy="320040"/>
          </a:xfrm>
          <a:prstGeom prst="rect">
            <a:avLst/>
          </a:prstGeom>
          <a:noFill/>
        </p:spPr>
        <p:txBody>
          <a:bodyPr wrap="square">
            <a:spAutoFit/>
          </a:bodyPr>
          <a:lstStyle/>
          <a:p>
            <a:pPr algn="l">
              <a:defRPr sz="1050" b="1">
                <a:solidFill>
                  <a:srgbClr val="2563EB"/>
                </a:solidFill>
              </a:defRPr>
            </a:pPr>
            <a:r>
              <a:t>Dashboard Design</a:t>
            </a:r>
          </a:p>
        </p:txBody>
      </p:sp>
      <p:sp>
        <p:nvSpPr>
          <p:cNvPr id="14" name="TextBox 13"/>
          <p:cNvSpPr txBox="1"/>
          <p:nvPr/>
        </p:nvSpPr>
        <p:spPr>
          <a:xfrm>
            <a:off x="2743200" y="2807208"/>
            <a:ext cx="8961120" cy="320040"/>
          </a:xfrm>
          <a:prstGeom prst="rect">
            <a:avLst/>
          </a:prstGeom>
          <a:noFill/>
        </p:spPr>
        <p:txBody>
          <a:bodyPr wrap="square">
            <a:spAutoFit/>
          </a:bodyPr>
          <a:lstStyle/>
          <a:p>
            <a:pPr algn="l">
              <a:defRPr sz="1000" b="0">
                <a:solidFill>
                  <a:srgbClr val="1E293B"/>
                </a:solidFill>
              </a:defRPr>
            </a:pPr>
            <a:r>
              <a:t>Decision-critical charts first; deeper methodology and tables are drill-downs</a:t>
            </a:r>
          </a:p>
        </p:txBody>
      </p:sp>
      <p:sp>
        <p:nvSpPr>
          <p:cNvPr id="15" name="Rectangle 14"/>
          <p:cNvSpPr/>
          <p:nvPr/>
        </p:nvSpPr>
        <p:spPr>
          <a:xfrm>
            <a:off x="320040" y="3355848"/>
            <a:ext cx="11567160" cy="493776"/>
          </a:xfrm>
          <a:prstGeom prst="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429000"/>
            <a:ext cx="2194560" cy="320040"/>
          </a:xfrm>
          <a:prstGeom prst="rect">
            <a:avLst/>
          </a:prstGeom>
          <a:noFill/>
        </p:spPr>
        <p:txBody>
          <a:bodyPr wrap="square">
            <a:spAutoFit/>
          </a:bodyPr>
          <a:lstStyle/>
          <a:p>
            <a:pPr algn="l">
              <a:defRPr sz="1050" b="1">
                <a:solidFill>
                  <a:srgbClr val="2563EB"/>
                </a:solidFill>
              </a:defRPr>
            </a:pPr>
            <a:r>
              <a:t>Reporting &amp; Analysis</a:t>
            </a:r>
          </a:p>
        </p:txBody>
      </p:sp>
      <p:sp>
        <p:nvSpPr>
          <p:cNvPr id="17" name="TextBox 16"/>
          <p:cNvSpPr txBox="1"/>
          <p:nvPr/>
        </p:nvSpPr>
        <p:spPr>
          <a:xfrm>
            <a:off x="2743200" y="3429000"/>
            <a:ext cx="8961120" cy="320040"/>
          </a:xfrm>
          <a:prstGeom prst="rect">
            <a:avLst/>
          </a:prstGeom>
          <a:noFill/>
        </p:spPr>
        <p:txBody>
          <a:bodyPr wrap="square">
            <a:spAutoFit/>
          </a:bodyPr>
          <a:lstStyle/>
          <a:p>
            <a:pPr algn="l">
              <a:defRPr sz="1000" b="0">
                <a:solidFill>
                  <a:srgbClr val="1E293B"/>
                </a:solidFill>
              </a:defRPr>
            </a:pPr>
            <a:r>
              <a:t>Attribution, channel ROI, coverage, cohort, targeting, and budget evidence</a:t>
            </a:r>
          </a:p>
        </p:txBody>
      </p:sp>
      <p:sp>
        <p:nvSpPr>
          <p:cNvPr id="18" name="Rectangle 17"/>
          <p:cNvSpPr/>
          <p:nvPr/>
        </p:nvSpPr>
        <p:spPr>
          <a:xfrm>
            <a:off x="320040" y="3977640"/>
            <a:ext cx="11567160" cy="493776"/>
          </a:xfrm>
          <a:prstGeom prst="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050792"/>
            <a:ext cx="2194560" cy="320040"/>
          </a:xfrm>
          <a:prstGeom prst="rect">
            <a:avLst/>
          </a:prstGeom>
          <a:noFill/>
        </p:spPr>
        <p:txBody>
          <a:bodyPr wrap="square">
            <a:spAutoFit/>
          </a:bodyPr>
          <a:lstStyle/>
          <a:p>
            <a:pPr algn="l">
              <a:defRPr sz="1050" b="1">
                <a:solidFill>
                  <a:srgbClr val="2563EB"/>
                </a:solidFill>
              </a:defRPr>
            </a:pPr>
            <a:r>
              <a:t>Marketing Strategy</a:t>
            </a:r>
          </a:p>
        </p:txBody>
      </p:sp>
      <p:sp>
        <p:nvSpPr>
          <p:cNvPr id="20" name="TextBox 19"/>
          <p:cNvSpPr txBox="1"/>
          <p:nvPr/>
        </p:nvSpPr>
        <p:spPr>
          <a:xfrm>
            <a:off x="2743200" y="4050792"/>
            <a:ext cx="8961120" cy="320040"/>
          </a:xfrm>
          <a:prstGeom prst="rect">
            <a:avLst/>
          </a:prstGeom>
          <a:noFill/>
        </p:spPr>
        <p:txBody>
          <a:bodyPr wrap="square">
            <a:spAutoFit/>
          </a:bodyPr>
          <a:lstStyle/>
          <a:p>
            <a:pPr algn="l">
              <a:defRPr sz="1000" b="0">
                <a:solidFill>
                  <a:srgbClr val="1E293B"/>
                </a:solidFill>
              </a:defRPr>
            </a:pPr>
            <a:r>
              <a:t>Protect quality, expand strong-fit coverage, and test budget shifts before scaling</a:t>
            </a:r>
          </a:p>
        </p:txBody>
      </p:sp>
      <p:sp>
        <p:nvSpPr>
          <p:cNvPr id="21" name="Rectangle 20"/>
          <p:cNvSpPr/>
          <p:nvPr/>
        </p:nvSpPr>
        <p:spPr>
          <a:xfrm>
            <a:off x="320040" y="4599432"/>
            <a:ext cx="11567160" cy="493776"/>
          </a:xfrm>
          <a:prstGeom prst="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672584"/>
            <a:ext cx="2194560" cy="320040"/>
          </a:xfrm>
          <a:prstGeom prst="rect">
            <a:avLst/>
          </a:prstGeom>
          <a:noFill/>
        </p:spPr>
        <p:txBody>
          <a:bodyPr wrap="square">
            <a:spAutoFit/>
          </a:bodyPr>
          <a:lstStyle/>
          <a:p>
            <a:pPr algn="l">
              <a:defRPr sz="1050" b="1">
                <a:solidFill>
                  <a:srgbClr val="2563EB"/>
                </a:solidFill>
              </a:defRPr>
            </a:pPr>
            <a:r>
              <a:t>Presentation</a:t>
            </a:r>
          </a:p>
        </p:txBody>
      </p:sp>
      <p:sp>
        <p:nvSpPr>
          <p:cNvPr id="23" name="TextBox 22"/>
          <p:cNvSpPr txBox="1"/>
          <p:nvPr/>
        </p:nvSpPr>
        <p:spPr>
          <a:xfrm>
            <a:off x="2743200" y="4672584"/>
            <a:ext cx="8961120" cy="320040"/>
          </a:xfrm>
          <a:prstGeom prst="rect">
            <a:avLst/>
          </a:prstGeom>
          <a:noFill/>
        </p:spPr>
        <p:txBody>
          <a:bodyPr wrap="square">
            <a:spAutoFit/>
          </a:bodyPr>
          <a:lstStyle/>
          <a:p>
            <a:pPr algn="l">
              <a:defRPr sz="1000" b="0">
                <a:solidFill>
                  <a:srgbClr val="1E293B"/>
                </a:solidFill>
              </a:defRPr>
            </a:pPr>
            <a:r>
              <a:t>Talk track starts with the business problem, then proves the recommendation</a:t>
            </a:r>
          </a:p>
        </p:txBody>
      </p:sp>
      <p:sp>
        <p:nvSpPr>
          <p:cNvPr id="24" name="Rectangle 23"/>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WHAT THIS SHOWS: This slide makes the scoring rubric explicit. HOW TO PRESENT: Do not read every row. Say that the project satisfies the case prompt end to end: reproducible processing, validated metrics, focused storytelling, appropriate dashboard design, and a practical CMO marketing strategy.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430000" cy="685800"/>
          </a:xfrm>
          <a:prstGeom prst="rect">
            <a:avLst/>
          </a:prstGeom>
          <a:noFill/>
        </p:spPr>
        <p:txBody>
          <a:bodyPr wrap="square">
            <a:spAutoFit/>
          </a:bodyPr>
          <a:lstStyle/>
          <a:p>
            <a:pPr>
              <a:defRPr sz="2200" b="1">
                <a:solidFill>
                  <a:srgbClr val="2563EB"/>
                </a:solidFill>
              </a:defRPr>
            </a:pPr>
            <a:r>
              <a:t>Next Steps &amp; Recommendations</a:t>
            </a:r>
          </a:p>
          <a:p>
            <a:pPr>
              <a:defRPr sz="1100">
                <a:solidFill>
                  <a:srgbClr val="64748B"/>
                </a:solidFill>
              </a:defRPr>
            </a:pPr>
            <a:r>
              <a:t>Prioritized actions by timeframe — 30, 90 days, and ongoing</a:t>
            </a:r>
          </a:p>
        </p:txBody>
      </p:sp>
      <p:sp>
        <p:nvSpPr>
          <p:cNvPr id="3" name="TextBox 2"/>
          <p:cNvSpPr txBox="1"/>
          <p:nvPr/>
        </p:nvSpPr>
        <p:spPr>
          <a:xfrm>
            <a:off x="274320" y="822960"/>
            <a:ext cx="11612880" cy="347472"/>
          </a:xfrm>
          <a:prstGeom prst="rect">
            <a:avLst/>
          </a:prstGeom>
          <a:noFill/>
        </p:spPr>
        <p:txBody>
          <a:bodyPr wrap="square">
            <a:spAutoFit/>
          </a:bodyPr>
          <a:lstStyle/>
          <a:p>
            <a:pPr algn="l">
              <a:defRPr sz="1200" b="1">
                <a:solidFill>
                  <a:srgbClr val="2563EB"/>
                </a:solidFill>
              </a:defRPr>
            </a:pPr>
            <a:r>
              <a:t>30-Day Quick Wins</a:t>
            </a:r>
          </a:p>
        </p:txBody>
      </p:sp>
      <p:sp>
        <p:nvSpPr>
          <p:cNvPr id="4" name="TextBox 3"/>
          <p:cNvSpPr txBox="1"/>
          <p:nvPr/>
        </p:nvSpPr>
        <p:spPr>
          <a:xfrm>
            <a:off x="365760" y="1188720"/>
            <a:ext cx="11430000" cy="347472"/>
          </a:xfrm>
          <a:prstGeom prst="rect">
            <a:avLst/>
          </a:prstGeom>
          <a:noFill/>
        </p:spPr>
        <p:txBody>
          <a:bodyPr wrap="square">
            <a:spAutoFit/>
          </a:bodyPr>
          <a:lstStyle/>
          <a:p>
            <a:pPr algn="l">
              <a:defRPr sz="1000" b="0">
                <a:solidFill>
                  <a:srgbClr val="1E293B"/>
                </a:solidFill>
              </a:defRPr>
            </a:pPr>
            <a:r>
              <a:t>  &gt; Implement consistent UTM taxonomy across ALL channels — single biggest data quality fix for attribution accuracy</a:t>
            </a:r>
          </a:p>
        </p:txBody>
      </p:sp>
      <p:sp>
        <p:nvSpPr>
          <p:cNvPr id="5" name="TextBox 4"/>
          <p:cNvSpPr txBox="1"/>
          <p:nvPr/>
        </p:nvSpPr>
        <p:spPr>
          <a:xfrm>
            <a:off x="365760" y="1536192"/>
            <a:ext cx="11430000" cy="347472"/>
          </a:xfrm>
          <a:prstGeom prst="rect">
            <a:avLst/>
          </a:prstGeom>
          <a:noFill/>
        </p:spPr>
        <p:txBody>
          <a:bodyPr wrap="square">
            <a:spAutoFit/>
          </a:bodyPr>
          <a:lstStyle/>
          <a:p>
            <a:pPr algn="l">
              <a:defRPr sz="1000" b="0">
                <a:solidFill>
                  <a:srgbClr val="1E293B"/>
                </a:solidFill>
              </a:defRPr>
            </a:pPr>
            <a:r>
              <a:t>  &gt; A/B test top email subject line patterns (use click rate by campaign from this analysis as baseline)</a:t>
            </a:r>
          </a:p>
        </p:txBody>
      </p:sp>
      <p:sp>
        <p:nvSpPr>
          <p:cNvPr id="6" name="TextBox 5"/>
          <p:cNvSpPr txBox="1"/>
          <p:nvPr/>
        </p:nvSpPr>
        <p:spPr>
          <a:xfrm>
            <a:off x="365760" y="1883664"/>
            <a:ext cx="11430000" cy="347472"/>
          </a:xfrm>
          <a:prstGeom prst="rect">
            <a:avLst/>
          </a:prstGeom>
          <a:noFill/>
        </p:spPr>
        <p:txBody>
          <a:bodyPr wrap="square">
            <a:spAutoFit/>
          </a:bodyPr>
          <a:lstStyle/>
          <a:p>
            <a:pPr algn="l">
              <a:defRPr sz="1000" b="0">
                <a:solidFill>
                  <a:srgbClr val="1E293B"/>
                </a:solidFill>
              </a:defRPr>
            </a:pPr>
            <a:r>
              <a:t>  &gt; Increase 6sense display budget 20-30% toward Strong Profile Fit + Decision buying stage accounts</a:t>
            </a:r>
          </a:p>
        </p:txBody>
      </p:sp>
      <p:sp>
        <p:nvSpPr>
          <p:cNvPr id="7" name="TextBox 6"/>
          <p:cNvSpPr txBox="1"/>
          <p:nvPr/>
        </p:nvSpPr>
        <p:spPr>
          <a:xfrm>
            <a:off x="365760" y="2231136"/>
            <a:ext cx="11430000" cy="347472"/>
          </a:xfrm>
          <a:prstGeom prst="rect">
            <a:avLst/>
          </a:prstGeom>
          <a:noFill/>
        </p:spPr>
        <p:txBody>
          <a:bodyPr wrap="square">
            <a:spAutoFit/>
          </a:bodyPr>
          <a:lstStyle/>
          <a:p>
            <a:pPr algn="l">
              <a:defRPr sz="1000" b="0">
                <a:solidFill>
                  <a:srgbClr val="1E293B"/>
                </a:solidFill>
              </a:defRPr>
            </a:pPr>
            <a:r>
              <a:t>  &gt; Create segment-specific landing pages for Enterprise vs. Mid-Market to improve form-fill conversion rate</a:t>
            </a:r>
          </a:p>
        </p:txBody>
      </p:sp>
      <p:sp>
        <p:nvSpPr>
          <p:cNvPr id="8" name="TextBox 7"/>
          <p:cNvSpPr txBox="1"/>
          <p:nvPr/>
        </p:nvSpPr>
        <p:spPr>
          <a:xfrm>
            <a:off x="274320" y="2688336"/>
            <a:ext cx="11612880" cy="347472"/>
          </a:xfrm>
          <a:prstGeom prst="rect">
            <a:avLst/>
          </a:prstGeom>
          <a:noFill/>
        </p:spPr>
        <p:txBody>
          <a:bodyPr wrap="square">
            <a:spAutoFit/>
          </a:bodyPr>
          <a:lstStyle/>
          <a:p>
            <a:pPr algn="l">
              <a:defRPr sz="1200" b="1">
                <a:solidFill>
                  <a:srgbClr val="2563EB"/>
                </a:solidFill>
              </a:defRPr>
            </a:pPr>
            <a:r>
              <a:t>90-Day Strategic Initiatives</a:t>
            </a:r>
          </a:p>
        </p:txBody>
      </p:sp>
      <p:sp>
        <p:nvSpPr>
          <p:cNvPr id="9" name="TextBox 8"/>
          <p:cNvSpPr txBox="1"/>
          <p:nvPr/>
        </p:nvSpPr>
        <p:spPr>
          <a:xfrm>
            <a:off x="365760" y="3054096"/>
            <a:ext cx="11430000" cy="347472"/>
          </a:xfrm>
          <a:prstGeom prst="rect">
            <a:avLst/>
          </a:prstGeom>
          <a:noFill/>
        </p:spPr>
        <p:txBody>
          <a:bodyPr wrap="square">
            <a:spAutoFit/>
          </a:bodyPr>
          <a:lstStyle/>
          <a:p>
            <a:pPr algn="l">
              <a:defRPr sz="1000" b="0">
                <a:solidFill>
                  <a:srgbClr val="1E293B"/>
                </a:solidFill>
              </a:defRPr>
            </a:pPr>
            <a:r>
              <a:t>  &gt; Deploy 6sense Web Tag or Clearbit to de-anonymize the 99.7% of unidentified web sessions</a:t>
            </a:r>
          </a:p>
        </p:txBody>
      </p:sp>
      <p:sp>
        <p:nvSpPr>
          <p:cNvPr id="10" name="TextBox 9"/>
          <p:cNvSpPr txBox="1"/>
          <p:nvPr/>
        </p:nvSpPr>
        <p:spPr>
          <a:xfrm>
            <a:off x="365760" y="3401568"/>
            <a:ext cx="11430000" cy="347472"/>
          </a:xfrm>
          <a:prstGeom prst="rect">
            <a:avLst/>
          </a:prstGeom>
          <a:noFill/>
        </p:spPr>
        <p:txBody>
          <a:bodyPr wrap="square">
            <a:spAutoFit/>
          </a:bodyPr>
          <a:lstStyle/>
          <a:p>
            <a:pPr algn="l">
              <a:defRPr sz="1000" b="0">
                <a:solidFill>
                  <a:srgbClr val="1E293B"/>
                </a:solidFill>
              </a:defRPr>
            </a:pPr>
            <a:r>
              <a:t>  &gt; Build coordinated 6sense + email + SDR playbook triggered by intent signals (buying stage = Decision)</a:t>
            </a:r>
          </a:p>
        </p:txBody>
      </p:sp>
      <p:sp>
        <p:nvSpPr>
          <p:cNvPr id="11" name="TextBox 10"/>
          <p:cNvSpPr txBox="1"/>
          <p:nvPr/>
        </p:nvSpPr>
        <p:spPr>
          <a:xfrm>
            <a:off x="365760" y="3749040"/>
            <a:ext cx="11430000" cy="347472"/>
          </a:xfrm>
          <a:prstGeom prst="rect">
            <a:avLst/>
          </a:prstGeom>
          <a:noFill/>
        </p:spPr>
        <p:txBody>
          <a:bodyPr wrap="square">
            <a:spAutoFit/>
          </a:bodyPr>
          <a:lstStyle/>
          <a:p>
            <a:pPr algn="l">
              <a:defRPr sz="1000" b="0">
                <a:solidFill>
                  <a:srgbClr val="1E293B"/>
                </a:solidFill>
              </a:defRPr>
            </a:pPr>
            <a:r>
              <a:t>  &gt; Establish monthly attribution review: compare First-Touch vs. Time-Decay to track channel role evolution</a:t>
            </a:r>
          </a:p>
        </p:txBody>
      </p:sp>
      <p:sp>
        <p:nvSpPr>
          <p:cNvPr id="12" name="TextBox 11"/>
          <p:cNvSpPr txBox="1"/>
          <p:nvPr/>
        </p:nvSpPr>
        <p:spPr>
          <a:xfrm>
            <a:off x="365760" y="4096512"/>
            <a:ext cx="11430000" cy="347472"/>
          </a:xfrm>
          <a:prstGeom prst="rect">
            <a:avLst/>
          </a:prstGeom>
          <a:noFill/>
        </p:spPr>
        <p:txBody>
          <a:bodyPr wrap="square">
            <a:spAutoFit/>
          </a:bodyPr>
          <a:lstStyle/>
          <a:p>
            <a:pPr algn="l">
              <a:defRPr sz="1000" b="0">
                <a:solidFill>
                  <a:srgbClr val="1E293B"/>
                </a:solidFill>
              </a:defRPr>
            </a:pPr>
            <a:r>
              <a:t>  &gt; Develop cost-per-MQL and cost-per-won-deal dashboards by channel for executive budget reporting</a:t>
            </a:r>
          </a:p>
        </p:txBody>
      </p:sp>
      <p:sp>
        <p:nvSpPr>
          <p:cNvPr id="13" name="TextBox 12"/>
          <p:cNvSpPr txBox="1"/>
          <p:nvPr/>
        </p:nvSpPr>
        <p:spPr>
          <a:xfrm>
            <a:off x="274320" y="4553712"/>
            <a:ext cx="11612880" cy="347472"/>
          </a:xfrm>
          <a:prstGeom prst="rect">
            <a:avLst/>
          </a:prstGeom>
          <a:noFill/>
        </p:spPr>
        <p:txBody>
          <a:bodyPr wrap="square">
            <a:spAutoFit/>
          </a:bodyPr>
          <a:lstStyle/>
          <a:p>
            <a:pPr algn="l">
              <a:defRPr sz="1200" b="1">
                <a:solidFill>
                  <a:srgbClr val="2563EB"/>
                </a:solidFill>
              </a:defRPr>
            </a:pPr>
            <a:r>
              <a:t>Ongoing Success Metrics</a:t>
            </a:r>
          </a:p>
        </p:txBody>
      </p:sp>
      <p:sp>
        <p:nvSpPr>
          <p:cNvPr id="14" name="TextBox 13"/>
          <p:cNvSpPr txBox="1"/>
          <p:nvPr/>
        </p:nvSpPr>
        <p:spPr>
          <a:xfrm>
            <a:off x="365760" y="4919472"/>
            <a:ext cx="11430000" cy="347472"/>
          </a:xfrm>
          <a:prstGeom prst="rect">
            <a:avLst/>
          </a:prstGeom>
          <a:noFill/>
        </p:spPr>
        <p:txBody>
          <a:bodyPr wrap="square">
            <a:spAutoFit/>
          </a:bodyPr>
          <a:lstStyle/>
          <a:p>
            <a:pPr algn="l">
              <a:defRPr sz="1000" b="0">
                <a:solidFill>
                  <a:srgbClr val="1E293B"/>
                </a:solidFill>
              </a:defRPr>
            </a:pPr>
            <a:r>
              <a:t>  &gt; Marketing-Attributed Pipeline %  (Target: &gt;20% of total — currently tracking via Time-Decay model)</a:t>
            </a:r>
          </a:p>
        </p:txBody>
      </p:sp>
      <p:sp>
        <p:nvSpPr>
          <p:cNvPr id="15" name="TextBox 14"/>
          <p:cNvSpPr txBox="1"/>
          <p:nvPr/>
        </p:nvSpPr>
        <p:spPr>
          <a:xfrm>
            <a:off x="365760" y="5266944"/>
            <a:ext cx="11430000" cy="347472"/>
          </a:xfrm>
          <a:prstGeom prst="rect">
            <a:avLst/>
          </a:prstGeom>
          <a:noFill/>
        </p:spPr>
        <p:txBody>
          <a:bodyPr wrap="square">
            <a:spAutoFit/>
          </a:bodyPr>
          <a:lstStyle/>
          <a:p>
            <a:pPr algn="l">
              <a:defRPr sz="1000" b="0">
                <a:solidFill>
                  <a:srgbClr val="1E293B"/>
                </a:solidFill>
              </a:defRPr>
            </a:pPr>
            <a:r>
              <a:t>  &gt; Email CTOR — Click-to-Open Rate by seniority (B2B benchmark: 10-15%)</a:t>
            </a:r>
          </a:p>
        </p:txBody>
      </p:sp>
      <p:sp>
        <p:nvSpPr>
          <p:cNvPr id="16" name="TextBox 15"/>
          <p:cNvSpPr txBox="1"/>
          <p:nvPr/>
        </p:nvSpPr>
        <p:spPr>
          <a:xfrm>
            <a:off x="365760" y="5614416"/>
            <a:ext cx="11430000" cy="347472"/>
          </a:xfrm>
          <a:prstGeom prst="rect">
            <a:avLst/>
          </a:prstGeom>
          <a:noFill/>
        </p:spPr>
        <p:txBody>
          <a:bodyPr wrap="square">
            <a:spAutoFit/>
          </a:bodyPr>
          <a:lstStyle/>
          <a:p>
            <a:pPr algn="l">
              <a:defRPr sz="1000" b="0">
                <a:solidFill>
                  <a:srgbClr val="1E293B"/>
                </a:solidFill>
              </a:defRPr>
            </a:pPr>
            <a:r>
              <a:t>  &gt; 6sense Cost-per-Form-Fill and Cost-per-MQL (target: &lt;$500 for display)</a:t>
            </a:r>
          </a:p>
        </p:txBody>
      </p:sp>
      <p:sp>
        <p:nvSpPr>
          <p:cNvPr id="17" name="TextBox 16"/>
          <p:cNvSpPr txBox="1"/>
          <p:nvPr/>
        </p:nvSpPr>
        <p:spPr>
          <a:xfrm>
            <a:off x="365760" y="5961888"/>
            <a:ext cx="11430000" cy="347472"/>
          </a:xfrm>
          <a:prstGeom prst="rect">
            <a:avLst/>
          </a:prstGeom>
          <a:noFill/>
        </p:spPr>
        <p:txBody>
          <a:bodyPr wrap="square">
            <a:spAutoFit/>
          </a:bodyPr>
          <a:lstStyle/>
          <a:p>
            <a:pPr algn="l">
              <a:defRPr sz="1000" b="0">
                <a:solidFill>
                  <a:srgbClr val="1E293B"/>
                </a:solidFill>
              </a:defRPr>
            </a:pPr>
            <a:r>
              <a:t>  &gt; Monthly attribution model comparison: flag any significant credit shifts between channels</a:t>
            </a:r>
          </a:p>
        </p:txBody>
      </p:sp>
      <p:sp>
        <p:nvSpPr>
          <p:cNvPr id="18" name="Rectangle 17"/>
          <p:cNvSpPr/>
          <p:nvPr/>
        </p:nvSpPr>
        <p:spPr>
          <a:xfrm>
            <a:off x="228600" y="5788152"/>
            <a:ext cx="11750040" cy="987552"/>
          </a:xfrm>
          <a:prstGeom prst="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1E40AF"/>
                </a:solidFill>
              </a:defRPr>
            </a:pPr>
            <a:r>
              <a:t>THE ONE-PAGE SUMMARY: Every won deal left a trail of marketing touchpoints. Attribution models split the deal's dollar value across those touchpoints to figure out which channel deserves credit. Email starts conversations (First-Touch winner: $4.0M). 6sense keeps the brand visible and is there when deals close (Last-Touch + Time-Decay winner: $3.3-3.5M). Neither works without the other. Budget should fund both — email for new account awareness, 6sense for sustained mid-funnel presence. Start these 30-day actions now: fix UTM tags (data quality), shift 6sense budget to Strong Fit + Decision Stage accounts, A/B test email subject lines based on best-performing campaigns.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